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sldIdLst>
    <p:sldId id="256" r:id="rId5"/>
  </p:sldIdLst>
  <p:sldSz cx="30275213" cy="4280376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481" userDrawn="1">
          <p15:clr>
            <a:srgbClr val="A4A3A4"/>
          </p15:clr>
        </p15:guide>
        <p15:guide id="2" pos="953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FF0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80A498B-650B-4F53-8756-0141DE3187C3}" v="334" dt="2023-11-19T20:49:44.39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5" d="100"/>
          <a:sy n="15" d="100"/>
        </p:scale>
        <p:origin x="2381" y="101"/>
      </p:cViewPr>
      <p:guideLst>
        <p:guide orient="horz" pos="13481"/>
        <p:guide pos="953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5" Type="http://schemas.openxmlformats.org/officeDocument/2006/relationships/slide" Target="slides/slide1.xml"/><Relationship Id="rId10"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70641" y="7005156"/>
            <a:ext cx="25733931" cy="14902051"/>
          </a:xfrm>
        </p:spPr>
        <p:txBody>
          <a:bodyPr anchor="b"/>
          <a:lstStyle>
            <a:lvl1pPr algn="ctr">
              <a:defRPr sz="19865"/>
            </a:lvl1pPr>
          </a:lstStyle>
          <a:p>
            <a:r>
              <a:rPr lang="en-GB"/>
              <a:t>Click to edit Master title style</a:t>
            </a:r>
            <a:endParaRPr lang="en-US" dirty="0"/>
          </a:p>
        </p:txBody>
      </p:sp>
      <p:sp>
        <p:nvSpPr>
          <p:cNvPr id="3" name="Subtitle 2"/>
          <p:cNvSpPr>
            <a:spLocks noGrp="1"/>
          </p:cNvSpPr>
          <p:nvPr>
            <p:ph type="subTitle" idx="1"/>
          </p:nvPr>
        </p:nvSpPr>
        <p:spPr>
          <a:xfrm>
            <a:off x="3784402" y="22481887"/>
            <a:ext cx="22706410" cy="10334331"/>
          </a:xfrm>
        </p:spPr>
        <p:txBody>
          <a:bodyPr/>
          <a:lstStyle>
            <a:lvl1pPr marL="0" indent="0" algn="ctr">
              <a:buNone/>
              <a:defRPr sz="7946"/>
            </a:lvl1pPr>
            <a:lvl2pPr marL="1513743" indent="0" algn="ctr">
              <a:buNone/>
              <a:defRPr sz="6622"/>
            </a:lvl2pPr>
            <a:lvl3pPr marL="3027487" indent="0" algn="ctr">
              <a:buNone/>
              <a:defRPr sz="5960"/>
            </a:lvl3pPr>
            <a:lvl4pPr marL="4541230" indent="0" algn="ctr">
              <a:buNone/>
              <a:defRPr sz="5297"/>
            </a:lvl4pPr>
            <a:lvl5pPr marL="6054974" indent="0" algn="ctr">
              <a:buNone/>
              <a:defRPr sz="5297"/>
            </a:lvl5pPr>
            <a:lvl6pPr marL="7568717" indent="0" algn="ctr">
              <a:buNone/>
              <a:defRPr sz="5297"/>
            </a:lvl6pPr>
            <a:lvl7pPr marL="9082461" indent="0" algn="ctr">
              <a:buNone/>
              <a:defRPr sz="5297"/>
            </a:lvl7pPr>
            <a:lvl8pPr marL="10596204" indent="0" algn="ctr">
              <a:buNone/>
              <a:defRPr sz="5297"/>
            </a:lvl8pPr>
            <a:lvl9pPr marL="12109948" indent="0" algn="ctr">
              <a:buNone/>
              <a:defRPr sz="5297"/>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AABF31E6-13B0-46FB-9B02-D52D64FB1CB4}" type="datetimeFigureOut">
              <a:rPr lang="en-GB" smtClean="0"/>
              <a:t>18/06/2025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0F1E971-35FC-48C0-9916-5E40877F9980}" type="slidenum">
              <a:rPr lang="en-GB" smtClean="0"/>
              <a:t>‹#›</a:t>
            </a:fld>
            <a:endParaRPr lang="en-GB"/>
          </a:p>
        </p:txBody>
      </p:sp>
    </p:spTree>
    <p:extLst>
      <p:ext uri="{BB962C8B-B14F-4D97-AF65-F5344CB8AC3E}">
        <p14:creationId xmlns:p14="http://schemas.microsoft.com/office/powerpoint/2010/main" val="16323681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AABF31E6-13B0-46FB-9B02-D52D64FB1CB4}" type="datetimeFigureOut">
              <a:rPr lang="en-GB" smtClean="0"/>
              <a:t>18/06/2025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0F1E971-35FC-48C0-9916-5E40877F9980}" type="slidenum">
              <a:rPr lang="en-GB" smtClean="0"/>
              <a:t>‹#›</a:t>
            </a:fld>
            <a:endParaRPr lang="en-GB"/>
          </a:p>
        </p:txBody>
      </p:sp>
    </p:spTree>
    <p:extLst>
      <p:ext uri="{BB962C8B-B14F-4D97-AF65-F5344CB8AC3E}">
        <p14:creationId xmlns:p14="http://schemas.microsoft.com/office/powerpoint/2010/main" val="30978885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65654" y="10671229"/>
            <a:ext cx="26112371" cy="17805173"/>
          </a:xfrm>
        </p:spPr>
        <p:txBody>
          <a:bodyPr anchor="b"/>
          <a:lstStyle>
            <a:lvl1pPr>
              <a:defRPr sz="19865"/>
            </a:lvl1pPr>
          </a:lstStyle>
          <a:p>
            <a:r>
              <a:rPr lang="en-GB"/>
              <a:t>Click to edit Master title style</a:t>
            </a:r>
            <a:endParaRPr lang="en-US" dirty="0"/>
          </a:p>
        </p:txBody>
      </p:sp>
      <p:sp>
        <p:nvSpPr>
          <p:cNvPr id="3" name="Text Placeholder 2"/>
          <p:cNvSpPr>
            <a:spLocks noGrp="1"/>
          </p:cNvSpPr>
          <p:nvPr>
            <p:ph type="body" idx="1"/>
          </p:nvPr>
        </p:nvSpPr>
        <p:spPr>
          <a:xfrm>
            <a:off x="2065654" y="28644846"/>
            <a:ext cx="26112371" cy="9363320"/>
          </a:xfrm>
        </p:spPr>
        <p:txBody>
          <a:bodyPr/>
          <a:lstStyle>
            <a:lvl1pPr marL="0" indent="0">
              <a:buNone/>
              <a:defRPr sz="7946">
                <a:solidFill>
                  <a:schemeClr val="tx1"/>
                </a:solidFill>
              </a:defRPr>
            </a:lvl1pPr>
            <a:lvl2pPr marL="1513743" indent="0">
              <a:buNone/>
              <a:defRPr sz="6622">
                <a:solidFill>
                  <a:schemeClr val="tx1">
                    <a:tint val="75000"/>
                  </a:schemeClr>
                </a:solidFill>
              </a:defRPr>
            </a:lvl2pPr>
            <a:lvl3pPr marL="3027487" indent="0">
              <a:buNone/>
              <a:defRPr sz="5960">
                <a:solidFill>
                  <a:schemeClr val="tx1">
                    <a:tint val="75000"/>
                  </a:schemeClr>
                </a:solidFill>
              </a:defRPr>
            </a:lvl3pPr>
            <a:lvl4pPr marL="4541230" indent="0">
              <a:buNone/>
              <a:defRPr sz="5297">
                <a:solidFill>
                  <a:schemeClr val="tx1">
                    <a:tint val="75000"/>
                  </a:schemeClr>
                </a:solidFill>
              </a:defRPr>
            </a:lvl4pPr>
            <a:lvl5pPr marL="6054974" indent="0">
              <a:buNone/>
              <a:defRPr sz="5297">
                <a:solidFill>
                  <a:schemeClr val="tx1">
                    <a:tint val="75000"/>
                  </a:schemeClr>
                </a:solidFill>
              </a:defRPr>
            </a:lvl5pPr>
            <a:lvl6pPr marL="7568717" indent="0">
              <a:buNone/>
              <a:defRPr sz="5297">
                <a:solidFill>
                  <a:schemeClr val="tx1">
                    <a:tint val="75000"/>
                  </a:schemeClr>
                </a:solidFill>
              </a:defRPr>
            </a:lvl6pPr>
            <a:lvl7pPr marL="9082461" indent="0">
              <a:buNone/>
              <a:defRPr sz="5297">
                <a:solidFill>
                  <a:schemeClr val="tx1">
                    <a:tint val="75000"/>
                  </a:schemeClr>
                </a:solidFill>
              </a:defRPr>
            </a:lvl7pPr>
            <a:lvl8pPr marL="10596204" indent="0">
              <a:buNone/>
              <a:defRPr sz="5297">
                <a:solidFill>
                  <a:schemeClr val="tx1">
                    <a:tint val="75000"/>
                  </a:schemeClr>
                </a:solidFill>
              </a:defRPr>
            </a:lvl8pPr>
            <a:lvl9pPr marL="12109948" indent="0">
              <a:buNone/>
              <a:defRPr sz="5297">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AABF31E6-13B0-46FB-9B02-D52D64FB1CB4}" type="datetimeFigureOut">
              <a:rPr lang="en-GB" smtClean="0"/>
              <a:t>18/06/2025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0F1E971-35FC-48C0-9916-5E40877F9980}" type="slidenum">
              <a:rPr lang="en-GB" smtClean="0"/>
              <a:t>‹#›</a:t>
            </a:fld>
            <a:endParaRPr lang="en-GB"/>
          </a:p>
        </p:txBody>
      </p:sp>
    </p:spTree>
    <p:extLst>
      <p:ext uri="{BB962C8B-B14F-4D97-AF65-F5344CB8AC3E}">
        <p14:creationId xmlns:p14="http://schemas.microsoft.com/office/powerpoint/2010/main" val="17250941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2081421" y="11394520"/>
            <a:ext cx="12866966" cy="2715859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15326826" y="11394520"/>
            <a:ext cx="12866966" cy="2715859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AABF31E6-13B0-46FB-9B02-D52D64FB1CB4}" type="datetimeFigureOut">
              <a:rPr lang="en-GB" smtClean="0"/>
              <a:t>18/06/2025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0F1E971-35FC-48C0-9916-5E40877F9980}" type="slidenum">
              <a:rPr lang="en-GB" smtClean="0"/>
              <a:t>‹#›</a:t>
            </a:fld>
            <a:endParaRPr lang="en-GB"/>
          </a:p>
        </p:txBody>
      </p:sp>
    </p:spTree>
    <p:extLst>
      <p:ext uri="{BB962C8B-B14F-4D97-AF65-F5344CB8AC3E}">
        <p14:creationId xmlns:p14="http://schemas.microsoft.com/office/powerpoint/2010/main" val="15056388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278913"/>
            <a:ext cx="26112371" cy="8273416"/>
          </a:xfrm>
        </p:spPr>
        <p:txBody>
          <a:bodyPr/>
          <a:lstStyle/>
          <a:p>
            <a:r>
              <a:rPr lang="en-GB"/>
              <a:t>Click to edit Master title style</a:t>
            </a:r>
            <a:endParaRPr lang="en-US" dirty="0"/>
          </a:p>
        </p:txBody>
      </p:sp>
      <p:sp>
        <p:nvSpPr>
          <p:cNvPr id="3" name="Text Placeholder 2"/>
          <p:cNvSpPr>
            <a:spLocks noGrp="1"/>
          </p:cNvSpPr>
          <p:nvPr>
            <p:ph type="body" idx="1"/>
          </p:nvPr>
        </p:nvSpPr>
        <p:spPr>
          <a:xfrm>
            <a:off x="2085368" y="10492870"/>
            <a:ext cx="12807832" cy="5142393"/>
          </a:xfrm>
        </p:spPr>
        <p:txBody>
          <a:bodyPr anchor="b"/>
          <a:lstStyle>
            <a:lvl1pPr marL="0" indent="0">
              <a:buNone/>
              <a:defRPr sz="7946" b="1"/>
            </a:lvl1pPr>
            <a:lvl2pPr marL="1513743" indent="0">
              <a:buNone/>
              <a:defRPr sz="6622" b="1"/>
            </a:lvl2pPr>
            <a:lvl3pPr marL="3027487" indent="0">
              <a:buNone/>
              <a:defRPr sz="5960" b="1"/>
            </a:lvl3pPr>
            <a:lvl4pPr marL="4541230" indent="0">
              <a:buNone/>
              <a:defRPr sz="5297" b="1"/>
            </a:lvl4pPr>
            <a:lvl5pPr marL="6054974" indent="0">
              <a:buNone/>
              <a:defRPr sz="5297" b="1"/>
            </a:lvl5pPr>
            <a:lvl6pPr marL="7568717" indent="0">
              <a:buNone/>
              <a:defRPr sz="5297" b="1"/>
            </a:lvl6pPr>
            <a:lvl7pPr marL="9082461" indent="0">
              <a:buNone/>
              <a:defRPr sz="5297" b="1"/>
            </a:lvl7pPr>
            <a:lvl8pPr marL="10596204" indent="0">
              <a:buNone/>
              <a:defRPr sz="5297" b="1"/>
            </a:lvl8pPr>
            <a:lvl9pPr marL="12109948" indent="0">
              <a:buNone/>
              <a:defRPr sz="5297" b="1"/>
            </a:lvl9pPr>
          </a:lstStyle>
          <a:p>
            <a:pPr lvl="0"/>
            <a:r>
              <a:rPr lang="en-GB"/>
              <a:t>Click to edit Master text styles</a:t>
            </a:r>
          </a:p>
        </p:txBody>
      </p:sp>
      <p:sp>
        <p:nvSpPr>
          <p:cNvPr id="4" name="Content Placeholder 3"/>
          <p:cNvSpPr>
            <a:spLocks noGrp="1"/>
          </p:cNvSpPr>
          <p:nvPr>
            <p:ph sz="half" idx="2"/>
          </p:nvPr>
        </p:nvSpPr>
        <p:spPr>
          <a:xfrm>
            <a:off x="2085368" y="15635264"/>
            <a:ext cx="12807832" cy="2299711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15326828" y="10492870"/>
            <a:ext cx="12870909" cy="5142393"/>
          </a:xfrm>
        </p:spPr>
        <p:txBody>
          <a:bodyPr anchor="b"/>
          <a:lstStyle>
            <a:lvl1pPr marL="0" indent="0">
              <a:buNone/>
              <a:defRPr sz="7946" b="1"/>
            </a:lvl1pPr>
            <a:lvl2pPr marL="1513743" indent="0">
              <a:buNone/>
              <a:defRPr sz="6622" b="1"/>
            </a:lvl2pPr>
            <a:lvl3pPr marL="3027487" indent="0">
              <a:buNone/>
              <a:defRPr sz="5960" b="1"/>
            </a:lvl3pPr>
            <a:lvl4pPr marL="4541230" indent="0">
              <a:buNone/>
              <a:defRPr sz="5297" b="1"/>
            </a:lvl4pPr>
            <a:lvl5pPr marL="6054974" indent="0">
              <a:buNone/>
              <a:defRPr sz="5297" b="1"/>
            </a:lvl5pPr>
            <a:lvl6pPr marL="7568717" indent="0">
              <a:buNone/>
              <a:defRPr sz="5297" b="1"/>
            </a:lvl6pPr>
            <a:lvl7pPr marL="9082461" indent="0">
              <a:buNone/>
              <a:defRPr sz="5297" b="1"/>
            </a:lvl7pPr>
            <a:lvl8pPr marL="10596204" indent="0">
              <a:buNone/>
              <a:defRPr sz="5297" b="1"/>
            </a:lvl8pPr>
            <a:lvl9pPr marL="12109948" indent="0">
              <a:buNone/>
              <a:defRPr sz="5297" b="1"/>
            </a:lvl9pPr>
          </a:lstStyle>
          <a:p>
            <a:pPr lvl="0"/>
            <a:r>
              <a:rPr lang="en-GB"/>
              <a:t>Click to edit Master text styles</a:t>
            </a:r>
          </a:p>
        </p:txBody>
      </p:sp>
      <p:sp>
        <p:nvSpPr>
          <p:cNvPr id="6" name="Content Placeholder 5"/>
          <p:cNvSpPr>
            <a:spLocks noGrp="1"/>
          </p:cNvSpPr>
          <p:nvPr>
            <p:ph sz="quarter" idx="4"/>
          </p:nvPr>
        </p:nvSpPr>
        <p:spPr>
          <a:xfrm>
            <a:off x="15326828" y="15635264"/>
            <a:ext cx="12870909" cy="2299711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AABF31E6-13B0-46FB-9B02-D52D64FB1CB4}" type="datetimeFigureOut">
              <a:rPr lang="en-GB" smtClean="0"/>
              <a:t>18/06/2025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80F1E971-35FC-48C0-9916-5E40877F9980}" type="slidenum">
              <a:rPr lang="en-GB" smtClean="0"/>
              <a:t>‹#›</a:t>
            </a:fld>
            <a:endParaRPr lang="en-GB"/>
          </a:p>
        </p:txBody>
      </p:sp>
    </p:spTree>
    <p:extLst>
      <p:ext uri="{BB962C8B-B14F-4D97-AF65-F5344CB8AC3E}">
        <p14:creationId xmlns:p14="http://schemas.microsoft.com/office/powerpoint/2010/main" val="7136195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AABF31E6-13B0-46FB-9B02-D52D64FB1CB4}" type="datetimeFigureOut">
              <a:rPr lang="en-GB" smtClean="0"/>
              <a:t>18/06/2025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80F1E971-35FC-48C0-9916-5E40877F9980}" type="slidenum">
              <a:rPr lang="en-GB" smtClean="0"/>
              <a:t>‹#›</a:t>
            </a:fld>
            <a:endParaRPr lang="en-GB"/>
          </a:p>
        </p:txBody>
      </p:sp>
    </p:spTree>
    <p:extLst>
      <p:ext uri="{BB962C8B-B14F-4D97-AF65-F5344CB8AC3E}">
        <p14:creationId xmlns:p14="http://schemas.microsoft.com/office/powerpoint/2010/main" val="17175212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BF31E6-13B0-46FB-9B02-D52D64FB1CB4}" type="datetimeFigureOut">
              <a:rPr lang="en-GB" smtClean="0"/>
              <a:t>18/06/2025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80F1E971-35FC-48C0-9916-5E40877F9980}" type="slidenum">
              <a:rPr lang="en-GB" smtClean="0"/>
              <a:t>‹#›</a:t>
            </a:fld>
            <a:endParaRPr lang="en-GB"/>
          </a:p>
        </p:txBody>
      </p:sp>
    </p:spTree>
    <p:extLst>
      <p:ext uri="{BB962C8B-B14F-4D97-AF65-F5344CB8AC3E}">
        <p14:creationId xmlns:p14="http://schemas.microsoft.com/office/powerpoint/2010/main" val="39385910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3584"/>
            <a:ext cx="9764544" cy="9987545"/>
          </a:xfrm>
        </p:spPr>
        <p:txBody>
          <a:bodyPr anchor="b"/>
          <a:lstStyle>
            <a:lvl1pPr>
              <a:defRPr sz="10595"/>
            </a:lvl1pPr>
          </a:lstStyle>
          <a:p>
            <a:r>
              <a:rPr lang="en-GB"/>
              <a:t>Click to edit Master title style</a:t>
            </a:r>
            <a:endParaRPr lang="en-US" dirty="0"/>
          </a:p>
        </p:txBody>
      </p:sp>
      <p:sp>
        <p:nvSpPr>
          <p:cNvPr id="3" name="Content Placeholder 2"/>
          <p:cNvSpPr>
            <a:spLocks noGrp="1"/>
          </p:cNvSpPr>
          <p:nvPr>
            <p:ph idx="1"/>
          </p:nvPr>
        </p:nvSpPr>
        <p:spPr>
          <a:xfrm>
            <a:off x="12870909" y="6162959"/>
            <a:ext cx="15326827" cy="30418415"/>
          </a:xfrm>
        </p:spPr>
        <p:txBody>
          <a:bodyPr/>
          <a:lstStyle>
            <a:lvl1pPr>
              <a:defRPr sz="10595"/>
            </a:lvl1pPr>
            <a:lvl2pPr>
              <a:defRPr sz="9271"/>
            </a:lvl2pPr>
            <a:lvl3pPr>
              <a:defRPr sz="7946"/>
            </a:lvl3pPr>
            <a:lvl4pPr>
              <a:defRPr sz="6622"/>
            </a:lvl4pPr>
            <a:lvl5pPr>
              <a:defRPr sz="6622"/>
            </a:lvl5pPr>
            <a:lvl6pPr>
              <a:defRPr sz="6622"/>
            </a:lvl6pPr>
            <a:lvl7pPr>
              <a:defRPr sz="6622"/>
            </a:lvl7pPr>
            <a:lvl8pPr>
              <a:defRPr sz="6622"/>
            </a:lvl8pPr>
            <a:lvl9pPr>
              <a:defRPr sz="6622"/>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2085364" y="12841129"/>
            <a:ext cx="9764544" cy="23789780"/>
          </a:xfrm>
        </p:spPr>
        <p:txBody>
          <a:bodyPr/>
          <a:lstStyle>
            <a:lvl1pPr marL="0" indent="0">
              <a:buNone/>
              <a:defRPr sz="5297"/>
            </a:lvl1pPr>
            <a:lvl2pPr marL="1513743" indent="0">
              <a:buNone/>
              <a:defRPr sz="4635"/>
            </a:lvl2pPr>
            <a:lvl3pPr marL="3027487" indent="0">
              <a:buNone/>
              <a:defRPr sz="3973"/>
            </a:lvl3pPr>
            <a:lvl4pPr marL="4541230" indent="0">
              <a:buNone/>
              <a:defRPr sz="3311"/>
            </a:lvl4pPr>
            <a:lvl5pPr marL="6054974" indent="0">
              <a:buNone/>
              <a:defRPr sz="3311"/>
            </a:lvl5pPr>
            <a:lvl6pPr marL="7568717" indent="0">
              <a:buNone/>
              <a:defRPr sz="3311"/>
            </a:lvl6pPr>
            <a:lvl7pPr marL="9082461" indent="0">
              <a:buNone/>
              <a:defRPr sz="3311"/>
            </a:lvl7pPr>
            <a:lvl8pPr marL="10596204" indent="0">
              <a:buNone/>
              <a:defRPr sz="3311"/>
            </a:lvl8pPr>
            <a:lvl9pPr marL="12109948" indent="0">
              <a:buNone/>
              <a:defRPr sz="3311"/>
            </a:lvl9pPr>
          </a:lstStyle>
          <a:p>
            <a:pPr lvl="0"/>
            <a:r>
              <a:rPr lang="en-GB"/>
              <a:t>Click to edit Master text styles</a:t>
            </a:r>
          </a:p>
        </p:txBody>
      </p:sp>
      <p:sp>
        <p:nvSpPr>
          <p:cNvPr id="5" name="Date Placeholder 4"/>
          <p:cNvSpPr>
            <a:spLocks noGrp="1"/>
          </p:cNvSpPr>
          <p:nvPr>
            <p:ph type="dt" sz="half" idx="10"/>
          </p:nvPr>
        </p:nvSpPr>
        <p:spPr/>
        <p:txBody>
          <a:bodyPr/>
          <a:lstStyle/>
          <a:p>
            <a:fld id="{AABF31E6-13B0-46FB-9B02-D52D64FB1CB4}" type="datetimeFigureOut">
              <a:rPr lang="en-GB" smtClean="0"/>
              <a:t>18/06/2025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0F1E971-35FC-48C0-9916-5E40877F9980}" type="slidenum">
              <a:rPr lang="en-GB" smtClean="0"/>
              <a:t>‹#›</a:t>
            </a:fld>
            <a:endParaRPr lang="en-GB"/>
          </a:p>
        </p:txBody>
      </p:sp>
    </p:spTree>
    <p:extLst>
      <p:ext uri="{BB962C8B-B14F-4D97-AF65-F5344CB8AC3E}">
        <p14:creationId xmlns:p14="http://schemas.microsoft.com/office/powerpoint/2010/main" val="20916898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3584"/>
            <a:ext cx="9764544" cy="9987545"/>
          </a:xfrm>
        </p:spPr>
        <p:txBody>
          <a:bodyPr anchor="b"/>
          <a:lstStyle>
            <a:lvl1pPr>
              <a:defRPr sz="10595"/>
            </a:lvl1pPr>
          </a:lstStyle>
          <a:p>
            <a:r>
              <a:rPr lang="en-GB"/>
              <a:t>Click to edit Master title style</a:t>
            </a:r>
            <a:endParaRPr lang="en-US" dirty="0"/>
          </a:p>
        </p:txBody>
      </p:sp>
      <p:sp>
        <p:nvSpPr>
          <p:cNvPr id="3" name="Picture Placeholder 2"/>
          <p:cNvSpPr>
            <a:spLocks noGrp="1" noChangeAspect="1"/>
          </p:cNvSpPr>
          <p:nvPr>
            <p:ph type="pic" idx="1"/>
          </p:nvPr>
        </p:nvSpPr>
        <p:spPr>
          <a:xfrm>
            <a:off x="12870909" y="6162959"/>
            <a:ext cx="15326827" cy="30418415"/>
          </a:xfrm>
        </p:spPr>
        <p:txBody>
          <a:bodyPr anchor="t"/>
          <a:lstStyle>
            <a:lvl1pPr marL="0" indent="0">
              <a:buNone/>
              <a:defRPr sz="10595"/>
            </a:lvl1pPr>
            <a:lvl2pPr marL="1513743" indent="0">
              <a:buNone/>
              <a:defRPr sz="9271"/>
            </a:lvl2pPr>
            <a:lvl3pPr marL="3027487" indent="0">
              <a:buNone/>
              <a:defRPr sz="7946"/>
            </a:lvl3pPr>
            <a:lvl4pPr marL="4541230" indent="0">
              <a:buNone/>
              <a:defRPr sz="6622"/>
            </a:lvl4pPr>
            <a:lvl5pPr marL="6054974" indent="0">
              <a:buNone/>
              <a:defRPr sz="6622"/>
            </a:lvl5pPr>
            <a:lvl6pPr marL="7568717" indent="0">
              <a:buNone/>
              <a:defRPr sz="6622"/>
            </a:lvl6pPr>
            <a:lvl7pPr marL="9082461" indent="0">
              <a:buNone/>
              <a:defRPr sz="6622"/>
            </a:lvl7pPr>
            <a:lvl8pPr marL="10596204" indent="0">
              <a:buNone/>
              <a:defRPr sz="6622"/>
            </a:lvl8pPr>
            <a:lvl9pPr marL="12109948" indent="0">
              <a:buNone/>
              <a:defRPr sz="6622"/>
            </a:lvl9pPr>
          </a:lstStyle>
          <a:p>
            <a:r>
              <a:rPr lang="en-GB"/>
              <a:t>Click icon to add picture</a:t>
            </a:r>
            <a:endParaRPr lang="en-US" dirty="0"/>
          </a:p>
        </p:txBody>
      </p:sp>
      <p:sp>
        <p:nvSpPr>
          <p:cNvPr id="4" name="Text Placeholder 3"/>
          <p:cNvSpPr>
            <a:spLocks noGrp="1"/>
          </p:cNvSpPr>
          <p:nvPr>
            <p:ph type="body" sz="half" idx="2"/>
          </p:nvPr>
        </p:nvSpPr>
        <p:spPr>
          <a:xfrm>
            <a:off x="2085364" y="12841129"/>
            <a:ext cx="9764544" cy="23789780"/>
          </a:xfrm>
        </p:spPr>
        <p:txBody>
          <a:bodyPr/>
          <a:lstStyle>
            <a:lvl1pPr marL="0" indent="0">
              <a:buNone/>
              <a:defRPr sz="5297"/>
            </a:lvl1pPr>
            <a:lvl2pPr marL="1513743" indent="0">
              <a:buNone/>
              <a:defRPr sz="4635"/>
            </a:lvl2pPr>
            <a:lvl3pPr marL="3027487" indent="0">
              <a:buNone/>
              <a:defRPr sz="3973"/>
            </a:lvl3pPr>
            <a:lvl4pPr marL="4541230" indent="0">
              <a:buNone/>
              <a:defRPr sz="3311"/>
            </a:lvl4pPr>
            <a:lvl5pPr marL="6054974" indent="0">
              <a:buNone/>
              <a:defRPr sz="3311"/>
            </a:lvl5pPr>
            <a:lvl6pPr marL="7568717" indent="0">
              <a:buNone/>
              <a:defRPr sz="3311"/>
            </a:lvl6pPr>
            <a:lvl7pPr marL="9082461" indent="0">
              <a:buNone/>
              <a:defRPr sz="3311"/>
            </a:lvl7pPr>
            <a:lvl8pPr marL="10596204" indent="0">
              <a:buNone/>
              <a:defRPr sz="3311"/>
            </a:lvl8pPr>
            <a:lvl9pPr marL="12109948" indent="0">
              <a:buNone/>
              <a:defRPr sz="3311"/>
            </a:lvl9pPr>
          </a:lstStyle>
          <a:p>
            <a:pPr lvl="0"/>
            <a:r>
              <a:rPr lang="en-GB"/>
              <a:t>Click to edit Master text styles</a:t>
            </a:r>
          </a:p>
        </p:txBody>
      </p:sp>
      <p:sp>
        <p:nvSpPr>
          <p:cNvPr id="5" name="Date Placeholder 4"/>
          <p:cNvSpPr>
            <a:spLocks noGrp="1"/>
          </p:cNvSpPr>
          <p:nvPr>
            <p:ph type="dt" sz="half" idx="10"/>
          </p:nvPr>
        </p:nvSpPr>
        <p:spPr/>
        <p:txBody>
          <a:bodyPr/>
          <a:lstStyle/>
          <a:p>
            <a:fld id="{AABF31E6-13B0-46FB-9B02-D52D64FB1CB4}" type="datetimeFigureOut">
              <a:rPr lang="en-GB" smtClean="0"/>
              <a:t>18/06/2025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80F1E971-35FC-48C0-9916-5E40877F9980}" type="slidenum">
              <a:rPr lang="en-GB" smtClean="0"/>
              <a:t>‹#›</a:t>
            </a:fld>
            <a:endParaRPr lang="en-GB"/>
          </a:p>
        </p:txBody>
      </p:sp>
    </p:spTree>
    <p:extLst>
      <p:ext uri="{BB962C8B-B14F-4D97-AF65-F5344CB8AC3E}">
        <p14:creationId xmlns:p14="http://schemas.microsoft.com/office/powerpoint/2010/main" val="11144508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AABF31E6-13B0-46FB-9B02-D52D64FB1CB4}" type="datetimeFigureOut">
              <a:rPr lang="en-GB" smtClean="0"/>
              <a:t>18/06/2025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0F1E971-35FC-48C0-9916-5E40877F9980}" type="slidenum">
              <a:rPr lang="en-GB" smtClean="0"/>
              <a:t>‹#›</a:t>
            </a:fld>
            <a:endParaRPr lang="en-GB"/>
          </a:p>
        </p:txBody>
      </p:sp>
    </p:spTree>
    <p:extLst>
      <p:ext uri="{BB962C8B-B14F-4D97-AF65-F5344CB8AC3E}">
        <p14:creationId xmlns:p14="http://schemas.microsoft.com/office/powerpoint/2010/main" val="36927276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665701" y="2278904"/>
            <a:ext cx="6528093" cy="36274211"/>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2081423" y="2278904"/>
            <a:ext cx="19205838" cy="36274211"/>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AABF31E6-13B0-46FB-9B02-D52D64FB1CB4}" type="datetimeFigureOut">
              <a:rPr lang="en-GB" smtClean="0"/>
              <a:t>18/06/2025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0F1E971-35FC-48C0-9916-5E40877F9980}" type="slidenum">
              <a:rPr lang="en-GB" smtClean="0"/>
              <a:t>‹#›</a:t>
            </a:fld>
            <a:endParaRPr lang="en-GB"/>
          </a:p>
        </p:txBody>
      </p:sp>
    </p:spTree>
    <p:extLst>
      <p:ext uri="{BB962C8B-B14F-4D97-AF65-F5344CB8AC3E}">
        <p14:creationId xmlns:p14="http://schemas.microsoft.com/office/powerpoint/2010/main" val="40347973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81421" y="2278913"/>
            <a:ext cx="26112371" cy="8273416"/>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2081421" y="11394520"/>
            <a:ext cx="26112371" cy="27158594"/>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2081421" y="39672756"/>
            <a:ext cx="6811923" cy="2278904"/>
          </a:xfrm>
          <a:prstGeom prst="rect">
            <a:avLst/>
          </a:prstGeom>
        </p:spPr>
        <p:txBody>
          <a:bodyPr vert="horz" lIns="91440" tIns="45720" rIns="91440" bIns="45720" rtlCol="0" anchor="ctr"/>
          <a:lstStyle>
            <a:lvl1pPr algn="l">
              <a:defRPr sz="3973">
                <a:solidFill>
                  <a:schemeClr val="tx1">
                    <a:tint val="75000"/>
                  </a:schemeClr>
                </a:solidFill>
              </a:defRPr>
            </a:lvl1pPr>
          </a:lstStyle>
          <a:p>
            <a:fld id="{AABF31E6-13B0-46FB-9B02-D52D64FB1CB4}" type="datetimeFigureOut">
              <a:rPr lang="en-GB" smtClean="0"/>
              <a:t>18/06/2025</a:t>
            </a:fld>
            <a:endParaRPr lang="en-GB"/>
          </a:p>
        </p:txBody>
      </p:sp>
      <p:sp>
        <p:nvSpPr>
          <p:cNvPr id="5" name="Footer Placeholder 4"/>
          <p:cNvSpPr>
            <a:spLocks noGrp="1"/>
          </p:cNvSpPr>
          <p:nvPr>
            <p:ph type="ftr" sz="quarter" idx="3"/>
          </p:nvPr>
        </p:nvSpPr>
        <p:spPr>
          <a:xfrm>
            <a:off x="10028665" y="39672756"/>
            <a:ext cx="10217884" cy="2278904"/>
          </a:xfrm>
          <a:prstGeom prst="rect">
            <a:avLst/>
          </a:prstGeom>
        </p:spPr>
        <p:txBody>
          <a:bodyPr vert="horz" lIns="91440" tIns="45720" rIns="91440" bIns="45720" rtlCol="0" anchor="ctr"/>
          <a:lstStyle>
            <a:lvl1pPr algn="ctr">
              <a:defRPr sz="3973">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21381869" y="39672756"/>
            <a:ext cx="6811923" cy="2278904"/>
          </a:xfrm>
          <a:prstGeom prst="rect">
            <a:avLst/>
          </a:prstGeom>
        </p:spPr>
        <p:txBody>
          <a:bodyPr vert="horz" lIns="91440" tIns="45720" rIns="91440" bIns="45720" rtlCol="0" anchor="ctr"/>
          <a:lstStyle>
            <a:lvl1pPr algn="r">
              <a:defRPr sz="3973">
                <a:solidFill>
                  <a:schemeClr val="tx1">
                    <a:tint val="75000"/>
                  </a:schemeClr>
                </a:solidFill>
              </a:defRPr>
            </a:lvl1pPr>
          </a:lstStyle>
          <a:p>
            <a:fld id="{80F1E971-35FC-48C0-9916-5E40877F9980}" type="slidenum">
              <a:rPr lang="en-GB" smtClean="0"/>
              <a:t>‹#›</a:t>
            </a:fld>
            <a:endParaRPr lang="en-GB"/>
          </a:p>
        </p:txBody>
      </p:sp>
    </p:spTree>
    <p:extLst>
      <p:ext uri="{BB962C8B-B14F-4D97-AF65-F5344CB8AC3E}">
        <p14:creationId xmlns:p14="http://schemas.microsoft.com/office/powerpoint/2010/main" val="66394038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3027487" rtl="0" eaLnBrk="1" latinLnBrk="0" hangingPunct="1">
        <a:lnSpc>
          <a:spcPct val="90000"/>
        </a:lnSpc>
        <a:spcBef>
          <a:spcPct val="0"/>
        </a:spcBef>
        <a:buNone/>
        <a:defRPr sz="14568" kern="1200">
          <a:solidFill>
            <a:schemeClr val="tx1"/>
          </a:solidFill>
          <a:latin typeface="+mj-lt"/>
          <a:ea typeface="+mj-ea"/>
          <a:cs typeface="+mj-cs"/>
        </a:defRPr>
      </a:lvl1pPr>
    </p:titleStyle>
    <p:bodyStyle>
      <a:lvl1pPr marL="756872" indent="-756872" algn="l" defTabSz="3027487" rtl="0" eaLnBrk="1" latinLnBrk="0" hangingPunct="1">
        <a:lnSpc>
          <a:spcPct val="90000"/>
        </a:lnSpc>
        <a:spcBef>
          <a:spcPts val="3311"/>
        </a:spcBef>
        <a:buFont typeface="Arial" panose="020B0604020202020204" pitchFamily="34" charset="0"/>
        <a:buChar char="•"/>
        <a:defRPr sz="9271" kern="1200">
          <a:solidFill>
            <a:schemeClr val="tx1"/>
          </a:solidFill>
          <a:latin typeface="+mn-lt"/>
          <a:ea typeface="+mn-ea"/>
          <a:cs typeface="+mn-cs"/>
        </a:defRPr>
      </a:lvl1pPr>
      <a:lvl2pPr marL="2270615" indent="-756872" algn="l" defTabSz="3027487" rtl="0" eaLnBrk="1" latinLnBrk="0" hangingPunct="1">
        <a:lnSpc>
          <a:spcPct val="90000"/>
        </a:lnSpc>
        <a:spcBef>
          <a:spcPts val="1655"/>
        </a:spcBef>
        <a:buFont typeface="Arial" panose="020B0604020202020204" pitchFamily="34" charset="0"/>
        <a:buChar char="•"/>
        <a:defRPr sz="7946" kern="1200">
          <a:solidFill>
            <a:schemeClr val="tx1"/>
          </a:solidFill>
          <a:latin typeface="+mn-lt"/>
          <a:ea typeface="+mn-ea"/>
          <a:cs typeface="+mn-cs"/>
        </a:defRPr>
      </a:lvl2pPr>
      <a:lvl3pPr marL="3784359" indent="-756872" algn="l" defTabSz="3027487" rtl="0" eaLnBrk="1" latinLnBrk="0" hangingPunct="1">
        <a:lnSpc>
          <a:spcPct val="90000"/>
        </a:lnSpc>
        <a:spcBef>
          <a:spcPts val="1655"/>
        </a:spcBef>
        <a:buFont typeface="Arial" panose="020B0604020202020204" pitchFamily="34" charset="0"/>
        <a:buChar char="•"/>
        <a:defRPr sz="6622" kern="1200">
          <a:solidFill>
            <a:schemeClr val="tx1"/>
          </a:solidFill>
          <a:latin typeface="+mn-lt"/>
          <a:ea typeface="+mn-ea"/>
          <a:cs typeface="+mn-cs"/>
        </a:defRPr>
      </a:lvl3pPr>
      <a:lvl4pPr marL="5298102"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4pPr>
      <a:lvl5pPr marL="681184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5pPr>
      <a:lvl6pPr marL="8325589"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33"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76"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20" indent="-756872" algn="l" defTabSz="3027487"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p:bodyStyle>
    <p:otherStyle>
      <a:defPPr>
        <a:defRPr lang="en-US"/>
      </a:defPPr>
      <a:lvl1pPr marL="0" algn="l" defTabSz="3027487" rtl="0" eaLnBrk="1" latinLnBrk="0" hangingPunct="1">
        <a:defRPr sz="5960" kern="1200">
          <a:solidFill>
            <a:schemeClr val="tx1"/>
          </a:solidFill>
          <a:latin typeface="+mn-lt"/>
          <a:ea typeface="+mn-ea"/>
          <a:cs typeface="+mn-cs"/>
        </a:defRPr>
      </a:lvl1pPr>
      <a:lvl2pPr marL="1513743" algn="l" defTabSz="3027487" rtl="0" eaLnBrk="1" latinLnBrk="0" hangingPunct="1">
        <a:defRPr sz="5960" kern="1200">
          <a:solidFill>
            <a:schemeClr val="tx1"/>
          </a:solidFill>
          <a:latin typeface="+mn-lt"/>
          <a:ea typeface="+mn-ea"/>
          <a:cs typeface="+mn-cs"/>
        </a:defRPr>
      </a:lvl2pPr>
      <a:lvl3pPr marL="3027487" algn="l" defTabSz="3027487" rtl="0" eaLnBrk="1" latinLnBrk="0" hangingPunct="1">
        <a:defRPr sz="5960" kern="1200">
          <a:solidFill>
            <a:schemeClr val="tx1"/>
          </a:solidFill>
          <a:latin typeface="+mn-lt"/>
          <a:ea typeface="+mn-ea"/>
          <a:cs typeface="+mn-cs"/>
        </a:defRPr>
      </a:lvl3pPr>
      <a:lvl4pPr marL="4541230" algn="l" defTabSz="3027487" rtl="0" eaLnBrk="1" latinLnBrk="0" hangingPunct="1">
        <a:defRPr sz="5960" kern="1200">
          <a:solidFill>
            <a:schemeClr val="tx1"/>
          </a:solidFill>
          <a:latin typeface="+mn-lt"/>
          <a:ea typeface="+mn-ea"/>
          <a:cs typeface="+mn-cs"/>
        </a:defRPr>
      </a:lvl4pPr>
      <a:lvl5pPr marL="6054974" algn="l" defTabSz="3027487" rtl="0" eaLnBrk="1" latinLnBrk="0" hangingPunct="1">
        <a:defRPr sz="5960" kern="1200">
          <a:solidFill>
            <a:schemeClr val="tx1"/>
          </a:solidFill>
          <a:latin typeface="+mn-lt"/>
          <a:ea typeface="+mn-ea"/>
          <a:cs typeface="+mn-cs"/>
        </a:defRPr>
      </a:lvl5pPr>
      <a:lvl6pPr marL="7568717" algn="l" defTabSz="3027487" rtl="0" eaLnBrk="1" latinLnBrk="0" hangingPunct="1">
        <a:defRPr sz="5960" kern="1200">
          <a:solidFill>
            <a:schemeClr val="tx1"/>
          </a:solidFill>
          <a:latin typeface="+mn-lt"/>
          <a:ea typeface="+mn-ea"/>
          <a:cs typeface="+mn-cs"/>
        </a:defRPr>
      </a:lvl6pPr>
      <a:lvl7pPr marL="9082461" algn="l" defTabSz="3027487" rtl="0" eaLnBrk="1" latinLnBrk="0" hangingPunct="1">
        <a:defRPr sz="5960" kern="1200">
          <a:solidFill>
            <a:schemeClr val="tx1"/>
          </a:solidFill>
          <a:latin typeface="+mn-lt"/>
          <a:ea typeface="+mn-ea"/>
          <a:cs typeface="+mn-cs"/>
        </a:defRPr>
      </a:lvl7pPr>
      <a:lvl8pPr marL="10596204" algn="l" defTabSz="3027487" rtl="0" eaLnBrk="1" latinLnBrk="0" hangingPunct="1">
        <a:defRPr sz="5960" kern="1200">
          <a:solidFill>
            <a:schemeClr val="tx1"/>
          </a:solidFill>
          <a:latin typeface="+mn-lt"/>
          <a:ea typeface="+mn-ea"/>
          <a:cs typeface="+mn-cs"/>
        </a:defRPr>
      </a:lvl8pPr>
      <a:lvl9pPr marL="12109948" algn="l" defTabSz="3027487" rtl="0" eaLnBrk="1" latinLnBrk="0" hangingPunct="1">
        <a:defRPr sz="59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jp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screenshot of a cell phone&#10;&#10;Description automatically generated">
            <a:extLst>
              <a:ext uri="{FF2B5EF4-FFF2-40B4-BE49-F238E27FC236}">
                <a16:creationId xmlns:a16="http://schemas.microsoft.com/office/drawing/2014/main" id="{928789B9-220E-E9E9-EF51-22799375D6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30275213" cy="42742012"/>
          </a:xfrm>
          <a:prstGeom prst="rect">
            <a:avLst/>
          </a:prstGeom>
          <a:ln>
            <a:solidFill>
              <a:schemeClr val="bg1">
                <a:lumMod val="50000"/>
              </a:schemeClr>
            </a:solidFill>
          </a:ln>
        </p:spPr>
      </p:pic>
      <p:sp>
        <p:nvSpPr>
          <p:cNvPr id="15" name="Rectangle 14">
            <a:extLst>
              <a:ext uri="{FF2B5EF4-FFF2-40B4-BE49-F238E27FC236}">
                <a16:creationId xmlns:a16="http://schemas.microsoft.com/office/drawing/2014/main" id="{BBBA2A66-6D2A-1288-728A-E2202CFC0294}"/>
              </a:ext>
            </a:extLst>
          </p:cNvPr>
          <p:cNvSpPr/>
          <p:nvPr/>
        </p:nvSpPr>
        <p:spPr>
          <a:xfrm>
            <a:off x="2707854" y="5303520"/>
            <a:ext cx="14202684" cy="1901283"/>
          </a:xfrm>
          <a:prstGeom prst="rect">
            <a:avLst/>
          </a:prstGeom>
          <a:solidFill>
            <a:srgbClr val="EFF0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3200" dirty="0">
                <a:solidFill>
                  <a:schemeClr val="tx1"/>
                </a:solidFill>
                <a:latin typeface="Roboto" panose="02000000000000000000" pitchFamily="2" charset="0"/>
                <a:ea typeface="Roboto" panose="02000000000000000000" pitchFamily="2" charset="0"/>
                <a:cs typeface="Roboto" panose="02000000000000000000" pitchFamily="2" charset="0"/>
              </a:rPr>
              <a:t>  Joan Salvà Soler</a:t>
            </a:r>
          </a:p>
          <a:p>
            <a:r>
              <a:rPr lang="en-GB" sz="3200" dirty="0">
                <a:solidFill>
                  <a:schemeClr val="tx1"/>
                </a:solidFill>
                <a:latin typeface="Roboto" panose="02000000000000000000" pitchFamily="2" charset="0"/>
                <a:ea typeface="Roboto" panose="02000000000000000000" pitchFamily="2" charset="0"/>
                <a:cs typeface="Roboto" panose="02000000000000000000" pitchFamily="2" charset="0"/>
              </a:rPr>
              <a:t>  M.Sc. Data Science </a:t>
            </a:r>
          </a:p>
          <a:p>
            <a:r>
              <a:rPr lang="en-GB" sz="3200" dirty="0">
                <a:solidFill>
                  <a:schemeClr val="tx1"/>
                </a:solidFill>
                <a:latin typeface="Roboto" panose="02000000000000000000" pitchFamily="2" charset="0"/>
                <a:ea typeface="Roboto" panose="02000000000000000000" pitchFamily="2" charset="0"/>
                <a:cs typeface="Roboto" panose="02000000000000000000" pitchFamily="2" charset="0"/>
              </a:rPr>
              <a:t>  Interdisciplinary Project - 194.147 </a:t>
            </a:r>
          </a:p>
        </p:txBody>
      </p:sp>
      <p:sp>
        <p:nvSpPr>
          <p:cNvPr id="11" name="Rectangle 10">
            <a:extLst>
              <a:ext uri="{FF2B5EF4-FFF2-40B4-BE49-F238E27FC236}">
                <a16:creationId xmlns:a16="http://schemas.microsoft.com/office/drawing/2014/main" id="{01DA09F8-5164-BA91-0BDD-641FA2580849}"/>
              </a:ext>
            </a:extLst>
          </p:cNvPr>
          <p:cNvSpPr/>
          <p:nvPr/>
        </p:nvSpPr>
        <p:spPr>
          <a:xfrm>
            <a:off x="22314700" y="1356360"/>
            <a:ext cx="7052780" cy="1661160"/>
          </a:xfrm>
          <a:prstGeom prst="rect">
            <a:avLst/>
          </a:prstGeom>
          <a:solidFill>
            <a:srgbClr val="EFF0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 name="Picture 9" descr="A black background with a letter w&#10;&#10;Description automatically generated">
            <a:extLst>
              <a:ext uri="{FF2B5EF4-FFF2-40B4-BE49-F238E27FC236}">
                <a16:creationId xmlns:a16="http://schemas.microsoft.com/office/drawing/2014/main" id="{EF060676-2604-51D2-C951-FF4BA6EB6D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157071" y="1356360"/>
            <a:ext cx="3048006" cy="1813564"/>
          </a:xfrm>
          <a:prstGeom prst="rect">
            <a:avLst/>
          </a:prstGeom>
        </p:spPr>
      </p:pic>
      <p:sp>
        <p:nvSpPr>
          <p:cNvPr id="12" name="Rectangle 11">
            <a:extLst>
              <a:ext uri="{FF2B5EF4-FFF2-40B4-BE49-F238E27FC236}">
                <a16:creationId xmlns:a16="http://schemas.microsoft.com/office/drawing/2014/main" id="{43861590-E0DE-7A33-CF78-A8FC30F7A6B9}"/>
              </a:ext>
            </a:extLst>
          </p:cNvPr>
          <p:cNvSpPr/>
          <p:nvPr/>
        </p:nvSpPr>
        <p:spPr>
          <a:xfrm>
            <a:off x="2707854" y="3402237"/>
            <a:ext cx="16189746" cy="1901283"/>
          </a:xfrm>
          <a:prstGeom prst="rect">
            <a:avLst/>
          </a:prstGeom>
          <a:solidFill>
            <a:srgbClr val="EFF0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6000" dirty="0">
                <a:solidFill>
                  <a:schemeClr val="tx1"/>
                </a:solidFill>
                <a:latin typeface="Roboto" panose="02000000000000000000" pitchFamily="2" charset="0"/>
                <a:ea typeface="Roboto" panose="02000000000000000000" pitchFamily="2" charset="0"/>
                <a:cs typeface="Roboto" panose="02000000000000000000" pitchFamily="2" charset="0"/>
              </a:rPr>
              <a:t>Exact methods for the Selective Assessment Routing Problem</a:t>
            </a:r>
          </a:p>
        </p:txBody>
      </p:sp>
      <p:sp>
        <p:nvSpPr>
          <p:cNvPr id="13" name="Rectangle 12">
            <a:extLst>
              <a:ext uri="{FF2B5EF4-FFF2-40B4-BE49-F238E27FC236}">
                <a16:creationId xmlns:a16="http://schemas.microsoft.com/office/drawing/2014/main" id="{874E6A09-1E1E-8D69-CC7E-433B9E4C3A5F}"/>
              </a:ext>
            </a:extLst>
          </p:cNvPr>
          <p:cNvSpPr/>
          <p:nvPr/>
        </p:nvSpPr>
        <p:spPr>
          <a:xfrm>
            <a:off x="634253" y="750791"/>
            <a:ext cx="10098490" cy="2366961"/>
          </a:xfrm>
          <a:prstGeom prst="rect">
            <a:avLst/>
          </a:prstGeom>
          <a:solidFill>
            <a:srgbClr val="EFF0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Picture 7" descr="A black background with white letters&#10;&#10;Description automatically generated">
            <a:extLst>
              <a:ext uri="{FF2B5EF4-FFF2-40B4-BE49-F238E27FC236}">
                <a16:creationId xmlns:a16="http://schemas.microsoft.com/office/drawing/2014/main" id="{C52C0E84-C194-354B-7DDA-B47C5038AB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6352" y="1035276"/>
            <a:ext cx="9414293" cy="1411601"/>
          </a:xfrm>
          <a:prstGeom prst="rect">
            <a:avLst/>
          </a:prstGeom>
        </p:spPr>
      </p:pic>
      <p:sp>
        <p:nvSpPr>
          <p:cNvPr id="16" name="Rectangle 15">
            <a:extLst>
              <a:ext uri="{FF2B5EF4-FFF2-40B4-BE49-F238E27FC236}">
                <a16:creationId xmlns:a16="http://schemas.microsoft.com/office/drawing/2014/main" id="{71E2CB33-B1F4-4523-EEE2-9EAF738BF20A}"/>
              </a:ext>
            </a:extLst>
          </p:cNvPr>
          <p:cNvSpPr/>
          <p:nvPr/>
        </p:nvSpPr>
        <p:spPr>
          <a:xfrm>
            <a:off x="18236712" y="4343005"/>
            <a:ext cx="11130768" cy="2667395"/>
          </a:xfrm>
          <a:prstGeom prst="rect">
            <a:avLst/>
          </a:prstGeom>
          <a:solidFill>
            <a:srgbClr val="EFF0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r"/>
            <a:endParaRPr lang="en-GB" sz="2800" b="1" dirty="0">
              <a:solidFill>
                <a:schemeClr val="tx1"/>
              </a:solidFill>
              <a:latin typeface="Roboto" panose="02000000000000000000" pitchFamily="2" charset="0"/>
              <a:ea typeface="Roboto" panose="02000000000000000000" pitchFamily="2" charset="0"/>
              <a:cs typeface="Roboto" panose="02000000000000000000" pitchFamily="2" charset="0"/>
            </a:endParaRPr>
          </a:p>
          <a:p>
            <a:pPr algn="r"/>
            <a:r>
              <a:rPr lang="en-GB" sz="2800" dirty="0">
                <a:solidFill>
                  <a:schemeClr val="tx1"/>
                </a:solidFill>
                <a:latin typeface="Roboto" panose="02000000000000000000" pitchFamily="2" charset="0"/>
                <a:ea typeface="Roboto" panose="02000000000000000000" pitchFamily="2" charset="0"/>
                <a:cs typeface="Roboto" panose="02000000000000000000" pitchFamily="2" charset="0"/>
              </a:rPr>
              <a:t>Project in collaboration with: </a:t>
            </a:r>
          </a:p>
          <a:p>
            <a:pPr algn="r"/>
            <a:r>
              <a:rPr lang="en-GB" sz="2800" b="1" dirty="0">
                <a:solidFill>
                  <a:schemeClr val="tx1"/>
                </a:solidFill>
                <a:latin typeface="Roboto" panose="02000000000000000000" pitchFamily="2" charset="0"/>
                <a:ea typeface="Roboto" panose="02000000000000000000" pitchFamily="2" charset="0"/>
                <a:cs typeface="Roboto" panose="02000000000000000000" pitchFamily="2" charset="0"/>
              </a:rPr>
              <a:t>Institute for Transport and Logistics (WU Vienna)</a:t>
            </a:r>
          </a:p>
          <a:p>
            <a:pPr algn="r"/>
            <a:r>
              <a:rPr lang="en-GB" sz="2800" dirty="0">
                <a:solidFill>
                  <a:schemeClr val="tx1"/>
                </a:solidFill>
                <a:latin typeface="Roboto" panose="02000000000000000000" pitchFamily="2" charset="0"/>
                <a:ea typeface="Roboto" panose="02000000000000000000" pitchFamily="2" charset="0"/>
                <a:cs typeface="Roboto" panose="02000000000000000000" pitchFamily="2" charset="0"/>
              </a:rPr>
              <a:t>   Main supervisor: </a:t>
            </a:r>
            <a:r>
              <a:rPr lang="nn-NO" sz="2800" dirty="0">
                <a:solidFill>
                  <a:schemeClr val="tx1"/>
                </a:solidFill>
                <a:latin typeface="Roboto" panose="02000000000000000000" pitchFamily="2" charset="0"/>
                <a:ea typeface="Roboto" panose="02000000000000000000" pitchFamily="2" charset="0"/>
                <a:cs typeface="Roboto" panose="02000000000000000000" pitchFamily="2" charset="0"/>
              </a:rPr>
              <a:t>Vera C. Hemmelmayr, Ao. Univ. Prof. (WU Vienna)</a:t>
            </a:r>
          </a:p>
          <a:p>
            <a:pPr algn="r"/>
            <a:r>
              <a:rPr lang="nn-NO" sz="2800" dirty="0">
                <a:solidFill>
                  <a:schemeClr val="tx1"/>
                </a:solidFill>
                <a:latin typeface="Roboto" panose="02000000000000000000" pitchFamily="2" charset="0"/>
                <a:ea typeface="Roboto" panose="02000000000000000000" pitchFamily="2" charset="0"/>
                <a:cs typeface="Roboto" panose="02000000000000000000" pitchFamily="2" charset="0"/>
              </a:rPr>
              <a:t>Cosupervisor: </a:t>
            </a:r>
            <a:r>
              <a:rPr lang="de-DE" sz="2800" dirty="0">
                <a:solidFill>
                  <a:schemeClr val="tx1"/>
                </a:solidFill>
                <a:latin typeface="Roboto" panose="02000000000000000000" pitchFamily="2" charset="0"/>
                <a:ea typeface="Roboto" panose="02000000000000000000" pitchFamily="2" charset="0"/>
                <a:cs typeface="Roboto" panose="02000000000000000000" pitchFamily="2" charset="0"/>
              </a:rPr>
              <a:t>Günther Raidl, Ao. Univ. Prof (TU Wien)</a:t>
            </a:r>
            <a:r>
              <a:rPr lang="nn-NO" sz="2800" dirty="0">
                <a:solidFill>
                  <a:schemeClr val="tx1"/>
                </a:solidFill>
                <a:latin typeface="Roboto" panose="02000000000000000000" pitchFamily="2" charset="0"/>
                <a:ea typeface="Roboto" panose="02000000000000000000" pitchFamily="2" charset="0"/>
                <a:cs typeface="Roboto" panose="02000000000000000000" pitchFamily="2" charset="0"/>
              </a:rPr>
              <a:t>  </a:t>
            </a:r>
          </a:p>
          <a:p>
            <a:pPr algn="r"/>
            <a:r>
              <a:rPr lang="en-GB" sz="2800" dirty="0">
                <a:solidFill>
                  <a:schemeClr val="tx1"/>
                </a:solidFill>
                <a:latin typeface="Roboto" panose="02000000000000000000" pitchFamily="2" charset="0"/>
                <a:ea typeface="Roboto" panose="02000000000000000000" pitchFamily="2" charset="0"/>
                <a:cs typeface="Roboto" panose="02000000000000000000" pitchFamily="2" charset="0"/>
              </a:rPr>
              <a:t> </a:t>
            </a:r>
          </a:p>
        </p:txBody>
      </p:sp>
      <p:sp>
        <p:nvSpPr>
          <p:cNvPr id="19" name="Rectangle 18">
            <a:extLst>
              <a:ext uri="{FF2B5EF4-FFF2-40B4-BE49-F238E27FC236}">
                <a16:creationId xmlns:a16="http://schemas.microsoft.com/office/drawing/2014/main" id="{1AFFC5DC-F82A-3D4A-BB98-EEC7014ADA34}"/>
              </a:ext>
            </a:extLst>
          </p:cNvPr>
          <p:cNvSpPr/>
          <p:nvPr/>
        </p:nvSpPr>
        <p:spPr>
          <a:xfrm>
            <a:off x="2261937" y="8021780"/>
            <a:ext cx="25603200" cy="649705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highlight>
                <a:srgbClr val="FFFF00"/>
              </a:highlight>
            </a:endParaRPr>
          </a:p>
        </p:txBody>
      </p:sp>
      <p:sp>
        <p:nvSpPr>
          <p:cNvPr id="20" name="Rectangle 19">
            <a:extLst>
              <a:ext uri="{FF2B5EF4-FFF2-40B4-BE49-F238E27FC236}">
                <a16:creationId xmlns:a16="http://schemas.microsoft.com/office/drawing/2014/main" id="{6B16AE1A-3C05-75E2-30C9-3850CC034B85}"/>
              </a:ext>
            </a:extLst>
          </p:cNvPr>
          <p:cNvSpPr/>
          <p:nvPr/>
        </p:nvSpPr>
        <p:spPr>
          <a:xfrm>
            <a:off x="1461086" y="8231304"/>
            <a:ext cx="12945978" cy="6497053"/>
          </a:xfrm>
          <a:prstGeom prst="rect">
            <a:avLst/>
          </a:prstGeom>
          <a:solidFill>
            <a:srgbClr val="EFF0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lnSpc>
                <a:spcPct val="150000"/>
              </a:lnSpc>
            </a:pPr>
            <a:r>
              <a:rPr lang="en-GB" sz="4000" dirty="0">
                <a:solidFill>
                  <a:schemeClr val="tx1"/>
                </a:solidFill>
                <a:latin typeface="Roboto" panose="02000000000000000000" pitchFamily="2" charset="0"/>
                <a:ea typeface="Roboto" panose="02000000000000000000" pitchFamily="2" charset="0"/>
                <a:cs typeface="Roboto" panose="02000000000000000000" pitchFamily="2" charset="0"/>
              </a:rPr>
              <a:t>The real-world problem</a:t>
            </a:r>
          </a:p>
        </p:txBody>
      </p:sp>
      <p:sp>
        <p:nvSpPr>
          <p:cNvPr id="21" name="Rectangle 20">
            <a:extLst>
              <a:ext uri="{FF2B5EF4-FFF2-40B4-BE49-F238E27FC236}">
                <a16:creationId xmlns:a16="http://schemas.microsoft.com/office/drawing/2014/main" id="{9C56BD99-195C-35AC-B1D1-1FF4165A8465}"/>
              </a:ext>
            </a:extLst>
          </p:cNvPr>
          <p:cNvSpPr/>
          <p:nvPr/>
        </p:nvSpPr>
        <p:spPr>
          <a:xfrm>
            <a:off x="15868150" y="8231304"/>
            <a:ext cx="12945978" cy="7810526"/>
          </a:xfrm>
          <a:prstGeom prst="rect">
            <a:avLst/>
          </a:prstGeom>
          <a:solidFill>
            <a:srgbClr val="EFF0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457200" rtl="0" eaLnBrk="1" fontAlgn="auto" latinLnBrk="0" hangingPunct="1">
              <a:lnSpc>
                <a:spcPct val="150000"/>
              </a:lnSpc>
              <a:spcBef>
                <a:spcPts val="0"/>
              </a:spcBef>
              <a:spcAft>
                <a:spcPts val="0"/>
              </a:spcAft>
              <a:buClrTx/>
              <a:buSzTx/>
              <a:buFontTx/>
              <a:buNone/>
              <a:tabLst/>
              <a:defRPr/>
            </a:pPr>
            <a:r>
              <a:rPr kumimoji="0" lang="en-GB" sz="4000" b="0" i="0" u="none" strike="noStrike" kern="1200" cap="none" spc="0" normalizeH="0" baseline="0" noProof="0" dirty="0">
                <a:ln>
                  <a:noFill/>
                </a:ln>
                <a:solidFill>
                  <a:prstClr val="black"/>
                </a:solidFill>
                <a:effectLst/>
                <a:uLnTx/>
                <a:uFillTx/>
                <a:latin typeface="Roboto" panose="02000000000000000000" pitchFamily="2" charset="0"/>
                <a:ea typeface="Roboto" panose="02000000000000000000" pitchFamily="2" charset="0"/>
                <a:cs typeface="Roboto" panose="02000000000000000000" pitchFamily="2" charset="0"/>
              </a:rPr>
              <a:t>The optimization problem</a:t>
            </a:r>
          </a:p>
        </p:txBody>
      </p:sp>
      <p:sp>
        <p:nvSpPr>
          <p:cNvPr id="25" name="TextBox 24">
            <a:extLst>
              <a:ext uri="{FF2B5EF4-FFF2-40B4-BE49-F238E27FC236}">
                <a16:creationId xmlns:a16="http://schemas.microsoft.com/office/drawing/2014/main" id="{FEFBCF04-2747-A800-B49A-B8926AAEF170}"/>
              </a:ext>
            </a:extLst>
          </p:cNvPr>
          <p:cNvSpPr txBox="1"/>
          <p:nvPr/>
        </p:nvSpPr>
        <p:spPr>
          <a:xfrm>
            <a:off x="2123825" y="9336230"/>
            <a:ext cx="11620500" cy="5262979"/>
          </a:xfrm>
          <a:prstGeom prst="rect">
            <a:avLst/>
          </a:prstGeom>
          <a:noFill/>
        </p:spPr>
        <p:txBody>
          <a:bodyPr wrap="square" rtlCol="0">
            <a:spAutoFit/>
          </a:bodyPr>
          <a:lstStyle/>
          <a:p>
            <a:r>
              <a:rPr lang="en-GB" sz="2800" dirty="0"/>
              <a:t>Once a disaster occurs, humanitarian agencies carry out rapid assessments of the affected region. Since rapid needs assessment stage must be completed quickly, assessment teams do not make observations at all the affected sites; therefore, sites to be visited are sampled. As opposed to random sampling, purposive sampling tries to visit a set of sites that are representative for the </a:t>
            </a:r>
          </a:p>
          <a:p>
            <a:r>
              <a:rPr lang="en-GB" sz="2800" dirty="0"/>
              <a:t>whole region. </a:t>
            </a:r>
          </a:p>
          <a:p>
            <a:endParaRPr lang="en-GB" sz="2800" dirty="0"/>
          </a:p>
          <a:p>
            <a:r>
              <a:rPr lang="en-GB" sz="2800" dirty="0"/>
              <a:t>To do that, the following steps are followed: 1) critical characteristics are specified (e.g. topography, altitude, age, gender, economic activity…), 2) sites to visit are selected making sure that all characteristics are partially covered, and 3) the logistical plan assigns sites to vehicles, and the routes to cover the sites of each team.</a:t>
            </a:r>
          </a:p>
        </p:txBody>
      </p:sp>
      <p:sp>
        <p:nvSpPr>
          <p:cNvPr id="27" name="TextBox 26">
            <a:extLst>
              <a:ext uri="{FF2B5EF4-FFF2-40B4-BE49-F238E27FC236}">
                <a16:creationId xmlns:a16="http://schemas.microsoft.com/office/drawing/2014/main" id="{EA803192-34BB-949A-1FC8-92148280B16E}"/>
              </a:ext>
            </a:extLst>
          </p:cNvPr>
          <p:cNvSpPr txBox="1"/>
          <p:nvPr/>
        </p:nvSpPr>
        <p:spPr>
          <a:xfrm>
            <a:off x="16530889" y="9336230"/>
            <a:ext cx="11620500" cy="6555641"/>
          </a:xfrm>
          <a:prstGeom prst="rect">
            <a:avLst/>
          </a:prstGeom>
          <a:noFill/>
        </p:spPr>
        <p:txBody>
          <a:bodyPr wrap="square" rtlCol="0">
            <a:spAutoFit/>
          </a:bodyPr>
          <a:lstStyle/>
          <a:p>
            <a:r>
              <a:rPr lang="en-GB" sz="2800" dirty="0"/>
              <a:t>Operations Research plays an important role in Humanitarian Logistics. In particular, the solution of an optimization problem can be helpful for a logistician dealing with the previously described Selective Assessment process. </a:t>
            </a:r>
          </a:p>
          <a:p>
            <a:endParaRPr lang="en-GB" sz="2800" dirty="0"/>
          </a:p>
          <a:p>
            <a:r>
              <a:rPr lang="en-GB" sz="2800" dirty="0"/>
              <a:t>This is a new optimization problem was first defined by </a:t>
            </a:r>
            <a:r>
              <a:rPr lang="en-GB" sz="2800" dirty="0" err="1"/>
              <a:t>Balcik</a:t>
            </a:r>
            <a:r>
              <a:rPr lang="en-GB" sz="2800" dirty="0"/>
              <a:t> B. (2017) and is called the </a:t>
            </a:r>
            <a:r>
              <a:rPr lang="en-GB" sz="2800" b="1" dirty="0"/>
              <a:t>Selective Assessment Routing Problem </a:t>
            </a:r>
            <a:r>
              <a:rPr lang="en-GB" sz="2800" dirty="0"/>
              <a:t>(SARP). It has similarities with the Team Orienteering Problem or with the Vehicle Routing Problem with Profits. The objective defined is the maximization of the minimum coverage ratio over target characteristics. </a:t>
            </a:r>
          </a:p>
          <a:p>
            <a:endParaRPr lang="en-GB" sz="2800" dirty="0"/>
          </a:p>
          <a:p>
            <a:r>
              <a:rPr lang="en-GB" sz="2800" dirty="0"/>
              <a:t>In the context of the problem, prioritizing execution time and solution quality is crucial. However, argue that developing exact algorithms, despite the additional time investment, provides valuable lower bounds serving as benchmarks for subsequent research. Moreover, exact methods for the SARP can inspire developments in related optimization problems.</a:t>
            </a:r>
          </a:p>
        </p:txBody>
      </p:sp>
      <p:cxnSp>
        <p:nvCxnSpPr>
          <p:cNvPr id="29" name="Straight Arrow Connector 28">
            <a:extLst>
              <a:ext uri="{FF2B5EF4-FFF2-40B4-BE49-F238E27FC236}">
                <a16:creationId xmlns:a16="http://schemas.microsoft.com/office/drawing/2014/main" id="{89B28DCB-ABEC-FCD0-BC7E-283DAE6ADC23}"/>
              </a:ext>
            </a:extLst>
          </p:cNvPr>
          <p:cNvCxnSpPr>
            <a:cxnSpLocks/>
          </p:cNvCxnSpPr>
          <p:nvPr/>
        </p:nvCxnSpPr>
        <p:spPr>
          <a:xfrm>
            <a:off x="14407063" y="11479830"/>
            <a:ext cx="1461087" cy="0"/>
          </a:xfrm>
          <a:prstGeom prst="straightConnector1">
            <a:avLst/>
          </a:prstGeom>
          <a:ln w="762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A465AEA3-10E5-5A7B-53E2-C39873E26C1F}"/>
              </a:ext>
            </a:extLst>
          </p:cNvPr>
          <p:cNvSpPr/>
          <p:nvPr/>
        </p:nvSpPr>
        <p:spPr>
          <a:xfrm>
            <a:off x="15868150" y="16973275"/>
            <a:ext cx="12945978" cy="9614882"/>
          </a:xfrm>
          <a:prstGeom prst="rect">
            <a:avLst/>
          </a:prstGeom>
          <a:solidFill>
            <a:srgbClr val="EFF0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lnSpc>
                <a:spcPct val="150000"/>
              </a:lnSpc>
            </a:pPr>
            <a:r>
              <a:rPr lang="en-GB" sz="4000" dirty="0">
                <a:solidFill>
                  <a:schemeClr val="tx1"/>
                </a:solidFill>
                <a:latin typeface="Roboto" panose="02000000000000000000" pitchFamily="2" charset="0"/>
                <a:ea typeface="Roboto" panose="02000000000000000000" pitchFamily="2" charset="0"/>
                <a:cs typeface="Roboto" panose="02000000000000000000" pitchFamily="2" charset="0"/>
              </a:rPr>
              <a:t>Mathematical formulations</a:t>
            </a:r>
          </a:p>
        </p:txBody>
      </p:sp>
      <p:sp>
        <p:nvSpPr>
          <p:cNvPr id="34" name="TextBox 33">
            <a:extLst>
              <a:ext uri="{FF2B5EF4-FFF2-40B4-BE49-F238E27FC236}">
                <a16:creationId xmlns:a16="http://schemas.microsoft.com/office/drawing/2014/main" id="{932EC0F1-2E51-6F5A-DFDF-DBB1D823136E}"/>
              </a:ext>
            </a:extLst>
          </p:cNvPr>
          <p:cNvSpPr txBox="1"/>
          <p:nvPr/>
        </p:nvSpPr>
        <p:spPr>
          <a:xfrm>
            <a:off x="16418701" y="18573502"/>
            <a:ext cx="11620500" cy="7848302"/>
          </a:xfrm>
          <a:prstGeom prst="rect">
            <a:avLst/>
          </a:prstGeom>
          <a:noFill/>
        </p:spPr>
        <p:txBody>
          <a:bodyPr wrap="square" rtlCol="0">
            <a:spAutoFit/>
          </a:bodyPr>
          <a:lstStyle/>
          <a:p>
            <a:r>
              <a:rPr lang="en-GB" sz="2800" dirty="0"/>
              <a:t>We investigated four equivalent MILP formulations for SARP:</a:t>
            </a:r>
          </a:p>
          <a:p>
            <a:pPr marL="457200" indent="-457200">
              <a:buFont typeface="Arial" panose="020B0604020202020204" pitchFamily="34" charset="0"/>
              <a:buChar char="•"/>
            </a:pPr>
            <a:r>
              <a:rPr lang="en-GB" sz="2800" dirty="0"/>
              <a:t>An MTZ 3-index formulation originally introduced by </a:t>
            </a:r>
            <a:r>
              <a:rPr lang="en-GB" sz="2800" dirty="0" err="1"/>
              <a:t>Balcik</a:t>
            </a:r>
            <a:r>
              <a:rPr lang="en-GB" sz="2800" dirty="0"/>
              <a:t> B. (2017).</a:t>
            </a:r>
          </a:p>
          <a:p>
            <a:pPr marL="457200" indent="-457200">
              <a:buFont typeface="Arial" panose="020B0604020202020204" pitchFamily="34" charset="0"/>
              <a:buChar char="•"/>
            </a:pPr>
            <a:r>
              <a:rPr lang="en-GB" sz="2800" dirty="0"/>
              <a:t>A self-developed Cutting Set 3-index exponential formulation.</a:t>
            </a:r>
          </a:p>
          <a:p>
            <a:pPr marL="457200" indent="-457200">
              <a:buFont typeface="Arial" panose="020B0604020202020204" pitchFamily="34" charset="0"/>
              <a:buChar char="•"/>
            </a:pPr>
            <a:r>
              <a:rPr lang="en-GB" sz="2800" dirty="0"/>
              <a:t>A self-developed MTZ 2-index formulation that uses less variables as MTZ-3.</a:t>
            </a:r>
          </a:p>
          <a:p>
            <a:pPr marL="457200" indent="-457200">
              <a:buFont typeface="Arial" panose="020B0604020202020204" pitchFamily="34" charset="0"/>
              <a:buChar char="•"/>
            </a:pPr>
            <a:r>
              <a:rPr lang="en-GB" sz="2800" dirty="0"/>
              <a:t>A self-developed Single Commodity Flow formulation.</a:t>
            </a:r>
          </a:p>
          <a:p>
            <a:endParaRPr lang="en-GB" sz="2800" dirty="0"/>
          </a:p>
          <a:p>
            <a:r>
              <a:rPr lang="en-GB" sz="2800" dirty="0"/>
              <a:t>Some theoretical study of the formulations allowed us to conclude the following strength relationships.</a:t>
            </a:r>
          </a:p>
          <a:p>
            <a:endParaRPr lang="en-GB" sz="2800" dirty="0"/>
          </a:p>
          <a:p>
            <a:endParaRPr lang="en-GB" sz="2800" dirty="0"/>
          </a:p>
          <a:p>
            <a:endParaRPr lang="en-GB" sz="2800" dirty="0"/>
          </a:p>
          <a:p>
            <a:endParaRPr lang="en-GB" sz="2800" dirty="0"/>
          </a:p>
          <a:p>
            <a:endParaRPr lang="en-GB" sz="2800" dirty="0"/>
          </a:p>
          <a:p>
            <a:endParaRPr lang="en-GB" sz="2800" dirty="0"/>
          </a:p>
          <a:p>
            <a:endParaRPr lang="en-GB" sz="2800" dirty="0"/>
          </a:p>
          <a:p>
            <a:endParaRPr lang="en-GB" sz="2800" dirty="0"/>
          </a:p>
          <a:p>
            <a:r>
              <a:rPr lang="en-GB" sz="2800" dirty="0"/>
              <a:t>Therefore, we proved that </a:t>
            </a:r>
            <a:r>
              <a:rPr lang="en-GB" sz="2800" b="1" dirty="0"/>
              <a:t>SCF is stronger </a:t>
            </a:r>
            <a:r>
              <a:rPr lang="en-GB" sz="2800" dirty="0"/>
              <a:t>than the state-of-the-art formulation for SARP. </a:t>
            </a:r>
          </a:p>
        </p:txBody>
      </p:sp>
      <p:sp>
        <p:nvSpPr>
          <p:cNvPr id="35" name="Rectangle 34">
            <a:extLst>
              <a:ext uri="{FF2B5EF4-FFF2-40B4-BE49-F238E27FC236}">
                <a16:creationId xmlns:a16="http://schemas.microsoft.com/office/drawing/2014/main" id="{E7739FE9-C216-4197-A148-BF523E55757C}"/>
              </a:ext>
            </a:extLst>
          </p:cNvPr>
          <p:cNvSpPr/>
          <p:nvPr/>
        </p:nvSpPr>
        <p:spPr>
          <a:xfrm>
            <a:off x="17867877" y="22259461"/>
            <a:ext cx="4048555" cy="273310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2" name="TextBox 41">
            <a:extLst>
              <a:ext uri="{FF2B5EF4-FFF2-40B4-BE49-F238E27FC236}">
                <a16:creationId xmlns:a16="http://schemas.microsoft.com/office/drawing/2014/main" id="{A9B0EB5A-0F45-3E70-1B28-8D7117355336}"/>
              </a:ext>
            </a:extLst>
          </p:cNvPr>
          <p:cNvSpPr txBox="1"/>
          <p:nvPr/>
        </p:nvSpPr>
        <p:spPr>
          <a:xfrm>
            <a:off x="19978087" y="22688822"/>
            <a:ext cx="1938344" cy="276999"/>
          </a:xfrm>
          <a:prstGeom prst="rect">
            <a:avLst/>
          </a:prstGeom>
          <a:noFill/>
        </p:spPr>
        <p:txBody>
          <a:bodyPr wrap="square" rtlCol="0">
            <a:spAutoFit/>
          </a:bodyPr>
          <a:lstStyle/>
          <a:p>
            <a:r>
              <a:rPr lang="ca-ES" sz="1200" dirty="0"/>
              <a:t>A and B </a:t>
            </a:r>
            <a:r>
              <a:rPr lang="ca-ES" sz="1200" dirty="0" err="1"/>
              <a:t>are</a:t>
            </a:r>
            <a:r>
              <a:rPr lang="ca-ES" sz="1200" dirty="0"/>
              <a:t> incomparable</a:t>
            </a:r>
          </a:p>
        </p:txBody>
      </p:sp>
      <p:sp>
        <p:nvSpPr>
          <p:cNvPr id="43" name="Rectangle: Rounded Corners 42">
            <a:extLst>
              <a:ext uri="{FF2B5EF4-FFF2-40B4-BE49-F238E27FC236}">
                <a16:creationId xmlns:a16="http://schemas.microsoft.com/office/drawing/2014/main" id="{6D42F989-4EF0-47DD-CDDF-69CBD2186E84}"/>
              </a:ext>
            </a:extLst>
          </p:cNvPr>
          <p:cNvSpPr/>
          <p:nvPr/>
        </p:nvSpPr>
        <p:spPr>
          <a:xfrm>
            <a:off x="18349272" y="22636788"/>
            <a:ext cx="600046" cy="350291"/>
          </a:xfrm>
          <a:prstGeom prst="roundRect">
            <a:avLst/>
          </a:prstGeom>
          <a:solidFill>
            <a:srgbClr val="99B7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ca-ES" sz="2000" dirty="0"/>
              <a:t>A</a:t>
            </a:r>
            <a:endParaRPr lang="de-DE" sz="2000" dirty="0"/>
          </a:p>
        </p:txBody>
      </p:sp>
      <p:sp>
        <p:nvSpPr>
          <p:cNvPr id="44" name="Rectangle: Rounded Corners 43">
            <a:extLst>
              <a:ext uri="{FF2B5EF4-FFF2-40B4-BE49-F238E27FC236}">
                <a16:creationId xmlns:a16="http://schemas.microsoft.com/office/drawing/2014/main" id="{52945970-C0F8-9185-DE88-29C548CAD402}"/>
              </a:ext>
            </a:extLst>
          </p:cNvPr>
          <p:cNvSpPr/>
          <p:nvPr/>
        </p:nvSpPr>
        <p:spPr>
          <a:xfrm>
            <a:off x="19334825" y="22636788"/>
            <a:ext cx="600046" cy="350291"/>
          </a:xfrm>
          <a:prstGeom prst="roundRect">
            <a:avLst/>
          </a:prstGeom>
          <a:solidFill>
            <a:srgbClr val="99B7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ca-ES" sz="2000" dirty="0"/>
              <a:t>B</a:t>
            </a:r>
            <a:endParaRPr lang="de-DE" sz="2000" dirty="0"/>
          </a:p>
        </p:txBody>
      </p:sp>
      <p:sp>
        <p:nvSpPr>
          <p:cNvPr id="45" name="Rectangle: Rounded Corners 44">
            <a:extLst>
              <a:ext uri="{FF2B5EF4-FFF2-40B4-BE49-F238E27FC236}">
                <a16:creationId xmlns:a16="http://schemas.microsoft.com/office/drawing/2014/main" id="{ADBA1872-E9F8-35B4-8ED6-A56F82344A7C}"/>
              </a:ext>
            </a:extLst>
          </p:cNvPr>
          <p:cNvSpPr/>
          <p:nvPr/>
        </p:nvSpPr>
        <p:spPr>
          <a:xfrm>
            <a:off x="18349272" y="23126679"/>
            <a:ext cx="600046" cy="350291"/>
          </a:xfrm>
          <a:prstGeom prst="roundRect">
            <a:avLst/>
          </a:prstGeom>
          <a:solidFill>
            <a:srgbClr val="99B7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ca-ES" sz="2000" dirty="0"/>
              <a:t>A</a:t>
            </a:r>
            <a:endParaRPr lang="de-DE" sz="2000" dirty="0"/>
          </a:p>
        </p:txBody>
      </p:sp>
      <p:sp>
        <p:nvSpPr>
          <p:cNvPr id="46" name="Rectangle: Rounded Corners 45">
            <a:extLst>
              <a:ext uri="{FF2B5EF4-FFF2-40B4-BE49-F238E27FC236}">
                <a16:creationId xmlns:a16="http://schemas.microsoft.com/office/drawing/2014/main" id="{CE56391D-DF70-1869-053D-334809DF333C}"/>
              </a:ext>
            </a:extLst>
          </p:cNvPr>
          <p:cNvSpPr/>
          <p:nvPr/>
        </p:nvSpPr>
        <p:spPr>
          <a:xfrm>
            <a:off x="19334825" y="23126679"/>
            <a:ext cx="600046" cy="350291"/>
          </a:xfrm>
          <a:prstGeom prst="roundRect">
            <a:avLst/>
          </a:prstGeom>
          <a:solidFill>
            <a:srgbClr val="99B7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ca-ES" sz="2000" dirty="0"/>
              <a:t>B</a:t>
            </a:r>
            <a:endParaRPr lang="de-DE" sz="2000" dirty="0"/>
          </a:p>
        </p:txBody>
      </p:sp>
      <p:sp>
        <p:nvSpPr>
          <p:cNvPr id="47" name="Rectangle: Rounded Corners 46">
            <a:extLst>
              <a:ext uri="{FF2B5EF4-FFF2-40B4-BE49-F238E27FC236}">
                <a16:creationId xmlns:a16="http://schemas.microsoft.com/office/drawing/2014/main" id="{31D546A9-7AE1-7CE3-79AA-33CEE82C471B}"/>
              </a:ext>
            </a:extLst>
          </p:cNvPr>
          <p:cNvSpPr/>
          <p:nvPr/>
        </p:nvSpPr>
        <p:spPr>
          <a:xfrm>
            <a:off x="18349272" y="23672333"/>
            <a:ext cx="600046" cy="350291"/>
          </a:xfrm>
          <a:prstGeom prst="roundRect">
            <a:avLst/>
          </a:prstGeom>
          <a:solidFill>
            <a:srgbClr val="99B7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ca-ES" sz="2000" dirty="0"/>
              <a:t>A</a:t>
            </a:r>
            <a:endParaRPr lang="de-DE" sz="2000" dirty="0"/>
          </a:p>
        </p:txBody>
      </p:sp>
      <p:sp>
        <p:nvSpPr>
          <p:cNvPr id="48" name="Rectangle: Rounded Corners 47">
            <a:extLst>
              <a:ext uri="{FF2B5EF4-FFF2-40B4-BE49-F238E27FC236}">
                <a16:creationId xmlns:a16="http://schemas.microsoft.com/office/drawing/2014/main" id="{1E413295-249D-E0DA-0DC3-C3682A264432}"/>
              </a:ext>
            </a:extLst>
          </p:cNvPr>
          <p:cNvSpPr/>
          <p:nvPr/>
        </p:nvSpPr>
        <p:spPr>
          <a:xfrm>
            <a:off x="19334825" y="23672333"/>
            <a:ext cx="600046" cy="350291"/>
          </a:xfrm>
          <a:prstGeom prst="roundRect">
            <a:avLst/>
          </a:prstGeom>
          <a:solidFill>
            <a:srgbClr val="99B7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ca-ES" sz="2000" dirty="0"/>
              <a:t>B</a:t>
            </a:r>
            <a:endParaRPr lang="de-DE" sz="2000" dirty="0"/>
          </a:p>
        </p:txBody>
      </p:sp>
      <p:cxnSp>
        <p:nvCxnSpPr>
          <p:cNvPr id="49" name="Straight Connector 48">
            <a:extLst>
              <a:ext uri="{FF2B5EF4-FFF2-40B4-BE49-F238E27FC236}">
                <a16:creationId xmlns:a16="http://schemas.microsoft.com/office/drawing/2014/main" id="{BA08321D-5254-E41A-5DFD-000D900E4D16}"/>
              </a:ext>
            </a:extLst>
          </p:cNvPr>
          <p:cNvCxnSpPr>
            <a:cxnSpLocks/>
          </p:cNvCxnSpPr>
          <p:nvPr/>
        </p:nvCxnSpPr>
        <p:spPr>
          <a:xfrm>
            <a:off x="18949318" y="22819812"/>
            <a:ext cx="385507"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50" name="Straight Arrow Connector 49">
            <a:extLst>
              <a:ext uri="{FF2B5EF4-FFF2-40B4-BE49-F238E27FC236}">
                <a16:creationId xmlns:a16="http://schemas.microsoft.com/office/drawing/2014/main" id="{B0C342FF-3DF9-D8FF-D57C-6D5DB10CCC07}"/>
              </a:ext>
            </a:extLst>
          </p:cNvPr>
          <p:cNvCxnSpPr>
            <a:cxnSpLocks/>
          </p:cNvCxnSpPr>
          <p:nvPr/>
        </p:nvCxnSpPr>
        <p:spPr>
          <a:xfrm>
            <a:off x="18949318" y="23309703"/>
            <a:ext cx="385507"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51" name="Straight Arrow Connector 50">
            <a:extLst>
              <a:ext uri="{FF2B5EF4-FFF2-40B4-BE49-F238E27FC236}">
                <a16:creationId xmlns:a16="http://schemas.microsoft.com/office/drawing/2014/main" id="{80DDA073-8D8C-5F19-41A9-0701814658C4}"/>
              </a:ext>
            </a:extLst>
          </p:cNvPr>
          <p:cNvCxnSpPr>
            <a:cxnSpLocks/>
          </p:cNvCxnSpPr>
          <p:nvPr/>
        </p:nvCxnSpPr>
        <p:spPr>
          <a:xfrm>
            <a:off x="18949318" y="23855357"/>
            <a:ext cx="385507" cy="0"/>
          </a:xfrm>
          <a:prstGeom prst="straightConnector1">
            <a:avLst/>
          </a:prstGeom>
          <a:ln w="28575">
            <a:headEnd type="triangle"/>
            <a:tailEnd type="triangle"/>
          </a:ln>
        </p:spPr>
        <p:style>
          <a:lnRef idx="1">
            <a:schemeClr val="dk1"/>
          </a:lnRef>
          <a:fillRef idx="0">
            <a:schemeClr val="dk1"/>
          </a:fillRef>
          <a:effectRef idx="0">
            <a:schemeClr val="dk1"/>
          </a:effectRef>
          <a:fontRef idx="minor">
            <a:schemeClr val="tx1"/>
          </a:fontRef>
        </p:style>
      </p:cxnSp>
      <p:cxnSp>
        <p:nvCxnSpPr>
          <p:cNvPr id="52" name="Straight Connector 51">
            <a:extLst>
              <a:ext uri="{FF2B5EF4-FFF2-40B4-BE49-F238E27FC236}">
                <a16:creationId xmlns:a16="http://schemas.microsoft.com/office/drawing/2014/main" id="{9CD75635-BCDD-1CE3-700C-78C40EBFA8A4}"/>
              </a:ext>
            </a:extLst>
          </p:cNvPr>
          <p:cNvCxnSpPr>
            <a:cxnSpLocks/>
          </p:cNvCxnSpPr>
          <p:nvPr/>
        </p:nvCxnSpPr>
        <p:spPr>
          <a:xfrm>
            <a:off x="19002229" y="24385381"/>
            <a:ext cx="288146" cy="0"/>
          </a:xfrm>
          <a:prstGeom prst="line">
            <a:avLst/>
          </a:prstGeom>
          <a:ln w="28575">
            <a:solidFill>
              <a:srgbClr val="99B7FF"/>
            </a:solidFill>
          </a:ln>
        </p:spPr>
        <p:style>
          <a:lnRef idx="1">
            <a:schemeClr val="accent1"/>
          </a:lnRef>
          <a:fillRef idx="0">
            <a:schemeClr val="accent1"/>
          </a:fillRef>
          <a:effectRef idx="0">
            <a:schemeClr val="accent1"/>
          </a:effectRef>
          <a:fontRef idx="minor">
            <a:schemeClr val="tx1"/>
          </a:fontRef>
        </p:style>
      </p:cxnSp>
      <p:sp>
        <p:nvSpPr>
          <p:cNvPr id="59" name="Rectangle: Rounded Corners 58">
            <a:extLst>
              <a:ext uri="{FF2B5EF4-FFF2-40B4-BE49-F238E27FC236}">
                <a16:creationId xmlns:a16="http://schemas.microsoft.com/office/drawing/2014/main" id="{F00C0281-13F7-471F-B3D8-349BE80652A2}"/>
              </a:ext>
            </a:extLst>
          </p:cNvPr>
          <p:cNvSpPr/>
          <p:nvPr/>
        </p:nvSpPr>
        <p:spPr>
          <a:xfrm>
            <a:off x="23047181" y="24266609"/>
            <a:ext cx="1970036" cy="725956"/>
          </a:xfrm>
          <a:prstGeom prst="roundRect">
            <a:avLst/>
          </a:prstGeom>
          <a:solidFill>
            <a:srgbClr val="99B7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ca-ES" sz="2800" dirty="0"/>
              <a:t>MTZ 2</a:t>
            </a:r>
            <a:endParaRPr lang="de-DE" sz="2800" dirty="0"/>
          </a:p>
        </p:txBody>
      </p:sp>
      <p:sp>
        <p:nvSpPr>
          <p:cNvPr id="60" name="Rectangle: Rounded Corners 59">
            <a:extLst>
              <a:ext uri="{FF2B5EF4-FFF2-40B4-BE49-F238E27FC236}">
                <a16:creationId xmlns:a16="http://schemas.microsoft.com/office/drawing/2014/main" id="{E7E96039-AC83-C397-36F1-E95DB0A8E34B}"/>
              </a:ext>
            </a:extLst>
          </p:cNvPr>
          <p:cNvSpPr/>
          <p:nvPr/>
        </p:nvSpPr>
        <p:spPr>
          <a:xfrm>
            <a:off x="23047181" y="22259461"/>
            <a:ext cx="1970036" cy="725956"/>
          </a:xfrm>
          <a:prstGeom prst="roundRect">
            <a:avLst/>
          </a:prstGeom>
          <a:solidFill>
            <a:srgbClr val="99B7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ca-ES" sz="2800" dirty="0"/>
              <a:t>SCF</a:t>
            </a:r>
            <a:endParaRPr lang="de-DE" sz="2800" dirty="0"/>
          </a:p>
        </p:txBody>
      </p:sp>
      <p:sp>
        <p:nvSpPr>
          <p:cNvPr id="61" name="Rectangle: Rounded Corners 60">
            <a:extLst>
              <a:ext uri="{FF2B5EF4-FFF2-40B4-BE49-F238E27FC236}">
                <a16:creationId xmlns:a16="http://schemas.microsoft.com/office/drawing/2014/main" id="{31708EF1-B09C-2EDA-2B09-D57FFED62866}"/>
              </a:ext>
            </a:extLst>
          </p:cNvPr>
          <p:cNvSpPr/>
          <p:nvPr/>
        </p:nvSpPr>
        <p:spPr>
          <a:xfrm>
            <a:off x="25524820" y="22259461"/>
            <a:ext cx="1970036" cy="725956"/>
          </a:xfrm>
          <a:prstGeom prst="roundRect">
            <a:avLst/>
          </a:prstGeom>
          <a:solidFill>
            <a:srgbClr val="99B7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ca-ES" sz="2800" dirty="0"/>
              <a:t>CutSet</a:t>
            </a:r>
            <a:endParaRPr lang="de-DE" dirty="0"/>
          </a:p>
        </p:txBody>
      </p:sp>
      <p:cxnSp>
        <p:nvCxnSpPr>
          <p:cNvPr id="62" name="Straight Connector 61">
            <a:extLst>
              <a:ext uri="{FF2B5EF4-FFF2-40B4-BE49-F238E27FC236}">
                <a16:creationId xmlns:a16="http://schemas.microsoft.com/office/drawing/2014/main" id="{51B851FD-674B-F22C-53B8-73564AC41CD1}"/>
              </a:ext>
            </a:extLst>
          </p:cNvPr>
          <p:cNvCxnSpPr>
            <a:stCxn id="60" idx="3"/>
            <a:endCxn id="61" idx="1"/>
          </p:cNvCxnSpPr>
          <p:nvPr/>
        </p:nvCxnSpPr>
        <p:spPr>
          <a:xfrm>
            <a:off x="25017217" y="22622439"/>
            <a:ext cx="507603"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63" name="Straight Arrow Connector 62">
            <a:extLst>
              <a:ext uri="{FF2B5EF4-FFF2-40B4-BE49-F238E27FC236}">
                <a16:creationId xmlns:a16="http://schemas.microsoft.com/office/drawing/2014/main" id="{FC997514-4F23-81DE-6765-50A5A2A79FDD}"/>
              </a:ext>
            </a:extLst>
          </p:cNvPr>
          <p:cNvCxnSpPr>
            <a:cxnSpLocks/>
          </p:cNvCxnSpPr>
          <p:nvPr/>
        </p:nvCxnSpPr>
        <p:spPr>
          <a:xfrm flipH="1" flipV="1">
            <a:off x="24922440" y="22955796"/>
            <a:ext cx="1198692" cy="145528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64" name="Straight Arrow Connector 63">
            <a:extLst>
              <a:ext uri="{FF2B5EF4-FFF2-40B4-BE49-F238E27FC236}">
                <a16:creationId xmlns:a16="http://schemas.microsoft.com/office/drawing/2014/main" id="{7FF5A041-9E88-78E1-4058-593EB724DFE9}"/>
              </a:ext>
            </a:extLst>
          </p:cNvPr>
          <p:cNvCxnSpPr>
            <a:cxnSpLocks/>
            <a:stCxn id="59" idx="0"/>
            <a:endCxn id="60" idx="2"/>
          </p:cNvCxnSpPr>
          <p:nvPr/>
        </p:nvCxnSpPr>
        <p:spPr>
          <a:xfrm flipV="1">
            <a:off x="24032199" y="22985417"/>
            <a:ext cx="0" cy="1281192"/>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65" name="Straight Arrow Connector 64">
            <a:extLst>
              <a:ext uri="{FF2B5EF4-FFF2-40B4-BE49-F238E27FC236}">
                <a16:creationId xmlns:a16="http://schemas.microsoft.com/office/drawing/2014/main" id="{A8CE0736-D03B-40A5-2BF7-3DE9CC0F0695}"/>
              </a:ext>
            </a:extLst>
          </p:cNvPr>
          <p:cNvCxnSpPr>
            <a:cxnSpLocks/>
            <a:stCxn id="59" idx="3"/>
            <a:endCxn id="68" idx="1"/>
          </p:cNvCxnSpPr>
          <p:nvPr/>
        </p:nvCxnSpPr>
        <p:spPr>
          <a:xfrm>
            <a:off x="25017217" y="24629587"/>
            <a:ext cx="507603" cy="0"/>
          </a:xfrm>
          <a:prstGeom prst="straightConnector1">
            <a:avLst/>
          </a:prstGeom>
          <a:ln w="28575">
            <a:solidFill>
              <a:srgbClr val="99B7FF"/>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C885F8ED-5EA4-319C-BEA1-A88966BEE09E}"/>
              </a:ext>
            </a:extLst>
          </p:cNvPr>
          <p:cNvCxnSpPr>
            <a:cxnSpLocks/>
            <a:stCxn id="68" idx="0"/>
            <a:endCxn id="61" idx="2"/>
          </p:cNvCxnSpPr>
          <p:nvPr/>
        </p:nvCxnSpPr>
        <p:spPr>
          <a:xfrm flipV="1">
            <a:off x="26509838" y="22985417"/>
            <a:ext cx="0" cy="1281192"/>
          </a:xfrm>
          <a:prstGeom prst="line">
            <a:avLst/>
          </a:prstGeom>
          <a:ln w="28575"/>
        </p:spPr>
        <p:style>
          <a:lnRef idx="1">
            <a:schemeClr val="dk1"/>
          </a:lnRef>
          <a:fillRef idx="0">
            <a:schemeClr val="dk1"/>
          </a:fillRef>
          <a:effectRef idx="0">
            <a:schemeClr val="dk1"/>
          </a:effectRef>
          <a:fontRef idx="minor">
            <a:schemeClr val="tx1"/>
          </a:fontRef>
        </p:style>
      </p:cxnSp>
      <p:cxnSp>
        <p:nvCxnSpPr>
          <p:cNvPr id="67" name="Straight Arrow Connector 66">
            <a:extLst>
              <a:ext uri="{FF2B5EF4-FFF2-40B4-BE49-F238E27FC236}">
                <a16:creationId xmlns:a16="http://schemas.microsoft.com/office/drawing/2014/main" id="{FAEDC9F3-E93B-411A-2362-C83C49991323}"/>
              </a:ext>
            </a:extLst>
          </p:cNvPr>
          <p:cNvCxnSpPr>
            <a:cxnSpLocks/>
          </p:cNvCxnSpPr>
          <p:nvPr/>
        </p:nvCxnSpPr>
        <p:spPr>
          <a:xfrm flipV="1">
            <a:off x="24618598" y="22969868"/>
            <a:ext cx="1001000" cy="1415513"/>
          </a:xfrm>
          <a:prstGeom prst="straightConnector1">
            <a:avLst/>
          </a:prstGeom>
          <a:ln w="28575">
            <a:solidFill>
              <a:srgbClr val="99B7FF"/>
            </a:solidFill>
            <a:tailEnd type="triangle"/>
          </a:ln>
        </p:spPr>
        <p:style>
          <a:lnRef idx="1">
            <a:schemeClr val="accent1"/>
          </a:lnRef>
          <a:fillRef idx="0">
            <a:schemeClr val="accent1"/>
          </a:fillRef>
          <a:effectRef idx="0">
            <a:schemeClr val="accent1"/>
          </a:effectRef>
          <a:fontRef idx="minor">
            <a:schemeClr val="tx1"/>
          </a:fontRef>
        </p:style>
      </p:cxnSp>
      <p:sp>
        <p:nvSpPr>
          <p:cNvPr id="68" name="Rectangle: Rounded Corners 67">
            <a:extLst>
              <a:ext uri="{FF2B5EF4-FFF2-40B4-BE49-F238E27FC236}">
                <a16:creationId xmlns:a16="http://schemas.microsoft.com/office/drawing/2014/main" id="{5ED2B150-896B-B527-4E19-2BE2BE94B551}"/>
              </a:ext>
            </a:extLst>
          </p:cNvPr>
          <p:cNvSpPr/>
          <p:nvPr/>
        </p:nvSpPr>
        <p:spPr>
          <a:xfrm>
            <a:off x="25524820" y="24266609"/>
            <a:ext cx="1970036" cy="725956"/>
          </a:xfrm>
          <a:prstGeom prst="roundRect">
            <a:avLst/>
          </a:prstGeom>
          <a:solidFill>
            <a:srgbClr val="99B7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ca-ES" sz="2800" dirty="0"/>
              <a:t>MTZ 3</a:t>
            </a:r>
            <a:endParaRPr lang="de-DE" sz="2800" dirty="0"/>
          </a:p>
        </p:txBody>
      </p:sp>
      <p:sp>
        <p:nvSpPr>
          <p:cNvPr id="90" name="TextBox 89">
            <a:extLst>
              <a:ext uri="{FF2B5EF4-FFF2-40B4-BE49-F238E27FC236}">
                <a16:creationId xmlns:a16="http://schemas.microsoft.com/office/drawing/2014/main" id="{16640C24-A2FF-3EA2-8C65-BB330382D2DE}"/>
              </a:ext>
            </a:extLst>
          </p:cNvPr>
          <p:cNvSpPr txBox="1"/>
          <p:nvPr/>
        </p:nvSpPr>
        <p:spPr>
          <a:xfrm>
            <a:off x="19978089" y="23186592"/>
            <a:ext cx="1938344" cy="276999"/>
          </a:xfrm>
          <a:prstGeom prst="rect">
            <a:avLst/>
          </a:prstGeom>
          <a:noFill/>
        </p:spPr>
        <p:txBody>
          <a:bodyPr wrap="square" rtlCol="0">
            <a:spAutoFit/>
          </a:bodyPr>
          <a:lstStyle/>
          <a:p>
            <a:r>
              <a:rPr lang="ca-ES" sz="1200" dirty="0"/>
              <a:t>B </a:t>
            </a:r>
            <a:r>
              <a:rPr lang="ca-ES" sz="1200" dirty="0" err="1"/>
              <a:t>stronger</a:t>
            </a:r>
            <a:r>
              <a:rPr lang="ca-ES" sz="1200" dirty="0"/>
              <a:t> </a:t>
            </a:r>
            <a:r>
              <a:rPr lang="ca-ES" sz="1200" dirty="0" err="1"/>
              <a:t>than</a:t>
            </a:r>
            <a:r>
              <a:rPr lang="ca-ES" sz="1200" dirty="0"/>
              <a:t> A</a:t>
            </a:r>
          </a:p>
        </p:txBody>
      </p:sp>
      <p:sp>
        <p:nvSpPr>
          <p:cNvPr id="91" name="TextBox 90">
            <a:extLst>
              <a:ext uri="{FF2B5EF4-FFF2-40B4-BE49-F238E27FC236}">
                <a16:creationId xmlns:a16="http://schemas.microsoft.com/office/drawing/2014/main" id="{EECCD2B1-6D63-0340-E890-210DF3331F14}"/>
              </a:ext>
            </a:extLst>
          </p:cNvPr>
          <p:cNvSpPr txBox="1"/>
          <p:nvPr/>
        </p:nvSpPr>
        <p:spPr>
          <a:xfrm>
            <a:off x="19978089" y="23728453"/>
            <a:ext cx="1938344" cy="276999"/>
          </a:xfrm>
          <a:prstGeom prst="rect">
            <a:avLst/>
          </a:prstGeom>
          <a:noFill/>
        </p:spPr>
        <p:txBody>
          <a:bodyPr wrap="square" rtlCol="0">
            <a:spAutoFit/>
          </a:bodyPr>
          <a:lstStyle/>
          <a:p>
            <a:r>
              <a:rPr lang="ca-ES" sz="1200" dirty="0"/>
              <a:t>A </a:t>
            </a:r>
            <a:r>
              <a:rPr lang="ca-ES" sz="1200" dirty="0" err="1"/>
              <a:t>and</a:t>
            </a:r>
            <a:r>
              <a:rPr lang="ca-ES" sz="1200" dirty="0"/>
              <a:t> B </a:t>
            </a:r>
            <a:r>
              <a:rPr lang="ca-ES" sz="1200" dirty="0" err="1"/>
              <a:t>are</a:t>
            </a:r>
            <a:r>
              <a:rPr lang="ca-ES" sz="1200" dirty="0"/>
              <a:t> equivalent</a:t>
            </a:r>
          </a:p>
        </p:txBody>
      </p:sp>
      <p:sp>
        <p:nvSpPr>
          <p:cNvPr id="92" name="TextBox 91">
            <a:extLst>
              <a:ext uri="{FF2B5EF4-FFF2-40B4-BE49-F238E27FC236}">
                <a16:creationId xmlns:a16="http://schemas.microsoft.com/office/drawing/2014/main" id="{DF061467-6B0E-E69D-349E-06C6C2289F6C}"/>
              </a:ext>
            </a:extLst>
          </p:cNvPr>
          <p:cNvSpPr txBox="1"/>
          <p:nvPr/>
        </p:nvSpPr>
        <p:spPr>
          <a:xfrm>
            <a:off x="19978089" y="24243911"/>
            <a:ext cx="1938344" cy="461665"/>
          </a:xfrm>
          <a:prstGeom prst="rect">
            <a:avLst/>
          </a:prstGeom>
          <a:noFill/>
        </p:spPr>
        <p:txBody>
          <a:bodyPr wrap="square" rtlCol="0">
            <a:spAutoFit/>
          </a:bodyPr>
          <a:lstStyle/>
          <a:p>
            <a:r>
              <a:rPr lang="ca-ES" sz="1200" dirty="0" err="1"/>
              <a:t>Suggested</a:t>
            </a:r>
            <a:r>
              <a:rPr lang="ca-ES" sz="1200" dirty="0"/>
              <a:t> </a:t>
            </a:r>
            <a:r>
              <a:rPr lang="ca-ES" sz="1200" dirty="0" err="1"/>
              <a:t>by</a:t>
            </a:r>
            <a:r>
              <a:rPr lang="ca-ES" sz="1200" dirty="0"/>
              <a:t> </a:t>
            </a:r>
            <a:r>
              <a:rPr lang="ca-ES" sz="1200" dirty="0" err="1"/>
              <a:t>numerical</a:t>
            </a:r>
            <a:r>
              <a:rPr lang="ca-ES" sz="1200" dirty="0"/>
              <a:t> experiments</a:t>
            </a:r>
          </a:p>
        </p:txBody>
      </p:sp>
      <p:sp>
        <p:nvSpPr>
          <p:cNvPr id="93" name="Rectangle 92">
            <a:extLst>
              <a:ext uri="{FF2B5EF4-FFF2-40B4-BE49-F238E27FC236}">
                <a16:creationId xmlns:a16="http://schemas.microsoft.com/office/drawing/2014/main" id="{1B4DFB7B-66F6-09A3-83AA-FDEC6AF9FC64}"/>
              </a:ext>
            </a:extLst>
          </p:cNvPr>
          <p:cNvSpPr/>
          <p:nvPr/>
        </p:nvSpPr>
        <p:spPr>
          <a:xfrm>
            <a:off x="1461085" y="15623759"/>
            <a:ext cx="12945978" cy="9368806"/>
          </a:xfrm>
          <a:prstGeom prst="rect">
            <a:avLst/>
          </a:prstGeom>
          <a:solidFill>
            <a:srgbClr val="EFF0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lnSpc>
                <a:spcPct val="150000"/>
              </a:lnSpc>
            </a:pPr>
            <a:r>
              <a:rPr lang="en-GB" sz="4000" dirty="0">
                <a:solidFill>
                  <a:schemeClr val="tx1"/>
                </a:solidFill>
                <a:latin typeface="Roboto" panose="02000000000000000000" pitchFamily="2" charset="0"/>
                <a:ea typeface="Roboto" panose="02000000000000000000" pitchFamily="2" charset="0"/>
                <a:cs typeface="Roboto" panose="02000000000000000000" pitchFamily="2" charset="0"/>
              </a:rPr>
              <a:t>SARP problem analysis</a:t>
            </a:r>
          </a:p>
        </p:txBody>
      </p:sp>
      <p:sp>
        <p:nvSpPr>
          <p:cNvPr id="94" name="TextBox 93">
            <a:extLst>
              <a:ext uri="{FF2B5EF4-FFF2-40B4-BE49-F238E27FC236}">
                <a16:creationId xmlns:a16="http://schemas.microsoft.com/office/drawing/2014/main" id="{787C8DE7-C7F8-F8FD-6624-5BB92B21F8E8}"/>
              </a:ext>
            </a:extLst>
          </p:cNvPr>
          <p:cNvSpPr txBox="1"/>
          <p:nvPr/>
        </p:nvSpPr>
        <p:spPr>
          <a:xfrm>
            <a:off x="2123824" y="16728685"/>
            <a:ext cx="11620500" cy="5693866"/>
          </a:xfrm>
          <a:prstGeom prst="rect">
            <a:avLst/>
          </a:prstGeom>
          <a:noFill/>
        </p:spPr>
        <p:txBody>
          <a:bodyPr wrap="square" rtlCol="0">
            <a:spAutoFit/>
          </a:bodyPr>
          <a:lstStyle/>
          <a:p>
            <a:r>
              <a:rPr lang="en-GB" sz="2800" b="1" dirty="0"/>
              <a:t>Effect of parameter magnitudes</a:t>
            </a:r>
            <a:r>
              <a:rPr lang="en-GB" sz="2800" dirty="0"/>
              <a:t>:</a:t>
            </a:r>
            <a:endParaRPr lang="en-GB" sz="2800" b="1" dirty="0"/>
          </a:p>
          <a:p>
            <a:r>
              <a:rPr lang="en-GB" sz="2800" dirty="0"/>
              <a:t>We study how the weights of the network affect the difficulty of the instance by solving each network from </a:t>
            </a:r>
            <a:r>
              <a:rPr lang="en-GB" sz="2800" dirty="0" err="1"/>
              <a:t>Balcik</a:t>
            </a:r>
            <a:r>
              <a:rPr lang="en-GB" sz="2800" dirty="0"/>
              <a:t> B. (2017) with the travel scaled by a factor of 30. Our results show that higher travel times are beneficial for the solver.</a:t>
            </a:r>
          </a:p>
          <a:p>
            <a:endParaRPr lang="en-GB" sz="2800" dirty="0"/>
          </a:p>
          <a:p>
            <a:endParaRPr lang="en-GB" sz="2800" dirty="0"/>
          </a:p>
          <a:p>
            <a:endParaRPr lang="en-GB" sz="2800" dirty="0"/>
          </a:p>
          <a:p>
            <a:endParaRPr lang="en-GB" sz="2800" b="1" dirty="0"/>
          </a:p>
          <a:p>
            <a:r>
              <a:rPr lang="en-GB" sz="2800" b="1" dirty="0"/>
              <a:t>Effect of the maximum route duration and fleet size</a:t>
            </a:r>
          </a:p>
          <a:p>
            <a:r>
              <a:rPr lang="en-GB" sz="2800" dirty="0"/>
              <a:t>We study how these parameters affect the difficulty of the instance by solving one instance with multiple combinations of the two parameters. We show that the instance can be solve fast to optimality when the optimal objective is either 0 or 1. </a:t>
            </a:r>
          </a:p>
        </p:txBody>
      </p:sp>
      <p:cxnSp>
        <p:nvCxnSpPr>
          <p:cNvPr id="95" name="Straight Arrow Connector 94">
            <a:extLst>
              <a:ext uri="{FF2B5EF4-FFF2-40B4-BE49-F238E27FC236}">
                <a16:creationId xmlns:a16="http://schemas.microsoft.com/office/drawing/2014/main" id="{0B1CC32F-F08F-20CF-41D3-B060F0E6BA36}"/>
              </a:ext>
            </a:extLst>
          </p:cNvPr>
          <p:cNvCxnSpPr>
            <a:cxnSpLocks/>
            <a:stCxn id="21" idx="2"/>
          </p:cNvCxnSpPr>
          <p:nvPr/>
        </p:nvCxnSpPr>
        <p:spPr>
          <a:xfrm>
            <a:off x="22341139" y="16041830"/>
            <a:ext cx="0" cy="931445"/>
          </a:xfrm>
          <a:prstGeom prst="straightConnector1">
            <a:avLst/>
          </a:prstGeom>
          <a:ln w="762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ADB005E9-4243-2BA7-C1D3-3C4C2F0A9E25}"/>
              </a:ext>
            </a:extLst>
          </p:cNvPr>
          <p:cNvCxnSpPr>
            <a:cxnSpLocks/>
          </p:cNvCxnSpPr>
          <p:nvPr/>
        </p:nvCxnSpPr>
        <p:spPr>
          <a:xfrm flipH="1">
            <a:off x="14407063" y="20488311"/>
            <a:ext cx="1461087" cy="0"/>
          </a:xfrm>
          <a:prstGeom prst="straightConnector1">
            <a:avLst/>
          </a:prstGeom>
          <a:ln w="762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101" name="Picture 100">
            <a:extLst>
              <a:ext uri="{FF2B5EF4-FFF2-40B4-BE49-F238E27FC236}">
                <a16:creationId xmlns:a16="http://schemas.microsoft.com/office/drawing/2014/main" id="{1E298655-C141-BA6C-1548-768E59DE76D5}"/>
              </a:ext>
            </a:extLst>
          </p:cNvPr>
          <p:cNvPicPr>
            <a:picLocks noChangeAspect="1"/>
          </p:cNvPicPr>
          <p:nvPr/>
        </p:nvPicPr>
        <p:blipFill rotWithShape="1">
          <a:blip r:embed="rId5"/>
          <a:srcRect l="221" t="6486" r="215"/>
          <a:stretch/>
        </p:blipFill>
        <p:spPr>
          <a:xfrm>
            <a:off x="4755899" y="18842788"/>
            <a:ext cx="6356350" cy="1047059"/>
          </a:xfrm>
          <a:prstGeom prst="rect">
            <a:avLst/>
          </a:prstGeom>
          <a:ln>
            <a:solidFill>
              <a:schemeClr val="bg1">
                <a:lumMod val="50000"/>
              </a:schemeClr>
            </a:solidFill>
          </a:ln>
        </p:spPr>
      </p:pic>
      <p:pic>
        <p:nvPicPr>
          <p:cNvPr id="103" name="Picture 102">
            <a:extLst>
              <a:ext uri="{FF2B5EF4-FFF2-40B4-BE49-F238E27FC236}">
                <a16:creationId xmlns:a16="http://schemas.microsoft.com/office/drawing/2014/main" id="{F8A0BFBB-1934-1CB3-BFEF-DBE87C1BB33E}"/>
              </a:ext>
            </a:extLst>
          </p:cNvPr>
          <p:cNvPicPr>
            <a:picLocks noChangeAspect="1"/>
          </p:cNvPicPr>
          <p:nvPr/>
        </p:nvPicPr>
        <p:blipFill rotWithShape="1">
          <a:blip r:embed="rId6"/>
          <a:srcRect t="1713" b="-1"/>
          <a:stretch/>
        </p:blipFill>
        <p:spPr>
          <a:xfrm>
            <a:off x="8347445" y="22654024"/>
            <a:ext cx="5052498" cy="1760178"/>
          </a:xfrm>
          <a:prstGeom prst="rect">
            <a:avLst/>
          </a:prstGeom>
          <a:ln>
            <a:solidFill>
              <a:schemeClr val="bg1">
                <a:lumMod val="50000"/>
              </a:schemeClr>
            </a:solidFill>
          </a:ln>
        </p:spPr>
      </p:pic>
      <p:pic>
        <p:nvPicPr>
          <p:cNvPr id="105" name="Picture 104">
            <a:extLst>
              <a:ext uri="{FF2B5EF4-FFF2-40B4-BE49-F238E27FC236}">
                <a16:creationId xmlns:a16="http://schemas.microsoft.com/office/drawing/2014/main" id="{552FE6EB-CBF7-985C-43AD-8CF2B6D98472}"/>
              </a:ext>
            </a:extLst>
          </p:cNvPr>
          <p:cNvPicPr>
            <a:picLocks noChangeAspect="1"/>
          </p:cNvPicPr>
          <p:nvPr/>
        </p:nvPicPr>
        <p:blipFill>
          <a:blip r:embed="rId7"/>
          <a:stretch>
            <a:fillRect/>
          </a:stretch>
        </p:blipFill>
        <p:spPr>
          <a:xfrm>
            <a:off x="2075589" y="22654024"/>
            <a:ext cx="5883150" cy="1783235"/>
          </a:xfrm>
          <a:prstGeom prst="rect">
            <a:avLst/>
          </a:prstGeom>
          <a:ln>
            <a:solidFill>
              <a:schemeClr val="bg1">
                <a:lumMod val="50000"/>
              </a:schemeClr>
            </a:solidFill>
          </a:ln>
        </p:spPr>
      </p:pic>
      <p:sp>
        <p:nvSpPr>
          <p:cNvPr id="106" name="Rectangle 105">
            <a:extLst>
              <a:ext uri="{FF2B5EF4-FFF2-40B4-BE49-F238E27FC236}">
                <a16:creationId xmlns:a16="http://schemas.microsoft.com/office/drawing/2014/main" id="{CACB5F8B-6989-37DD-E374-2D78AEBCDF92}"/>
              </a:ext>
            </a:extLst>
          </p:cNvPr>
          <p:cNvSpPr/>
          <p:nvPr/>
        </p:nvSpPr>
        <p:spPr>
          <a:xfrm>
            <a:off x="1450950" y="25790237"/>
            <a:ext cx="12945978" cy="7322527"/>
          </a:xfrm>
          <a:prstGeom prst="rect">
            <a:avLst/>
          </a:prstGeom>
          <a:solidFill>
            <a:srgbClr val="EFF0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lnSpc>
                <a:spcPct val="150000"/>
              </a:lnSpc>
            </a:pPr>
            <a:r>
              <a:rPr lang="en-GB" sz="4000" dirty="0">
                <a:solidFill>
                  <a:schemeClr val="tx1"/>
                </a:solidFill>
                <a:latin typeface="Roboto" panose="02000000000000000000" pitchFamily="2" charset="0"/>
                <a:ea typeface="Roboto" panose="02000000000000000000" pitchFamily="2" charset="0"/>
                <a:cs typeface="Roboto" panose="02000000000000000000" pitchFamily="2" charset="0"/>
              </a:rPr>
              <a:t>Improving the SCF formulation</a:t>
            </a:r>
          </a:p>
        </p:txBody>
      </p:sp>
      <mc:AlternateContent xmlns:mc="http://schemas.openxmlformats.org/markup-compatibility/2006" xmlns:a14="http://schemas.microsoft.com/office/drawing/2010/main">
        <mc:Choice Requires="a14">
          <p:sp>
            <p:nvSpPr>
              <p:cNvPr id="107" name="TextBox 106">
                <a:extLst>
                  <a:ext uri="{FF2B5EF4-FFF2-40B4-BE49-F238E27FC236}">
                    <a16:creationId xmlns:a16="http://schemas.microsoft.com/office/drawing/2014/main" id="{93ADB995-DCBA-4025-F321-9140A0C357CC}"/>
                  </a:ext>
                </a:extLst>
              </p:cNvPr>
              <p:cNvSpPr txBox="1"/>
              <p:nvPr/>
            </p:nvSpPr>
            <p:spPr>
              <a:xfrm>
                <a:off x="2113689" y="26895163"/>
                <a:ext cx="11620500" cy="5944769"/>
              </a:xfrm>
              <a:prstGeom prst="rect">
                <a:avLst/>
              </a:prstGeom>
              <a:noFill/>
            </p:spPr>
            <p:txBody>
              <a:bodyPr wrap="square" rtlCol="0">
                <a:spAutoFit/>
              </a:bodyPr>
              <a:lstStyle/>
              <a:p>
                <a:r>
                  <a:rPr lang="en-GB" sz="2800" b="1" dirty="0"/>
                  <a:t>Greedy heuristic</a:t>
                </a:r>
                <a:endParaRPr lang="en-GB" sz="2800" dirty="0"/>
              </a:p>
              <a:p>
                <a:r>
                  <a:rPr lang="en-GB" sz="2800" dirty="0"/>
                  <a:t>We develop a Randomized Greedy Heuristic procedure that generates a pool of solutions fast. The best one is passed to the MIP solver and is set as an incumbent.</a:t>
                </a:r>
              </a:p>
              <a:p>
                <a:endParaRPr lang="en-GB" sz="2800" dirty="0"/>
              </a:p>
              <a:p>
                <a:r>
                  <a:rPr lang="en-GB" sz="2800" b="1" dirty="0"/>
                  <a:t>Dual strength</a:t>
                </a:r>
              </a:p>
              <a:p>
                <a:r>
                  <a:rPr lang="en-GB" sz="2800" dirty="0"/>
                  <a:t>We strengthened the formulation by using families of valid inequalities. We considered a polynomial subset of the Cutting Set inequalities of the exponential formulation: </a:t>
                </a:r>
              </a:p>
              <a:p>
                <a:pPr/>
                <a14:m>
                  <m:oMathPara xmlns:m="http://schemas.openxmlformats.org/officeDocument/2006/math">
                    <m:oMathParaPr>
                      <m:jc m:val="centerGroup"/>
                    </m:oMathParaPr>
                    <m:oMath xmlns:m="http://schemas.openxmlformats.org/officeDocument/2006/math">
                      <m:nary>
                        <m:naryPr>
                          <m:chr m:val="∑"/>
                          <m:supHide m:val="on"/>
                          <m:ctrlPr>
                            <a:rPr lang="en-GB" sz="2800" i="1" smtClean="0">
                              <a:latin typeface="Cambria Math" panose="02040503050406030204" pitchFamily="18" charset="0"/>
                            </a:rPr>
                          </m:ctrlPr>
                        </m:naryPr>
                        <m:sub>
                          <m:d>
                            <m:dPr>
                              <m:ctrlPr>
                                <a:rPr lang="ca-ES" sz="2800" b="0" i="1" smtClean="0">
                                  <a:latin typeface="Cambria Math" panose="02040503050406030204" pitchFamily="18" charset="0"/>
                                </a:rPr>
                              </m:ctrlPr>
                            </m:dPr>
                            <m:e>
                              <m:r>
                                <m:rPr>
                                  <m:brk m:alnAt="7"/>
                                </m:rPr>
                                <a:rPr lang="ca-ES" sz="2800" b="0" i="1" smtClean="0">
                                  <a:latin typeface="Cambria Math" panose="02040503050406030204" pitchFamily="18" charset="0"/>
                                </a:rPr>
                                <m:t>𝑖</m:t>
                              </m:r>
                              <m:r>
                                <a:rPr lang="ca-ES" sz="2800" b="0" i="1" smtClean="0">
                                  <a:latin typeface="Cambria Math" panose="02040503050406030204" pitchFamily="18" charset="0"/>
                                </a:rPr>
                                <m:t>, </m:t>
                              </m:r>
                              <m:r>
                                <a:rPr lang="ca-ES" sz="2800" b="0" i="1" smtClean="0">
                                  <a:latin typeface="Cambria Math" panose="02040503050406030204" pitchFamily="18" charset="0"/>
                                </a:rPr>
                                <m:t>𝑗</m:t>
                              </m:r>
                            </m:e>
                          </m:d>
                          <m:r>
                            <a:rPr lang="ca-ES" sz="2800" b="0" i="1" smtClean="0">
                              <a:latin typeface="Cambria Math" panose="02040503050406030204" pitchFamily="18" charset="0"/>
                            </a:rPr>
                            <m:t>∈</m:t>
                          </m:r>
                          <m:sSup>
                            <m:sSupPr>
                              <m:ctrlPr>
                                <a:rPr lang="ca-ES" sz="2800" b="0" i="1" smtClean="0">
                                  <a:latin typeface="Cambria Math" panose="02040503050406030204" pitchFamily="18" charset="0"/>
                                </a:rPr>
                              </m:ctrlPr>
                            </m:sSupPr>
                            <m:e>
                              <m:r>
                                <a:rPr lang="ca-ES" sz="2800" b="0" i="1" smtClean="0">
                                  <a:latin typeface="Cambria Math" panose="02040503050406030204" pitchFamily="18" charset="0"/>
                                </a:rPr>
                                <m:t>𝛿</m:t>
                              </m:r>
                            </m:e>
                            <m:sup>
                              <m:r>
                                <a:rPr lang="ca-ES" sz="2800" b="0" i="1" smtClean="0">
                                  <a:latin typeface="Cambria Math" panose="02040503050406030204" pitchFamily="18" charset="0"/>
                                </a:rPr>
                                <m:t>+</m:t>
                              </m:r>
                            </m:sup>
                          </m:sSup>
                          <m:r>
                            <a:rPr lang="ca-ES" sz="2800" b="0" i="1" smtClean="0">
                              <a:latin typeface="Cambria Math" panose="02040503050406030204" pitchFamily="18" charset="0"/>
                            </a:rPr>
                            <m:t>(</m:t>
                          </m:r>
                          <m:r>
                            <a:rPr lang="ca-ES" sz="2800" b="0" i="1" smtClean="0">
                              <a:latin typeface="Cambria Math" panose="02040503050406030204" pitchFamily="18" charset="0"/>
                            </a:rPr>
                            <m:t>𝑆</m:t>
                          </m:r>
                          <m:r>
                            <a:rPr lang="ca-ES" sz="2800" b="0" i="1" smtClean="0">
                              <a:latin typeface="Cambria Math" panose="02040503050406030204" pitchFamily="18" charset="0"/>
                            </a:rPr>
                            <m:t>)</m:t>
                          </m:r>
                        </m:sub>
                        <m:sup/>
                        <m:e>
                          <m:sSub>
                            <m:sSubPr>
                              <m:ctrlPr>
                                <a:rPr lang="ca-ES" sz="2800" b="0" i="1" smtClean="0">
                                  <a:latin typeface="Cambria Math" panose="02040503050406030204" pitchFamily="18" charset="0"/>
                                </a:rPr>
                              </m:ctrlPr>
                            </m:sSubPr>
                            <m:e>
                              <m:r>
                                <a:rPr lang="ca-ES" sz="2800" b="0" i="1" smtClean="0">
                                  <a:latin typeface="Cambria Math" panose="02040503050406030204" pitchFamily="18" charset="0"/>
                                </a:rPr>
                                <m:t>𝑥</m:t>
                              </m:r>
                            </m:e>
                            <m:sub>
                              <m:r>
                                <a:rPr lang="ca-ES" sz="2800" b="0" i="1" smtClean="0">
                                  <a:latin typeface="Cambria Math" panose="02040503050406030204" pitchFamily="18" charset="0"/>
                                </a:rPr>
                                <m:t>𝑖𝑗</m:t>
                              </m:r>
                            </m:sub>
                          </m:sSub>
                          <m:r>
                            <a:rPr lang="ca-ES" sz="2800" b="0" i="1" smtClean="0">
                              <a:latin typeface="Cambria Math" panose="02040503050406030204" pitchFamily="18" charset="0"/>
                            </a:rPr>
                            <m:t>≥</m:t>
                          </m:r>
                          <m:sSub>
                            <m:sSubPr>
                              <m:ctrlPr>
                                <a:rPr lang="ca-ES" sz="2800" b="0" i="1" smtClean="0">
                                  <a:latin typeface="Cambria Math" panose="02040503050406030204" pitchFamily="18" charset="0"/>
                                </a:rPr>
                              </m:ctrlPr>
                            </m:sSubPr>
                            <m:e>
                              <m:r>
                                <a:rPr lang="ca-ES" sz="2800" b="0" i="1" smtClean="0">
                                  <a:latin typeface="Cambria Math" panose="02040503050406030204" pitchFamily="18" charset="0"/>
                                </a:rPr>
                                <m:t>𝑦</m:t>
                              </m:r>
                            </m:e>
                            <m:sub>
                              <m:r>
                                <a:rPr lang="ca-ES" sz="2800" b="0" i="1" smtClean="0">
                                  <a:latin typeface="Cambria Math" panose="02040503050406030204" pitchFamily="18" charset="0"/>
                                </a:rPr>
                                <m:t>h</m:t>
                              </m:r>
                            </m:sub>
                          </m:sSub>
                          <m:r>
                            <a:rPr lang="ca-ES" sz="2800" b="0" i="1" smtClean="0">
                              <a:latin typeface="Cambria Math" panose="02040503050406030204" pitchFamily="18" charset="0"/>
                            </a:rPr>
                            <m:t>            </m:t>
                          </m:r>
                          <m:r>
                            <a:rPr lang="ca-ES" sz="2800" b="0" i="1" smtClean="0">
                              <a:latin typeface="Cambria Math" panose="02040503050406030204" pitchFamily="18" charset="0"/>
                            </a:rPr>
                            <m:t>𝑆</m:t>
                          </m:r>
                          <m:r>
                            <a:rPr lang="ca-ES" sz="2800" b="0" i="1" smtClean="0">
                              <a:latin typeface="Cambria Math" panose="02040503050406030204" pitchFamily="18" charset="0"/>
                            </a:rPr>
                            <m:t>⊆</m:t>
                          </m:r>
                          <m:r>
                            <a:rPr lang="ca-ES" sz="2800" b="0" i="1" smtClean="0">
                              <a:latin typeface="Cambria Math" panose="02040503050406030204" pitchFamily="18" charset="0"/>
                            </a:rPr>
                            <m:t>𝑁</m:t>
                          </m:r>
                          <m:r>
                            <a:rPr lang="ca-ES" sz="2800" b="0" i="1" smtClean="0">
                              <a:latin typeface="Cambria Math" panose="02040503050406030204" pitchFamily="18" charset="0"/>
                            </a:rPr>
                            <m:t>, </m:t>
                          </m:r>
                          <m:r>
                            <a:rPr lang="ca-ES" sz="2800" b="0" i="1" smtClean="0">
                              <a:latin typeface="Cambria Math" panose="02040503050406030204" pitchFamily="18" charset="0"/>
                            </a:rPr>
                            <m:t>h</m:t>
                          </m:r>
                          <m:r>
                            <a:rPr lang="ca-ES" sz="2800" b="0" i="1" smtClean="0">
                              <a:latin typeface="Cambria Math" panose="02040503050406030204" pitchFamily="18" charset="0"/>
                            </a:rPr>
                            <m:t>∈</m:t>
                          </m:r>
                          <m:r>
                            <a:rPr lang="ca-ES" sz="2800" b="0" i="1" smtClean="0">
                              <a:latin typeface="Cambria Math" panose="02040503050406030204" pitchFamily="18" charset="0"/>
                            </a:rPr>
                            <m:t>𝑆</m:t>
                          </m:r>
                        </m:e>
                      </m:nary>
                    </m:oMath>
                  </m:oMathPara>
                </a14:m>
                <a:endParaRPr lang="en-GB" sz="2800" dirty="0"/>
              </a:p>
              <a:p>
                <a14:m>
                  <m:oMath xmlns:m="http://schemas.openxmlformats.org/officeDocument/2006/math">
                    <m:r>
                      <a:rPr lang="ca-ES" sz="2800" b="0" i="1" smtClean="0">
                        <a:latin typeface="Cambria Math" panose="02040503050406030204" pitchFamily="18" charset="0"/>
                      </a:rPr>
                      <m:t>𝑥</m:t>
                    </m:r>
                    <m:r>
                      <a:rPr lang="ca-ES" sz="2800" b="0" i="1" smtClean="0">
                        <a:latin typeface="Cambria Math" panose="02040503050406030204" pitchFamily="18" charset="0"/>
                      </a:rPr>
                      <m:t>, </m:t>
                    </m:r>
                    <m:r>
                      <a:rPr lang="ca-ES" sz="2800" b="0" i="1" smtClean="0">
                        <a:latin typeface="Cambria Math" panose="02040503050406030204" pitchFamily="18" charset="0"/>
                      </a:rPr>
                      <m:t>𝑦</m:t>
                    </m:r>
                  </m:oMath>
                </a14:m>
                <a:r>
                  <a:rPr lang="en-GB" sz="2800" dirty="0"/>
                  <a:t> are edge and node selector binary variables, respectively. As strengthening inequalities, we only considered the subsets with </a:t>
                </a:r>
                <a14:m>
                  <m:oMath xmlns:m="http://schemas.openxmlformats.org/officeDocument/2006/math">
                    <m:d>
                      <m:dPr>
                        <m:begChr m:val="|"/>
                        <m:endChr m:val="|"/>
                        <m:ctrlPr>
                          <a:rPr lang="ca-ES" sz="2800" b="0" i="1" smtClean="0">
                            <a:latin typeface="Cambria Math" panose="02040503050406030204" pitchFamily="18" charset="0"/>
                          </a:rPr>
                        </m:ctrlPr>
                      </m:dPr>
                      <m:e>
                        <m:r>
                          <a:rPr lang="ca-ES" sz="2800" b="0" i="1" smtClean="0">
                            <a:latin typeface="Cambria Math" panose="02040503050406030204" pitchFamily="18" charset="0"/>
                          </a:rPr>
                          <m:t>𝑆</m:t>
                        </m:r>
                      </m:e>
                    </m:d>
                    <m:r>
                      <a:rPr lang="ca-ES" sz="2800" b="0" i="1" smtClean="0">
                        <a:latin typeface="Cambria Math" panose="02040503050406030204" pitchFamily="18" charset="0"/>
                      </a:rPr>
                      <m:t>=2</m:t>
                    </m:r>
                  </m:oMath>
                </a14:m>
                <a:r>
                  <a:rPr lang="en-GB" sz="2800" dirty="0"/>
                  <a:t>.</a:t>
                </a:r>
              </a:p>
            </p:txBody>
          </p:sp>
        </mc:Choice>
        <mc:Fallback xmlns="">
          <p:sp>
            <p:nvSpPr>
              <p:cNvPr id="107" name="TextBox 106">
                <a:extLst>
                  <a:ext uri="{FF2B5EF4-FFF2-40B4-BE49-F238E27FC236}">
                    <a16:creationId xmlns:a16="http://schemas.microsoft.com/office/drawing/2014/main" id="{93ADB995-DCBA-4025-F321-9140A0C357CC}"/>
                  </a:ext>
                </a:extLst>
              </p:cNvPr>
              <p:cNvSpPr txBox="1">
                <a:spLocks noRot="1" noChangeAspect="1" noMove="1" noResize="1" noEditPoints="1" noAdjustHandles="1" noChangeArrowheads="1" noChangeShapeType="1" noTextEdit="1"/>
              </p:cNvSpPr>
              <p:nvPr/>
            </p:nvSpPr>
            <p:spPr>
              <a:xfrm>
                <a:off x="2113689" y="26895163"/>
                <a:ext cx="11620500" cy="5944769"/>
              </a:xfrm>
              <a:prstGeom prst="rect">
                <a:avLst/>
              </a:prstGeom>
              <a:blipFill>
                <a:blip r:embed="rId8"/>
                <a:stretch>
                  <a:fillRect l="-1102" t="-1026" r="-1469" b="-2051"/>
                </a:stretch>
              </a:blipFill>
            </p:spPr>
            <p:txBody>
              <a:bodyPr/>
              <a:lstStyle/>
              <a:p>
                <a:r>
                  <a:rPr lang="en-GB">
                    <a:noFill/>
                  </a:rPr>
                  <a:t> </a:t>
                </a:r>
              </a:p>
            </p:txBody>
          </p:sp>
        </mc:Fallback>
      </mc:AlternateContent>
      <p:cxnSp>
        <p:nvCxnSpPr>
          <p:cNvPr id="108" name="Straight Arrow Connector 107">
            <a:extLst>
              <a:ext uri="{FF2B5EF4-FFF2-40B4-BE49-F238E27FC236}">
                <a16:creationId xmlns:a16="http://schemas.microsoft.com/office/drawing/2014/main" id="{97F16BC5-7A3A-55AD-764C-5FF1EB0A382C}"/>
              </a:ext>
            </a:extLst>
          </p:cNvPr>
          <p:cNvCxnSpPr>
            <a:cxnSpLocks/>
          </p:cNvCxnSpPr>
          <p:nvPr/>
        </p:nvCxnSpPr>
        <p:spPr>
          <a:xfrm>
            <a:off x="7934074" y="24992565"/>
            <a:ext cx="0" cy="780521"/>
          </a:xfrm>
          <a:prstGeom prst="straightConnector1">
            <a:avLst/>
          </a:prstGeom>
          <a:ln w="762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1" name="Rectangle 110">
            <a:extLst>
              <a:ext uri="{FF2B5EF4-FFF2-40B4-BE49-F238E27FC236}">
                <a16:creationId xmlns:a16="http://schemas.microsoft.com/office/drawing/2014/main" id="{1F7877D5-7F6C-3942-F3BF-B72422FDA21C}"/>
              </a:ext>
            </a:extLst>
          </p:cNvPr>
          <p:cNvSpPr/>
          <p:nvPr/>
        </p:nvSpPr>
        <p:spPr>
          <a:xfrm>
            <a:off x="15841711" y="27376007"/>
            <a:ext cx="12945978" cy="9373700"/>
          </a:xfrm>
          <a:prstGeom prst="rect">
            <a:avLst/>
          </a:prstGeom>
          <a:solidFill>
            <a:srgbClr val="EFF0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lnSpc>
                <a:spcPct val="150000"/>
              </a:lnSpc>
            </a:pPr>
            <a:r>
              <a:rPr lang="en-GB" sz="4000" dirty="0">
                <a:solidFill>
                  <a:schemeClr val="tx1"/>
                </a:solidFill>
                <a:latin typeface="Roboto" panose="02000000000000000000" pitchFamily="2" charset="0"/>
                <a:ea typeface="Roboto" panose="02000000000000000000" pitchFamily="2" charset="0"/>
                <a:cs typeface="Roboto" panose="02000000000000000000" pitchFamily="2" charset="0"/>
              </a:rPr>
              <a:t>Computational results</a:t>
            </a:r>
          </a:p>
        </p:txBody>
      </p:sp>
      <p:sp>
        <p:nvSpPr>
          <p:cNvPr id="112" name="TextBox 111">
            <a:extLst>
              <a:ext uri="{FF2B5EF4-FFF2-40B4-BE49-F238E27FC236}">
                <a16:creationId xmlns:a16="http://schemas.microsoft.com/office/drawing/2014/main" id="{7C532EA0-500B-F60B-C7E9-CA11E4A70F0F}"/>
              </a:ext>
            </a:extLst>
          </p:cNvPr>
          <p:cNvSpPr txBox="1"/>
          <p:nvPr/>
        </p:nvSpPr>
        <p:spPr>
          <a:xfrm>
            <a:off x="16504450" y="28480933"/>
            <a:ext cx="11620500" cy="7848302"/>
          </a:xfrm>
          <a:prstGeom prst="rect">
            <a:avLst/>
          </a:prstGeom>
          <a:noFill/>
        </p:spPr>
        <p:txBody>
          <a:bodyPr wrap="square" rtlCol="0">
            <a:spAutoFit/>
          </a:bodyPr>
          <a:lstStyle/>
          <a:p>
            <a:r>
              <a:rPr lang="en-GB" sz="2800" dirty="0"/>
              <a:t>We test our developed formulations on the same instances as </a:t>
            </a:r>
            <a:r>
              <a:rPr lang="en-GB" sz="2800" dirty="0" err="1"/>
              <a:t>Balcik</a:t>
            </a:r>
            <a:r>
              <a:rPr lang="en-GB" sz="2800" dirty="0"/>
              <a:t> B. (2017).</a:t>
            </a:r>
          </a:p>
          <a:p>
            <a:r>
              <a:rPr lang="en-GB" sz="2800" b="1" dirty="0"/>
              <a:t>Small instances </a:t>
            </a:r>
            <a:r>
              <a:rPr lang="en-GB" sz="2800" dirty="0"/>
              <a:t>(64): </a:t>
            </a:r>
            <a:r>
              <a:rPr lang="en-GB" sz="2800" dirty="0" err="1"/>
              <a:t>CutSet</a:t>
            </a:r>
            <a:r>
              <a:rPr lang="en-GB" sz="2800" dirty="0"/>
              <a:t> and SCF show the best performance. All of them can be solved to optimality.</a:t>
            </a:r>
          </a:p>
          <a:p>
            <a:endParaRPr lang="en-GB" sz="2800" b="1" dirty="0"/>
          </a:p>
          <a:p>
            <a:endParaRPr lang="en-GB" sz="2800" b="1" dirty="0"/>
          </a:p>
          <a:p>
            <a:endParaRPr lang="en-GB" sz="2800" b="1" dirty="0"/>
          </a:p>
          <a:p>
            <a:r>
              <a:rPr lang="en-GB" sz="2800" b="1" dirty="0"/>
              <a:t>25-node instances (24): </a:t>
            </a:r>
            <a:r>
              <a:rPr lang="en-GB" sz="2800" dirty="0" err="1"/>
              <a:t>CutSet</a:t>
            </a:r>
            <a:r>
              <a:rPr lang="en-GB" sz="2800" dirty="0"/>
              <a:t> and SCF show the best performance, </a:t>
            </a:r>
            <a:r>
              <a:rPr lang="en-GB" sz="2800" dirty="0" err="1"/>
              <a:t>CutSet</a:t>
            </a:r>
            <a:r>
              <a:rPr lang="en-GB" sz="2800" dirty="0"/>
              <a:t> being a slightly better. They both match the Tabu Search solutions. However, </a:t>
            </a:r>
            <a:r>
              <a:rPr lang="en-GB" sz="2800" dirty="0" err="1"/>
              <a:t>CutSet</a:t>
            </a:r>
            <a:r>
              <a:rPr lang="en-GB" sz="2800" dirty="0"/>
              <a:t> was too slow for bigger instances. </a:t>
            </a:r>
          </a:p>
          <a:p>
            <a:endParaRPr lang="en-GB" sz="2800" b="1" dirty="0"/>
          </a:p>
          <a:p>
            <a:endParaRPr lang="en-GB" sz="2800" b="1" dirty="0"/>
          </a:p>
          <a:p>
            <a:endParaRPr lang="en-GB" sz="2800" b="1" dirty="0"/>
          </a:p>
          <a:p>
            <a:r>
              <a:rPr lang="en-GB" sz="2800" b="1" dirty="0"/>
              <a:t>Large instances (96)</a:t>
            </a:r>
            <a:r>
              <a:rPr lang="en-GB" sz="2800" dirty="0"/>
              <a:t>: without </a:t>
            </a:r>
            <a:r>
              <a:rPr lang="en-GB" sz="2800" dirty="0" err="1"/>
              <a:t>CutSet</a:t>
            </a:r>
            <a:r>
              <a:rPr lang="en-GB" sz="2800" dirty="0"/>
              <a:t>, SCF is the clear dominant. SCF* is the model that includes the improvements, and we show that it is significantly better than the original SCF. Moreover, our best model is competitive against the TS heuristic, with the advantage that it is an exact algorithm.</a:t>
            </a:r>
            <a:endParaRPr lang="en-GB" sz="2800" b="1" dirty="0"/>
          </a:p>
          <a:p>
            <a:endParaRPr lang="en-GB" sz="2800" b="1" dirty="0"/>
          </a:p>
          <a:p>
            <a:endParaRPr lang="en-GB" sz="2800" dirty="0"/>
          </a:p>
        </p:txBody>
      </p:sp>
      <p:pic>
        <p:nvPicPr>
          <p:cNvPr id="114" name="Picture 113">
            <a:extLst>
              <a:ext uri="{FF2B5EF4-FFF2-40B4-BE49-F238E27FC236}">
                <a16:creationId xmlns:a16="http://schemas.microsoft.com/office/drawing/2014/main" id="{1327ED94-420B-C0C3-789A-B82744BEC6A7}"/>
              </a:ext>
            </a:extLst>
          </p:cNvPr>
          <p:cNvPicPr>
            <a:picLocks noChangeAspect="1"/>
          </p:cNvPicPr>
          <p:nvPr/>
        </p:nvPicPr>
        <p:blipFill>
          <a:blip r:embed="rId9"/>
          <a:stretch>
            <a:fillRect/>
          </a:stretch>
        </p:blipFill>
        <p:spPr>
          <a:xfrm>
            <a:off x="20347733" y="29828852"/>
            <a:ext cx="3762435" cy="1206139"/>
          </a:xfrm>
          <a:prstGeom prst="rect">
            <a:avLst/>
          </a:prstGeom>
          <a:ln>
            <a:solidFill>
              <a:schemeClr val="bg1">
                <a:lumMod val="50000"/>
              </a:schemeClr>
            </a:solidFill>
          </a:ln>
        </p:spPr>
      </p:pic>
      <p:pic>
        <p:nvPicPr>
          <p:cNvPr id="116" name="Picture 115">
            <a:extLst>
              <a:ext uri="{FF2B5EF4-FFF2-40B4-BE49-F238E27FC236}">
                <a16:creationId xmlns:a16="http://schemas.microsoft.com/office/drawing/2014/main" id="{88D75B4C-3105-8B60-81C0-2B468FE26787}"/>
              </a:ext>
            </a:extLst>
          </p:cNvPr>
          <p:cNvPicPr>
            <a:picLocks noChangeAspect="1"/>
          </p:cNvPicPr>
          <p:nvPr/>
        </p:nvPicPr>
        <p:blipFill>
          <a:blip r:embed="rId10"/>
          <a:stretch>
            <a:fillRect/>
          </a:stretch>
        </p:blipFill>
        <p:spPr>
          <a:xfrm>
            <a:off x="18820627" y="32428565"/>
            <a:ext cx="6988146" cy="1021168"/>
          </a:xfrm>
          <a:prstGeom prst="rect">
            <a:avLst/>
          </a:prstGeom>
          <a:ln>
            <a:solidFill>
              <a:schemeClr val="bg1">
                <a:lumMod val="50000"/>
              </a:schemeClr>
            </a:solidFill>
          </a:ln>
        </p:spPr>
      </p:pic>
      <p:pic>
        <p:nvPicPr>
          <p:cNvPr id="118" name="Picture 117">
            <a:extLst>
              <a:ext uri="{FF2B5EF4-FFF2-40B4-BE49-F238E27FC236}">
                <a16:creationId xmlns:a16="http://schemas.microsoft.com/office/drawing/2014/main" id="{8CCD64D2-5F22-C19C-1537-5278AFCAABE1}"/>
              </a:ext>
            </a:extLst>
          </p:cNvPr>
          <p:cNvPicPr>
            <a:picLocks noChangeAspect="1"/>
          </p:cNvPicPr>
          <p:nvPr/>
        </p:nvPicPr>
        <p:blipFill rotWithShape="1">
          <a:blip r:embed="rId11"/>
          <a:srcRect t="740"/>
          <a:stretch/>
        </p:blipFill>
        <p:spPr>
          <a:xfrm>
            <a:off x="18820627" y="35500124"/>
            <a:ext cx="6988146" cy="1021168"/>
          </a:xfrm>
          <a:prstGeom prst="rect">
            <a:avLst/>
          </a:prstGeom>
          <a:ln>
            <a:solidFill>
              <a:schemeClr val="bg1">
                <a:lumMod val="50000"/>
              </a:schemeClr>
            </a:solidFill>
          </a:ln>
        </p:spPr>
      </p:pic>
      <p:cxnSp>
        <p:nvCxnSpPr>
          <p:cNvPr id="119" name="Straight Arrow Connector 118">
            <a:extLst>
              <a:ext uri="{FF2B5EF4-FFF2-40B4-BE49-F238E27FC236}">
                <a16:creationId xmlns:a16="http://schemas.microsoft.com/office/drawing/2014/main" id="{F14EE68F-6C2B-547D-9028-39CDC8B08537}"/>
              </a:ext>
            </a:extLst>
          </p:cNvPr>
          <p:cNvCxnSpPr>
            <a:cxnSpLocks/>
          </p:cNvCxnSpPr>
          <p:nvPr/>
        </p:nvCxnSpPr>
        <p:spPr>
          <a:xfrm>
            <a:off x="14407063" y="30133020"/>
            <a:ext cx="1461087" cy="0"/>
          </a:xfrm>
          <a:prstGeom prst="straightConnector1">
            <a:avLst/>
          </a:prstGeom>
          <a:ln w="762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1" name="Rectangle 120">
            <a:extLst>
              <a:ext uri="{FF2B5EF4-FFF2-40B4-BE49-F238E27FC236}">
                <a16:creationId xmlns:a16="http://schemas.microsoft.com/office/drawing/2014/main" id="{3AC75C98-2E3D-4194-23C8-65166A52C878}"/>
              </a:ext>
            </a:extLst>
          </p:cNvPr>
          <p:cNvSpPr/>
          <p:nvPr/>
        </p:nvSpPr>
        <p:spPr>
          <a:xfrm>
            <a:off x="1450950" y="33766195"/>
            <a:ext cx="12945978" cy="7322527"/>
          </a:xfrm>
          <a:prstGeom prst="rect">
            <a:avLst/>
          </a:prstGeom>
          <a:solidFill>
            <a:srgbClr val="EFF0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lnSpc>
                <a:spcPct val="150000"/>
              </a:lnSpc>
            </a:pPr>
            <a:r>
              <a:rPr lang="en-GB" sz="4000" dirty="0">
                <a:solidFill>
                  <a:schemeClr val="tx1"/>
                </a:solidFill>
                <a:latin typeface="Roboto" panose="02000000000000000000" pitchFamily="2" charset="0"/>
                <a:ea typeface="Roboto" panose="02000000000000000000" pitchFamily="2" charset="0"/>
                <a:cs typeface="Roboto" panose="02000000000000000000" pitchFamily="2" charset="0"/>
              </a:rPr>
              <a:t>Case Study: Van Earthquake (2011)</a:t>
            </a:r>
          </a:p>
        </p:txBody>
      </p:sp>
      <p:sp>
        <p:nvSpPr>
          <p:cNvPr id="122" name="TextBox 121">
            <a:extLst>
              <a:ext uri="{FF2B5EF4-FFF2-40B4-BE49-F238E27FC236}">
                <a16:creationId xmlns:a16="http://schemas.microsoft.com/office/drawing/2014/main" id="{657F80E1-0F21-E4CF-1CCB-7C1FBDDB2A98}"/>
              </a:ext>
            </a:extLst>
          </p:cNvPr>
          <p:cNvSpPr txBox="1"/>
          <p:nvPr/>
        </p:nvSpPr>
        <p:spPr>
          <a:xfrm>
            <a:off x="2113689" y="34871121"/>
            <a:ext cx="6705846" cy="5262979"/>
          </a:xfrm>
          <a:prstGeom prst="rect">
            <a:avLst/>
          </a:prstGeom>
          <a:noFill/>
        </p:spPr>
        <p:txBody>
          <a:bodyPr wrap="square" rtlCol="0">
            <a:spAutoFit/>
          </a:bodyPr>
          <a:lstStyle/>
          <a:p>
            <a:r>
              <a:rPr lang="en-GB" sz="2800" dirty="0"/>
              <a:t>The earthquake occurred on the 23d of October 2011 and had a magnitude of 7.2; it killed more than 600 people and left more than 200,000 people homeless and in need. In </a:t>
            </a:r>
            <a:r>
              <a:rPr lang="en-GB" sz="2800" dirty="0" err="1"/>
              <a:t>Balcik</a:t>
            </a:r>
            <a:r>
              <a:rPr lang="en-GB" sz="2800" dirty="0"/>
              <a:t> B. (2017), a network of 93 sites is used to represent the affected area. </a:t>
            </a:r>
          </a:p>
          <a:p>
            <a:endParaRPr lang="en-GB" sz="2800" dirty="0"/>
          </a:p>
          <a:p>
            <a:r>
              <a:rPr lang="en-GB" sz="2800" dirty="0"/>
              <a:t>We apply our best model (SCF*) and compare it against the TS heuristic. Results show that on the case instances, our model clearly beats the TS heuristic, although it had problems proving optimality.</a:t>
            </a:r>
          </a:p>
        </p:txBody>
      </p:sp>
      <p:cxnSp>
        <p:nvCxnSpPr>
          <p:cNvPr id="123" name="Straight Arrow Connector 122">
            <a:extLst>
              <a:ext uri="{FF2B5EF4-FFF2-40B4-BE49-F238E27FC236}">
                <a16:creationId xmlns:a16="http://schemas.microsoft.com/office/drawing/2014/main" id="{B962DF59-E506-93C5-4EFA-8889F86BBE28}"/>
              </a:ext>
            </a:extLst>
          </p:cNvPr>
          <p:cNvCxnSpPr>
            <a:cxnSpLocks/>
          </p:cNvCxnSpPr>
          <p:nvPr/>
        </p:nvCxnSpPr>
        <p:spPr>
          <a:xfrm flipH="1" flipV="1">
            <a:off x="14396928" y="35475227"/>
            <a:ext cx="1434648" cy="9137"/>
          </a:xfrm>
          <a:prstGeom prst="straightConnector1">
            <a:avLst/>
          </a:prstGeom>
          <a:ln w="762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127" name="Picture 126" descr="A map of a city&#10;&#10;Description automatically generated">
            <a:extLst>
              <a:ext uri="{FF2B5EF4-FFF2-40B4-BE49-F238E27FC236}">
                <a16:creationId xmlns:a16="http://schemas.microsoft.com/office/drawing/2014/main" id="{0C70E1C9-D838-3749-AD43-0B78FB25A27C}"/>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9064425" y="34871121"/>
            <a:ext cx="4679899" cy="3505810"/>
          </a:xfrm>
          <a:prstGeom prst="rect">
            <a:avLst/>
          </a:prstGeom>
        </p:spPr>
      </p:pic>
      <p:pic>
        <p:nvPicPr>
          <p:cNvPr id="129" name="Picture 128">
            <a:extLst>
              <a:ext uri="{FF2B5EF4-FFF2-40B4-BE49-F238E27FC236}">
                <a16:creationId xmlns:a16="http://schemas.microsoft.com/office/drawing/2014/main" id="{81313BEA-1773-EA70-4133-686D1C2F8DF3}"/>
              </a:ext>
            </a:extLst>
          </p:cNvPr>
          <p:cNvPicPr>
            <a:picLocks noChangeAspect="1"/>
          </p:cNvPicPr>
          <p:nvPr/>
        </p:nvPicPr>
        <p:blipFill>
          <a:blip r:embed="rId13"/>
          <a:stretch>
            <a:fillRect/>
          </a:stretch>
        </p:blipFill>
        <p:spPr>
          <a:xfrm>
            <a:off x="9666520" y="38512915"/>
            <a:ext cx="3475708" cy="2350414"/>
          </a:xfrm>
          <a:prstGeom prst="rect">
            <a:avLst/>
          </a:prstGeom>
          <a:ln>
            <a:solidFill>
              <a:schemeClr val="bg1">
                <a:lumMod val="50000"/>
              </a:schemeClr>
            </a:solidFill>
          </a:ln>
        </p:spPr>
      </p:pic>
      <p:sp>
        <p:nvSpPr>
          <p:cNvPr id="130" name="Rectangle 129">
            <a:extLst>
              <a:ext uri="{FF2B5EF4-FFF2-40B4-BE49-F238E27FC236}">
                <a16:creationId xmlns:a16="http://schemas.microsoft.com/office/drawing/2014/main" id="{65DB83D3-BB12-5F6D-139F-FA956FE253F1}"/>
              </a:ext>
            </a:extLst>
          </p:cNvPr>
          <p:cNvSpPr/>
          <p:nvPr/>
        </p:nvSpPr>
        <p:spPr>
          <a:xfrm>
            <a:off x="15878286" y="37576216"/>
            <a:ext cx="12945978" cy="4094401"/>
          </a:xfrm>
          <a:prstGeom prst="rect">
            <a:avLst/>
          </a:prstGeom>
          <a:solidFill>
            <a:srgbClr val="EFF0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lnSpc>
                <a:spcPct val="150000"/>
              </a:lnSpc>
            </a:pPr>
            <a:r>
              <a:rPr lang="en-GB" sz="4000" dirty="0">
                <a:solidFill>
                  <a:schemeClr val="tx1"/>
                </a:solidFill>
                <a:latin typeface="Roboto" panose="02000000000000000000" pitchFamily="2" charset="0"/>
                <a:ea typeface="Roboto" panose="02000000000000000000" pitchFamily="2" charset="0"/>
                <a:cs typeface="Roboto" panose="02000000000000000000" pitchFamily="2" charset="0"/>
              </a:rPr>
              <a:t>Summary and conclusions</a:t>
            </a:r>
          </a:p>
        </p:txBody>
      </p:sp>
      <p:sp>
        <p:nvSpPr>
          <p:cNvPr id="131" name="TextBox 130">
            <a:extLst>
              <a:ext uri="{FF2B5EF4-FFF2-40B4-BE49-F238E27FC236}">
                <a16:creationId xmlns:a16="http://schemas.microsoft.com/office/drawing/2014/main" id="{86D8994F-68F4-4ADB-E382-9B1347761182}"/>
              </a:ext>
            </a:extLst>
          </p:cNvPr>
          <p:cNvSpPr txBox="1"/>
          <p:nvPr/>
        </p:nvSpPr>
        <p:spPr>
          <a:xfrm>
            <a:off x="16493396" y="38601668"/>
            <a:ext cx="12294293" cy="2677656"/>
          </a:xfrm>
          <a:prstGeom prst="rect">
            <a:avLst/>
          </a:prstGeom>
          <a:noFill/>
        </p:spPr>
        <p:txBody>
          <a:bodyPr wrap="square" rtlCol="0">
            <a:spAutoFit/>
          </a:bodyPr>
          <a:lstStyle/>
          <a:p>
            <a:pPr marL="457200" indent="-457200">
              <a:buFont typeface="Arial" panose="020B0604020202020204" pitchFamily="34" charset="0"/>
              <a:buChar char="•"/>
            </a:pPr>
            <a:r>
              <a:rPr lang="en-GB" sz="2800" dirty="0"/>
              <a:t>We present three new formulations for a novel optimization problem.</a:t>
            </a:r>
          </a:p>
          <a:p>
            <a:pPr marL="457200" indent="-457200">
              <a:buFont typeface="Arial" panose="020B0604020202020204" pitchFamily="34" charset="0"/>
              <a:buChar char="•"/>
            </a:pPr>
            <a:r>
              <a:rPr lang="en-GB" sz="2800" dirty="0"/>
              <a:t>We prove that the SCF formulation is stronger than the current best (MTZ-3).</a:t>
            </a:r>
          </a:p>
          <a:p>
            <a:pPr marL="457200" indent="-457200">
              <a:buFont typeface="Arial" panose="020B0604020202020204" pitchFamily="34" charset="0"/>
              <a:buChar char="•"/>
            </a:pPr>
            <a:r>
              <a:rPr lang="en-GB" sz="2800" dirty="0"/>
              <a:t>We show that our (primal and dual) improved SCF formulation is competitive with the Tabu Search heuristic from </a:t>
            </a:r>
            <a:r>
              <a:rPr lang="en-GB" sz="2800" dirty="0" err="1"/>
              <a:t>Balcik</a:t>
            </a:r>
            <a:r>
              <a:rPr lang="en-GB" sz="2800" dirty="0"/>
              <a:t> B. (2017).</a:t>
            </a:r>
          </a:p>
          <a:p>
            <a:pPr marL="457200" indent="-457200">
              <a:buFont typeface="Arial" panose="020B0604020202020204" pitchFamily="34" charset="0"/>
              <a:buChar char="•"/>
            </a:pPr>
            <a:r>
              <a:rPr lang="en-GB" sz="2800" dirty="0"/>
              <a:t>We apply this model model on a case study with real data and show that SCF* is better than the TS on this set of instances.</a:t>
            </a:r>
          </a:p>
        </p:txBody>
      </p:sp>
      <p:cxnSp>
        <p:nvCxnSpPr>
          <p:cNvPr id="132" name="Straight Arrow Connector 131">
            <a:extLst>
              <a:ext uri="{FF2B5EF4-FFF2-40B4-BE49-F238E27FC236}">
                <a16:creationId xmlns:a16="http://schemas.microsoft.com/office/drawing/2014/main" id="{DFF312D4-0F02-57E2-9673-1F8BF3A19C56}"/>
              </a:ext>
            </a:extLst>
          </p:cNvPr>
          <p:cNvCxnSpPr>
            <a:cxnSpLocks/>
          </p:cNvCxnSpPr>
          <p:nvPr/>
        </p:nvCxnSpPr>
        <p:spPr>
          <a:xfrm>
            <a:off x="14396928" y="39389799"/>
            <a:ext cx="1442745" cy="0"/>
          </a:xfrm>
          <a:prstGeom prst="straightConnector1">
            <a:avLst/>
          </a:prstGeom>
          <a:ln w="762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39" name="TextBox 138">
            <a:extLst>
              <a:ext uri="{FF2B5EF4-FFF2-40B4-BE49-F238E27FC236}">
                <a16:creationId xmlns:a16="http://schemas.microsoft.com/office/drawing/2014/main" id="{B8B4AFC2-038C-C098-0FB2-1A1F8DBB171B}"/>
              </a:ext>
            </a:extLst>
          </p:cNvPr>
          <p:cNvSpPr txBox="1"/>
          <p:nvPr/>
        </p:nvSpPr>
        <p:spPr>
          <a:xfrm>
            <a:off x="1461086" y="41290301"/>
            <a:ext cx="12935842" cy="707886"/>
          </a:xfrm>
          <a:prstGeom prst="rect">
            <a:avLst/>
          </a:prstGeom>
          <a:noFill/>
        </p:spPr>
        <p:txBody>
          <a:bodyPr wrap="square" rtlCol="0">
            <a:spAutoFit/>
          </a:bodyPr>
          <a:lstStyle/>
          <a:p>
            <a:r>
              <a:rPr lang="en-GB" sz="2000" b="1" i="0" dirty="0">
                <a:effectLst/>
                <a:latin typeface="Roboto" panose="02000000000000000000" pitchFamily="2" charset="0"/>
                <a:ea typeface="Roboto" panose="02000000000000000000" pitchFamily="2" charset="0"/>
                <a:cs typeface="Roboto" panose="02000000000000000000" pitchFamily="2" charset="0"/>
              </a:rPr>
              <a:t>References</a:t>
            </a:r>
            <a:r>
              <a:rPr lang="en-GB" sz="2000" i="0" dirty="0">
                <a:effectLst/>
                <a:latin typeface="Roboto" panose="02000000000000000000" pitchFamily="2" charset="0"/>
                <a:ea typeface="Roboto" panose="02000000000000000000" pitchFamily="2" charset="0"/>
                <a:cs typeface="Roboto" panose="02000000000000000000" pitchFamily="2" charset="0"/>
              </a:rPr>
              <a:t>: </a:t>
            </a:r>
            <a:r>
              <a:rPr lang="en-GB" sz="2000" i="0" dirty="0" err="1">
                <a:effectLst/>
                <a:latin typeface="Roboto" panose="02000000000000000000" pitchFamily="2" charset="0"/>
                <a:ea typeface="Roboto" panose="02000000000000000000" pitchFamily="2" charset="0"/>
                <a:cs typeface="Roboto" panose="02000000000000000000" pitchFamily="2" charset="0"/>
              </a:rPr>
              <a:t>Burcu</a:t>
            </a:r>
            <a:r>
              <a:rPr lang="en-GB" sz="2000" b="0" i="0" dirty="0">
                <a:effectLst/>
                <a:latin typeface="Roboto" panose="02000000000000000000" pitchFamily="2" charset="0"/>
                <a:ea typeface="Roboto" panose="02000000000000000000" pitchFamily="2" charset="0"/>
                <a:cs typeface="Roboto" panose="02000000000000000000" pitchFamily="2" charset="0"/>
              </a:rPr>
              <a:t> </a:t>
            </a:r>
            <a:r>
              <a:rPr lang="en-GB" sz="2000" b="0" i="0" dirty="0" err="1">
                <a:effectLst/>
                <a:latin typeface="Roboto" panose="02000000000000000000" pitchFamily="2" charset="0"/>
                <a:ea typeface="Roboto" panose="02000000000000000000" pitchFamily="2" charset="0"/>
                <a:cs typeface="Roboto" panose="02000000000000000000" pitchFamily="2" charset="0"/>
              </a:rPr>
              <a:t>Balcik</a:t>
            </a:r>
            <a:r>
              <a:rPr lang="en-GB" sz="2000" b="0" i="0" dirty="0">
                <a:effectLst/>
                <a:latin typeface="Roboto" panose="02000000000000000000" pitchFamily="2" charset="0"/>
                <a:ea typeface="Roboto" panose="02000000000000000000" pitchFamily="2" charset="0"/>
                <a:cs typeface="Roboto" panose="02000000000000000000" pitchFamily="2" charset="0"/>
              </a:rPr>
              <a:t>. 2017. Site selection and vehicle routing for post-disaster rapid needs assessment. Transportation Research Part E: Logistics and Transportation Review 101 (2017), 30–58</a:t>
            </a:r>
            <a:endParaRPr lang="en-GB" sz="200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255103419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fc53c085-964b-4fa0-89ae-ff68bcc9a8f6"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C85F1098F2089D4686EB0B2FE46AD70A" ma:contentTypeVersion="4" ma:contentTypeDescription="Ein neues Dokument erstellen." ma:contentTypeScope="" ma:versionID="e348b28dac4230ea96763e4bf76f9a5f">
  <xsd:schema xmlns:xsd="http://www.w3.org/2001/XMLSchema" xmlns:xs="http://www.w3.org/2001/XMLSchema" xmlns:p="http://schemas.microsoft.com/office/2006/metadata/properties" xmlns:ns3="fc53c085-964b-4fa0-89ae-ff68bcc9a8f6" targetNamespace="http://schemas.microsoft.com/office/2006/metadata/properties" ma:root="true" ma:fieldsID="eaebd1937f1003713c5b5181bf587b35" ns3:_="">
    <xsd:import namespace="fc53c085-964b-4fa0-89ae-ff68bcc9a8f6"/>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c53c085-964b-4fa0-89ae-ff68bcc9a8f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_activity" ma:index="11"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967EF5F-428F-4AA6-8336-815EEDEAE247}">
  <ds:schemaRefs>
    <ds:schemaRef ds:uri="fc53c085-964b-4fa0-89ae-ff68bcc9a8f6"/>
    <ds:schemaRef ds:uri="http://schemas.microsoft.com/office/2006/metadata/properties"/>
    <ds:schemaRef ds:uri="http://purl.org/dc/elements/1.1/"/>
    <ds:schemaRef ds:uri="http://schemas.microsoft.com/office/infopath/2007/PartnerControls"/>
    <ds:schemaRef ds:uri="http://purl.org/dc/dcmitype/"/>
    <ds:schemaRef ds:uri="http://www.w3.org/XML/1998/namespace"/>
    <ds:schemaRef ds:uri="http://schemas.microsoft.com/office/2006/documentManagement/types"/>
    <ds:schemaRef ds:uri="http://schemas.openxmlformats.org/package/2006/metadata/core-properties"/>
    <ds:schemaRef ds:uri="http://purl.org/dc/terms/"/>
  </ds:schemaRefs>
</ds:datastoreItem>
</file>

<file path=customXml/itemProps2.xml><?xml version="1.0" encoding="utf-8"?>
<ds:datastoreItem xmlns:ds="http://schemas.openxmlformats.org/officeDocument/2006/customXml" ds:itemID="{15444268-2D1A-48EC-A079-742CC5AEF31C}">
  <ds:schemaRefs>
    <ds:schemaRef ds:uri="http://schemas.microsoft.com/sharepoint/v3/contenttype/forms"/>
  </ds:schemaRefs>
</ds:datastoreItem>
</file>

<file path=customXml/itemProps3.xml><?xml version="1.0" encoding="utf-8"?>
<ds:datastoreItem xmlns:ds="http://schemas.openxmlformats.org/officeDocument/2006/customXml" ds:itemID="{3EE74C70-40D2-4682-9A7C-1086FE504A9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c53c085-964b-4fa0-89ae-ff68bcc9a8f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dffdfdd4-77f5-445a-9dc0-1f5c6d259395}" enabled="0" method="" siteId="{dffdfdd4-77f5-445a-9dc0-1f5c6d259395}" removed="1"/>
</clbl:labelList>
</file>

<file path=docProps/app.xml><?xml version="1.0" encoding="utf-8"?>
<Properties xmlns="http://schemas.openxmlformats.org/officeDocument/2006/extended-properties" xmlns:vt="http://schemas.openxmlformats.org/officeDocument/2006/docPropsVTypes">
  <Template>Office 2013 - 2022 Theme</Template>
  <TotalTime>171</TotalTime>
  <Words>1031</Words>
  <Application>Microsoft Office PowerPoint</Application>
  <PresentationFormat>Custom</PresentationFormat>
  <Paragraphs>90</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Calibri Light</vt:lpstr>
      <vt:lpstr>Cambria Math</vt:lpstr>
      <vt:lpstr>Roboto</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Salva, Joan</dc:creator>
  <cp:lastModifiedBy>Salva, Joan</cp:lastModifiedBy>
  <cp:revision>2</cp:revision>
  <dcterms:created xsi:type="dcterms:W3CDTF">2023-11-19T18:08:30Z</dcterms:created>
  <dcterms:modified xsi:type="dcterms:W3CDTF">2025-06-18T21:02:26Z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0x010100C85F1098F2089D4686EB0B2FE46AD70A</vt:lpwstr>
  </property>
</Properties>
</file>