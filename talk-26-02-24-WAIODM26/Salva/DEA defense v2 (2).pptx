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modernComment_114_C6EA72AB.xml" ContentType="application/vnd.ms-powerpoint.comments+xml"/>
  <Override PartName="/ppt/notesSlides/notesSlide3.xml" ContentType="application/vnd.openxmlformats-officedocument.presentationml.notesSlide+xml"/>
  <Override PartName="/ppt/comments/modernComment_116_23AD0F04.xml" ContentType="application/vnd.ms-powerpoint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omments/modernComment_11A_AA4AF9FD.xml" ContentType="application/vnd.ms-powerpoint.comments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3"/>
  </p:notesMasterIdLst>
  <p:sldIdLst>
    <p:sldId id="256" r:id="rId5"/>
    <p:sldId id="276" r:id="rId6"/>
    <p:sldId id="278" r:id="rId7"/>
    <p:sldId id="277" r:id="rId8"/>
    <p:sldId id="279" r:id="rId9"/>
    <p:sldId id="266" r:id="rId10"/>
    <p:sldId id="280" r:id="rId11"/>
    <p:sldId id="281" r:id="rId12"/>
    <p:sldId id="282" r:id="rId13"/>
    <p:sldId id="283" r:id="rId14"/>
    <p:sldId id="284" r:id="rId15"/>
    <p:sldId id="285" r:id="rId16"/>
    <p:sldId id="286" r:id="rId17"/>
    <p:sldId id="290" r:id="rId18"/>
    <p:sldId id="288" r:id="rId19"/>
    <p:sldId id="289" r:id="rId20"/>
    <p:sldId id="262" r:id="rId21"/>
    <p:sldId id="287" r:id="rId2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80E0637-DBB6-8BA0-4D06-BCC5743E7C96}" name="Joan Salva Soler" initials="" userId="S::joan.salva.soler@quantagonia.com::79a913a8-b223-44c8-a8dd-edeb3a9f860a" providerId="AD"/>
  <p188:author id="{2583D1F0-1618-3AF5-1376-96425F14873B}" name="Raidl, Günther" initials="GR" userId="S::guenther.raidl@tuwien.ac.at::20f4c30b-ad42-4cb9-9998-d9d93a0056a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87878"/>
    <a:srgbClr val="70AD47"/>
    <a:srgbClr val="4472C4"/>
    <a:srgbClr val="99B7FF"/>
    <a:srgbClr val="BFBFBF"/>
    <a:srgbClr val="FFC000"/>
    <a:srgbClr val="FFE699"/>
    <a:srgbClr val="F7F21E"/>
    <a:srgbClr val="F6FC1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634" autoAdjust="0"/>
    <p:restoredTop sz="95741"/>
  </p:normalViewPr>
  <p:slideViewPr>
    <p:cSldViewPr snapToGrid="0">
      <p:cViewPr varScale="1">
        <p:scale>
          <a:sx n="78" d="100"/>
          <a:sy n="78" d="100"/>
        </p:scale>
        <p:origin x="192" y="74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9" d="100"/>
          <a:sy n="99" d="100"/>
        </p:scale>
        <p:origin x="254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ableStyles" Target="tableStyles.xml"/></Relationships>
</file>

<file path=ppt/comments/modernComment_11A_AA4AF9F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0E46ABD-2372-4F9A-9769-613EC79C932E}" authorId="{2583D1F0-1618-3AF5-1376-96425F14873B}" status="resolved" created="2025-05-09T13:18:16.043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857040381" sldId="282"/>
      <ac:spMk id="6" creationId="{B1215266-7C92-5DA3-42A5-F9A279F2D774}"/>
    </ac:deMkLst>
    <p188:pos x="1866943" y="1714501"/>
    <p188:txBody>
      <a:bodyPr/>
      <a:lstStyle/>
      <a:p>
        <a:r>
          <a:rPr lang="de-DE"/>
          <a:t>Dif*f*usion</a:t>
        </a:r>
      </a:p>
    </p188:txBody>
  </p188:cm>
</p188:cmLst>
</file>

<file path=ppt/comments/modernComment_114_C6EA72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D563324-784D-43B9-945E-19ED71CB5941}" authorId="{2583D1F0-1618-3AF5-1376-96425F14873B}" status="resolved" created="2025-05-09T13:13:05.394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37253547" sldId="276"/>
      <ac:spMk id="4" creationId="{D720BEEB-6342-FE67-796B-785CF65F46AD}"/>
    </ac:deMkLst>
    <p188:pos x="1701800" y="1377951"/>
    <p188:txBody>
      <a:bodyPr/>
      <a:lstStyle/>
      <a:p>
        <a:r>
          <a:rPr lang="de-DE"/>
          <a:t>Maybe „Mathematical Programming“ (more general) than „Integer Linear Programming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5-09T13:34:20.572" authorId="{A80E0637-DBB6-8BA0-4D06-BCC5743E7C96}"/>
          </p223:rxn>
        </p223:reactions>
      </p:ext>
    </p188:extLst>
  </p188:cm>
  <p188:cm id="{2125AEBB-5D00-4209-843F-367DC722181A}" authorId="{2583D1F0-1618-3AF5-1376-96425F14873B}" status="resolved" created="2025-05-09T13:13:50.887" complete="100000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3337253547" sldId="276"/>
      <ac:spMk id="4" creationId="{D720BEEB-6342-FE67-796B-785CF65F46AD}"/>
    </ac:deMkLst>
    <p188:pos x="3575050" y="3276601"/>
    <p188:txBody>
      <a:bodyPr/>
      <a:lstStyle/>
      <a:p>
        <a:r>
          <a:rPr lang="de-DE"/>
          <a:t>Reinforcement Learning (RL)</a:t>
        </a:r>
      </a:p>
    </p188:txBody>
  </p188:cm>
  <p188:cm id="{09E2AD84-9E21-4FC2-BEAF-31FAD2E61172}" authorId="{2583D1F0-1618-3AF5-1376-96425F14873B}" status="resolved" created="2025-05-09T13:17:03.325" complete="100000">
    <pc:sldMkLst xmlns:pc="http://schemas.microsoft.com/office/powerpoint/2013/main/command">
      <pc:docMk/>
      <pc:sldMk cId="3337253547" sldId="276"/>
    </pc:sldMkLst>
    <p188:pos x="4165600" y="4175125"/>
    <p188:txBody>
      <a:bodyPr/>
      <a:lstStyle/>
      <a:p>
        <a:r>
          <a:rPr lang="de-DE"/>
          <a:t>e.g.  Evolutionary Algorithms (EA)</a:t>
        </a:r>
      </a:p>
    </p188:txBody>
  </p188:cm>
</p188:cmLst>
</file>

<file path=ppt/comments/modernComment_116_23AD0F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4939770-4805-044A-B7BC-F1620A47F8B7}" authorId="{A80E0637-DBB6-8BA0-4D06-BCC5743E7C96}" status="resolved" created="2025-05-07T18:03:12.208" complete="100000">
    <pc:sldMkLst xmlns:pc="http://schemas.microsoft.com/office/powerpoint/2013/main/command">
      <pc:docMk/>
      <pc:sldMk cId="598544132" sldId="278"/>
    </pc:sldMkLst>
    <p188:txBody>
      <a:bodyPr/>
      <a:lstStyle/>
      <a:p>
        <a:r>
          <a:rPr lang="en-US"/>
          <a:t>Start with this slide
Say more about diffusion based CO
Explain denoising diffusion
GNN = Graph neural networks
Check abbreviations are defined!
Gpu could help scale to larger instances, this is a goal. Potential scaling of GPU. Parallel sampling.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5-05-07T21:38:09.542" authorId="{A80E0637-DBB6-8BA0-4D06-BCC5743E7C96}"/>
          </p223:rxn>
        </p223:reactions>
      </p:ext>
    </p188:extLst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80D8A3-FA99-49CB-9678-C152E476A120}" type="datetimeFigureOut">
              <a:rPr lang="en-GB" smtClean="0"/>
              <a:t>09/05/2025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2088C-228E-475B-A831-F4F27E024E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3882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8380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7267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0413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472647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9710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92794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9227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46962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65784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281860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99440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620816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10289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7866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13871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87227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25917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2088C-228E-475B-A831-F4F27E024E30}" type="slidenum">
              <a:rPr lang="en-GB" smtClean="0"/>
              <a:t>18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8763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D4DB98-E481-2FE7-7D33-227B23999A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47F875-A8D5-7B29-4539-50A084CD42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5A3BE-2E88-4E35-9880-D863849C0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FEC4A3-19E6-824E-970C-E1F4BC706174}" type="datetime1">
              <a:rPr lang="en-US" smtClean="0"/>
              <a:t>5/9/25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D3DF7-9EDE-758E-8AA8-73E27D2E2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9DFDE-FFF2-12B1-31DC-AD3181EA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72234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91B73-2F4C-FED5-6337-000CF48E9F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160BD1-B239-82B1-FC07-AD4297749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78F2FA-2DD7-B343-2267-5C55315D9D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6E2F4-D5FD-1247-80D4-C55CFA4BC842}" type="datetime1">
              <a:rPr lang="en-US" smtClean="0"/>
              <a:t>5/9/25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60784E-F0C4-7671-DB05-07DCCA553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38A4A0-A81B-48D6-AB40-33C8D2D20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80526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059FC9-89E2-F984-DD0D-61205E32C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4161C-7203-2940-DD37-5A64244957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DC2EE9-D197-B690-D8FC-C6490E152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C25FDC-843B-8447-A6EE-5A4BB1BDD42B}" type="datetime1">
              <a:rPr lang="en-US" smtClean="0"/>
              <a:t>5/9/25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F5C76-5C96-DCDC-36A4-6ED0A18D0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B1E1A3-17A7-0DD2-33DA-BA82E845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74747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766DC5-7723-DEFC-040B-6A4265423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149870-1AE1-1D14-AB81-E784117A55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F0F949-9D5A-FE78-8E35-ADA9613380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123921-6125-F2D6-01C0-1FDDD66AA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B1D27-7ED8-3B43-86EA-AD0486F95B95}" type="datetime1">
              <a:rPr lang="en-US" smtClean="0"/>
              <a:t>5/9/25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6D1BEE-3759-D636-5C37-DBD823DFC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BF9872-0B37-F565-A0D4-04DE8C9B92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82350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2FDFA-067B-8FC3-04CD-C002B0EDD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B1CBB-D6D1-36E7-99F5-57972C7314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6A50E57-D53E-4CEC-F5B3-69356C834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991A91-8A86-C6F4-0FF4-E36AF9603A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F46D12E-0FE0-B161-D7FE-EACC6B716EA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070E376-3B1A-9791-FEFC-5A3A280AD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27129-64F7-9641-A7EE-E36B1439DEA4}" type="datetime1">
              <a:rPr lang="en-US" smtClean="0"/>
              <a:t>5/9/25</a:t>
            </a:fld>
            <a:endParaRPr lang="de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0C71F3-85AB-88AB-3762-D86112E81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59C67B0-A60B-26A6-1BC5-F289FAEA9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18625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7BE1C-4213-CA17-1D4B-D7868F47EF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0813FA-9273-9892-579D-444F9B451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5D22BE-D048-FA41-843A-761545414161}" type="datetime1">
              <a:rPr lang="en-US" smtClean="0"/>
              <a:t>5/9/25</a:t>
            </a:fld>
            <a:endParaRPr lang="de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ECEFC4-0275-5CF2-D3DF-639A89ABC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F96B08-CA8E-B7EE-1962-BFA25F3FA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66810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66297-8CA3-EC44-0A09-C613DE4B9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4B0D4A-105C-FA4E-9F8B-8007D98591FD}" type="datetime1">
              <a:rPr lang="en-US" smtClean="0"/>
              <a:t>5/9/25</a:t>
            </a:fld>
            <a:endParaRPr lang="de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82F385-9AA4-4DFF-A76D-54EE7B5986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4CF7E-F29A-8C83-B47D-F6954E6EF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5694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260592-FECD-BC9D-E837-BF9C825431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D6A5D-68D2-5AED-2F77-7EA4CC533D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A30CEB-31A9-E53E-5117-2C2C01876D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773802-A0E1-A0CD-8C0F-6F8F75A05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E971ED-F898-6045-BD26-D1C479F0B315}" type="datetime1">
              <a:rPr lang="en-US" smtClean="0"/>
              <a:t>5/9/25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4E70D0-577F-D6F9-F446-9E75A3409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B7FB9E-75B0-194C-8BAB-BFE336EFB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94018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63595-2D2F-4114-6CE9-78DE0A0BD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FA478-79A9-DBA2-1499-634EB407BA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B308BE-D524-60F4-B43D-84548A910A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D05FCC-4988-DEE8-FF7D-A6847DE0F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9173-7354-1A4E-BE23-A70D8610B788}" type="datetime1">
              <a:rPr lang="en-US" smtClean="0"/>
              <a:t>5/9/25</a:t>
            </a:fld>
            <a:endParaRPr lang="de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86324-6D46-AD10-6CFC-5651AE24D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C3EFF7-6830-5E40-BEFF-346A1913D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233133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3AE8A0-8478-936E-992C-7FE759DA78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A50AE7-272A-901C-B7D6-C57C07916B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A0C07-73D5-CEF5-F3E8-64CFE79028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03AED8-8615-0440-A3F1-8216071B9C94}" type="datetime1">
              <a:rPr lang="en-US" smtClean="0"/>
              <a:t>5/9/25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B5C421-FDFE-B7A1-CA38-D5E0952E2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61235-69AA-36CB-1823-5EA37E4A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07951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9C87EE6-12FF-66FB-615B-2DFD35C3A2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A58C08-0D7B-BDFC-B291-FD3B62D861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D34596-7578-7E40-C2F2-A2FED5A57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AFE1E-E4DF-494B-8930-16EDE6301790}" type="datetime1">
              <a:rPr lang="en-US" smtClean="0"/>
              <a:t>5/9/25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0121AA-2659-090E-FDC2-CEA87C6299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D11634-EFAE-60E7-DBC4-49B145D52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99891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0512C9-6397-4BA0-8BB2-34887490E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e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C4F1A-E4CE-FBA4-54DE-B576F497C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e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C5EB2C-BBD0-81C1-574B-666607B696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B7BDB9-0D79-AB45-B36F-A19A20961B58}" type="datetime1">
              <a:rPr lang="en-US" smtClean="0"/>
              <a:t>5/9/25</a:t>
            </a:fld>
            <a:endParaRPr lang="de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E6A5C-8DE1-3E0C-C493-6A36F384FE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08CE3D-5115-C700-52E9-E2DFCBDFE5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77BDE9-B9AA-4B6E-8236-46F44F092FC0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8098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4_C6EA72AB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18/10/relationships/comments" Target="../comments/modernComment_116_23AD0F04.xml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hyperlink" Target="https://arxiv.org/abs/2302.08224" TargetMode="External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07/s10732-017-9337-x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1A_AA4AF9FD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CA0874-4C9F-D81D-2EAA-E07BBB8998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57916" y="1000473"/>
            <a:ext cx="8076165" cy="2170217"/>
          </a:xfrm>
        </p:spPr>
        <p:txBody>
          <a:bodyPr>
            <a:normAutofit/>
          </a:bodyPr>
          <a:lstStyle/>
          <a:p>
            <a:r>
              <a:rPr lang="de-DE" sz="4000" dirty="0" err="1">
                <a:latin typeface="+mn-lt"/>
              </a:rPr>
              <a:t>Denoising</a:t>
            </a:r>
            <a:r>
              <a:rPr lang="de-DE" sz="4000" dirty="0">
                <a:latin typeface="+mn-lt"/>
              </a:rPr>
              <a:t> Diffusion-</a:t>
            </a:r>
            <a:r>
              <a:rPr lang="de-DE" sz="4000" dirty="0" err="1">
                <a:latin typeface="+mn-lt"/>
              </a:rPr>
              <a:t>Based</a:t>
            </a:r>
            <a:r>
              <a:rPr lang="de-DE" sz="4000" dirty="0">
                <a:latin typeface="+mn-lt"/>
              </a:rPr>
              <a:t> </a:t>
            </a:r>
            <a:r>
              <a:rPr lang="de-DE" sz="4000" dirty="0" err="1">
                <a:latin typeface="+mn-lt"/>
              </a:rPr>
              <a:t>Evolutionary</a:t>
            </a:r>
            <a:r>
              <a:rPr lang="de-DE" sz="4000" dirty="0">
                <a:latin typeface="+mn-lt"/>
              </a:rPr>
              <a:t> </a:t>
            </a:r>
            <a:r>
              <a:rPr lang="de-DE" sz="4000" dirty="0" err="1">
                <a:latin typeface="+mn-lt"/>
              </a:rPr>
              <a:t>Algorithms</a:t>
            </a:r>
            <a:endParaRPr lang="de-DE" sz="40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6C2AA-42CA-54E1-79BB-12DE5ADA5E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87284" y="4022315"/>
            <a:ext cx="4217428" cy="929898"/>
          </a:xfrm>
        </p:spPr>
        <p:txBody>
          <a:bodyPr>
            <a:normAutofit/>
          </a:bodyPr>
          <a:lstStyle/>
          <a:p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Supervisor: Günther </a:t>
            </a:r>
            <a:r>
              <a:rPr lang="de-DE" dirty="0" err="1">
                <a:solidFill>
                  <a:schemeClr val="accent5">
                    <a:lumMod val="75000"/>
                  </a:schemeClr>
                </a:solidFill>
              </a:rPr>
              <a:t>Raidl</a:t>
            </a:r>
            <a:r>
              <a:rPr lang="de-DE" dirty="0">
                <a:solidFill>
                  <a:schemeClr val="accent5">
                    <a:lumMod val="75000"/>
                  </a:schemeClr>
                </a:solidFill>
              </a:rPr>
              <a:t> 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CCD31E3-9E2F-01B8-1CDD-1EA4C22D2E17}"/>
              </a:ext>
            </a:extLst>
          </p:cNvPr>
          <p:cNvSpPr txBox="1">
            <a:spLocks/>
          </p:cNvSpPr>
          <p:nvPr/>
        </p:nvSpPr>
        <p:spPr>
          <a:xfrm>
            <a:off x="4043170" y="4496482"/>
            <a:ext cx="4105660" cy="11628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b="1" dirty="0"/>
              <a:t>Joan </a:t>
            </a:r>
            <a:r>
              <a:rPr lang="de-DE" b="1" dirty="0" err="1"/>
              <a:t>Salvà</a:t>
            </a:r>
            <a:r>
              <a:rPr lang="de-DE" b="1" dirty="0"/>
              <a:t> Soler – 12223411</a:t>
            </a:r>
          </a:p>
          <a:p>
            <a:r>
              <a:rPr lang="de-DE" dirty="0"/>
              <a:t>Master Thesis Defense</a:t>
            </a:r>
          </a:p>
          <a:p>
            <a:endParaRPr lang="de-DE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5B21F8F-C6D3-C739-81B9-31025D2F3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75" b="32309"/>
          <a:stretch/>
        </p:blipFill>
        <p:spPr bwMode="auto">
          <a:xfrm>
            <a:off x="7948640" y="5892164"/>
            <a:ext cx="4018085" cy="71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Research">
            <a:extLst>
              <a:ext uri="{FF2B5EF4-FFF2-40B4-BE49-F238E27FC236}">
                <a16:creationId xmlns:a16="http://schemas.microsoft.com/office/drawing/2014/main" id="{C29002B2-C75D-F26C-C554-9E8CA72742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37" y="5849796"/>
            <a:ext cx="2771313" cy="75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14BDDD-2A67-4F00-7B4A-3A1108E1E4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08503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ML for Combinatorial Optimization (CO)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592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CO -&gt; find an optimal solution from a discrete set (e.g., routes, schedules, assignments)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Solution methods</a:t>
            </a:r>
            <a:endParaRPr lang="en-AT" sz="1600" dirty="0"/>
          </a:p>
          <a:p>
            <a:pPr lvl="1">
              <a:lnSpc>
                <a:spcPct val="150000"/>
              </a:lnSpc>
            </a:pPr>
            <a:r>
              <a:rPr lang="en-AT" sz="1800" dirty="0"/>
              <a:t>Exact -&gt; Mathematical Programming, Constraint Programming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Heuristic -&gt; Greedy Heuristics, Local Search procedures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Metaheuristic -&gt; e.g. Evolutionary Algorithms (EA)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Machine Learning</a:t>
            </a:r>
          </a:p>
          <a:p>
            <a:pPr lvl="2">
              <a:lnSpc>
                <a:spcPct val="150000"/>
              </a:lnSpc>
            </a:pPr>
            <a:r>
              <a:rPr lang="en-AT" sz="1700" dirty="0"/>
              <a:t>Supervised, Unsupervised, Reinforcement Learning approaches</a:t>
            </a:r>
          </a:p>
          <a:p>
            <a:pPr lvl="2">
              <a:lnSpc>
                <a:spcPct val="150000"/>
              </a:lnSpc>
            </a:pPr>
            <a:r>
              <a:rPr lang="en-AT" sz="1700" dirty="0"/>
              <a:t>End-to-end learning, Learning configurations, ML for algorithmic decision-making…</a:t>
            </a:r>
          </a:p>
          <a:p>
            <a:pPr lvl="2">
              <a:lnSpc>
                <a:spcPct val="150000"/>
              </a:lnSpc>
            </a:pPr>
            <a:endParaRPr lang="en-AT" sz="12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193A1A0-3B35-50AD-394B-360F4D87D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372535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Denoising Diffusion Models for CO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8075427" cy="5032376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Denoising Diffusion Models, a new generative modeling appraoch for CO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Graph Neural Networks (GNN) are a foundational architecture in ML for CO -&gt; embedded within DDMs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DIFUSCO</a:t>
            </a:r>
            <a:r>
              <a:rPr lang="en-AT" sz="2000" baseline="30000" dirty="0"/>
              <a:t>[a]</a:t>
            </a:r>
            <a:r>
              <a:rPr lang="en-AT" sz="2000" dirty="0"/>
              <a:t>: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Use a Denoising Diffusion Model (GNN backbone) to denoise a random graph into a solution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Multi-modality -&gt; multi-sampling leads to distinct solutions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Train in supervised manner using solver-generated labels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Parallel generation of solutions thanks to GPU acceleration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E2044F-A6A6-BEF0-2E74-2CE92EB44686}"/>
              </a:ext>
            </a:extLst>
          </p:cNvPr>
          <p:cNvSpPr txBox="1"/>
          <p:nvPr/>
        </p:nvSpPr>
        <p:spPr>
          <a:xfrm>
            <a:off x="154546" y="6411042"/>
            <a:ext cx="90073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[a] Sun, Z., &amp; Yang, Y. (2023), </a:t>
            </a:r>
            <a:r>
              <a:rPr lang="en-GB" sz="1600" i="1" dirty="0" err="1"/>
              <a:t>NeurIPS</a:t>
            </a:r>
            <a:r>
              <a:rPr lang="en-GB" sz="1600" dirty="0"/>
              <a:t>, </a:t>
            </a:r>
            <a:r>
              <a:rPr lang="en-GB" sz="1600" dirty="0">
                <a:hlinkClick r:id="rId4"/>
              </a:rPr>
              <a:t>https://arxiv.org/abs/2302.08224</a:t>
            </a:r>
            <a:endParaRPr lang="en-GB" sz="16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A28EA6F-28E9-73B0-6695-9CAB2767EA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50794" y="1703815"/>
            <a:ext cx="1472395" cy="112709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E59F51-F1C9-22B2-C4A5-EB9662DF22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350794" y="2912255"/>
            <a:ext cx="1472395" cy="111086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1C64311-243D-684A-9E1B-581A9B346E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50795" y="4111294"/>
            <a:ext cx="1472395" cy="110264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4B9C66C-DC56-0CCF-9C7E-883C32C21D5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0795" y="5325518"/>
            <a:ext cx="1488903" cy="11381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1752206-5B9D-8044-FF62-25653CC8E9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16193" y="1703815"/>
            <a:ext cx="1116853" cy="112709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22DEA6B-F770-008D-9BD7-7FC2A9BCB4F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041655" y="2893749"/>
            <a:ext cx="1116759" cy="11270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81F452C-62C1-6CFA-6ABA-16B36C2139CC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016193" y="4097248"/>
            <a:ext cx="1141125" cy="116225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FE9DE0B-9AB3-A0A6-BCC2-BCB6C014CCC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023726" y="5317608"/>
            <a:ext cx="1135579" cy="1146094"/>
          </a:xfrm>
          <a:prstGeom prst="rect">
            <a:avLst/>
          </a:prstGeom>
        </p:spPr>
      </p:pic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1D0131FD-D38B-0E3C-3DA5-525D0E55E9B7}"/>
              </a:ext>
            </a:extLst>
          </p:cNvPr>
          <p:cNvCxnSpPr>
            <a:cxnSpLocks/>
          </p:cNvCxnSpPr>
          <p:nvPr/>
        </p:nvCxnSpPr>
        <p:spPr>
          <a:xfrm>
            <a:off x="11113885" y="2689406"/>
            <a:ext cx="0" cy="28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7AC67F50-CF9E-4F6B-6904-69BFB09BC941}"/>
              </a:ext>
            </a:extLst>
          </p:cNvPr>
          <p:cNvCxnSpPr>
            <a:cxnSpLocks/>
          </p:cNvCxnSpPr>
          <p:nvPr/>
        </p:nvCxnSpPr>
        <p:spPr>
          <a:xfrm>
            <a:off x="11113885" y="3922300"/>
            <a:ext cx="0" cy="28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2674CDFD-1187-EE7B-C5D7-8F4850D8CD36}"/>
              </a:ext>
            </a:extLst>
          </p:cNvPr>
          <p:cNvCxnSpPr>
            <a:cxnSpLocks/>
          </p:cNvCxnSpPr>
          <p:nvPr/>
        </p:nvCxnSpPr>
        <p:spPr>
          <a:xfrm>
            <a:off x="11127580" y="5130822"/>
            <a:ext cx="0" cy="2830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7EA1258-92BC-B910-D71D-1E5CFFA7C126}"/>
              </a:ext>
            </a:extLst>
          </p:cNvPr>
          <p:cNvCxnSpPr>
            <a:cxnSpLocks/>
          </p:cNvCxnSpPr>
          <p:nvPr/>
        </p:nvCxnSpPr>
        <p:spPr>
          <a:xfrm>
            <a:off x="9625744" y="2732379"/>
            <a:ext cx="0" cy="283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FBDA32A4-C37A-8484-4733-3654F1570973}"/>
              </a:ext>
            </a:extLst>
          </p:cNvPr>
          <p:cNvCxnSpPr>
            <a:cxnSpLocks/>
          </p:cNvCxnSpPr>
          <p:nvPr/>
        </p:nvCxnSpPr>
        <p:spPr>
          <a:xfrm>
            <a:off x="9625744" y="3965273"/>
            <a:ext cx="0" cy="283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D7D9A55-6705-B505-31A4-242913771CB5}"/>
              </a:ext>
            </a:extLst>
          </p:cNvPr>
          <p:cNvCxnSpPr>
            <a:cxnSpLocks/>
          </p:cNvCxnSpPr>
          <p:nvPr/>
        </p:nvCxnSpPr>
        <p:spPr>
          <a:xfrm>
            <a:off x="9639439" y="5173795"/>
            <a:ext cx="0" cy="28301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96A40244-7DB5-4C32-C55F-847DFAB405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985441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Focus Problem: Maximum Independent Set (MISP)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459265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Definition: Find a largest set of non-adjacent nodes in a graph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A good benchmark: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Common in ML for CO literature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Simple definition, but NP-hard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KaMIS</a:t>
            </a:r>
            <a:r>
              <a:rPr lang="en-AT" sz="2000" baseline="30000" dirty="0"/>
              <a:t>[b]</a:t>
            </a:r>
            <a:r>
              <a:rPr lang="en-AT" sz="2000" b="1" dirty="0"/>
              <a:t> </a:t>
            </a:r>
            <a:r>
              <a:rPr lang="en-AT" sz="2000" dirty="0"/>
              <a:t>is the state of the art solver: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C++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Combines exact methods with heuristics, no ML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1032" name="Picture 8">
            <a:extLst>
              <a:ext uri="{FF2B5EF4-FFF2-40B4-BE49-F238E27FC236}">
                <a16:creationId xmlns:a16="http://schemas.microsoft.com/office/drawing/2014/main" id="{8841424F-5104-D979-8D5C-14F7845F16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4650" y="2740806"/>
            <a:ext cx="4000500" cy="2628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64A8DA5-1241-B248-BFCE-187669012990}"/>
              </a:ext>
            </a:extLst>
          </p:cNvPr>
          <p:cNvSpPr txBox="1"/>
          <p:nvPr/>
        </p:nvSpPr>
        <p:spPr>
          <a:xfrm>
            <a:off x="154545" y="6411042"/>
            <a:ext cx="119258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[b] </a:t>
            </a:r>
            <a:r>
              <a:rPr lang="en-GB" sz="1600" dirty="0" err="1"/>
              <a:t>Lamm</a:t>
            </a:r>
            <a:r>
              <a:rPr lang="en-GB" sz="1600" dirty="0"/>
              <a:t> et al. (2017), </a:t>
            </a:r>
            <a:r>
              <a:rPr lang="en-GB" sz="1600" i="1" dirty="0"/>
              <a:t>J. Heuristics</a:t>
            </a:r>
            <a:r>
              <a:rPr lang="en-GB" sz="1600" dirty="0"/>
              <a:t>, </a:t>
            </a:r>
            <a:r>
              <a:rPr lang="en-GB" sz="1600" dirty="0">
                <a:hlinkClick r:id="rId4"/>
              </a:rPr>
              <a:t>https://doi.org/10.1007/s10732-017-9337-x</a:t>
            </a:r>
            <a:endParaRPr lang="en-GB" sz="160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26C26-48CC-0A95-F604-0C9E1BAB8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259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Problem Statement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274710" cy="441294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Limitations of DIFUSCO: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Need post-processing heuristics for feasibility / quality (often problem-dependent)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Lack general search methods to complement its strong multi-modal generative power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Goal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Combine strong multi-modal generative power of Diffusion Models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With methods that effectively explore the solution space (Evolutionary Algorithms)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Leverage GPU computation for parallelization of population operators, promising a scalable approach for large instances</a:t>
            </a:r>
          </a:p>
          <a:p>
            <a:pPr lvl="1">
              <a:lnSpc>
                <a:spcPct val="150000"/>
              </a:lnSpc>
            </a:pPr>
            <a:endParaRPr lang="en-AT" sz="1800" dirty="0"/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9B85DC-17E2-6A8B-D4D9-0DF53AFE8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08470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Methodology: DDEA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6B036E5-FC18-666E-E8ED-3E1B7BCBB1E6}"/>
              </a:ext>
            </a:extLst>
          </p:cNvPr>
          <p:cNvGrpSpPr/>
          <p:nvPr/>
        </p:nvGrpSpPr>
        <p:grpSpPr>
          <a:xfrm>
            <a:off x="1520014" y="1690688"/>
            <a:ext cx="9148369" cy="4958350"/>
            <a:chOff x="1525854" y="895950"/>
            <a:chExt cx="9148369" cy="4958350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D40C8B08-7E9C-C236-7811-26C6EAF3344C}"/>
                </a:ext>
              </a:extLst>
            </p:cNvPr>
            <p:cNvSpPr>
              <a:spLocks/>
            </p:cNvSpPr>
            <p:nvPr/>
          </p:nvSpPr>
          <p:spPr>
            <a:xfrm>
              <a:off x="1525854" y="895950"/>
              <a:ext cx="2748501" cy="4506534"/>
            </a:xfrm>
            <a:prstGeom prst="round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 dirty="0"/>
            </a:p>
          </p:txBody>
        </p:sp>
        <p:sp>
          <p:nvSpPr>
            <p:cNvPr id="9" name="Down Arrow 8">
              <a:extLst>
                <a:ext uri="{FF2B5EF4-FFF2-40B4-BE49-F238E27FC236}">
                  <a16:creationId xmlns:a16="http://schemas.microsoft.com/office/drawing/2014/main" id="{78603B95-6D4D-B25D-C47E-4E4F2E8765D1}"/>
                </a:ext>
              </a:extLst>
            </p:cNvPr>
            <p:cNvSpPr/>
            <p:nvPr/>
          </p:nvSpPr>
          <p:spPr>
            <a:xfrm>
              <a:off x="2241793" y="2064405"/>
              <a:ext cx="349480" cy="616751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788CDA8-218E-846E-0F5B-2073C2FC278A}"/>
                </a:ext>
              </a:extLst>
            </p:cNvPr>
            <p:cNvSpPr txBox="1"/>
            <p:nvPr/>
          </p:nvSpPr>
          <p:spPr>
            <a:xfrm>
              <a:off x="1632363" y="5470672"/>
              <a:ext cx="2535482" cy="3693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T" sz="1800" dirty="0">
                  <a:latin typeface="Arial" panose="020B0604020202020204" pitchFamily="34" charset="0"/>
                  <a:cs typeface="Arial" panose="020B0604020202020204" pitchFamily="34" charset="0"/>
                </a:rPr>
                <a:t>Evolutionary Algorithm</a:t>
              </a:r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74CCAE9C-C18A-919D-D7EE-1A74675F40BC}"/>
                </a:ext>
              </a:extLst>
            </p:cNvPr>
            <p:cNvGrpSpPr/>
            <p:nvPr/>
          </p:nvGrpSpPr>
          <p:grpSpPr>
            <a:xfrm>
              <a:off x="1916205" y="1235220"/>
              <a:ext cx="991727" cy="928606"/>
              <a:chOff x="6003448" y="2175042"/>
              <a:chExt cx="991727" cy="928606"/>
            </a:xfrm>
          </p:grpSpPr>
          <p:sp>
            <p:nvSpPr>
              <p:cNvPr id="283" name="Rectangle 282">
                <a:extLst>
                  <a:ext uri="{FF2B5EF4-FFF2-40B4-BE49-F238E27FC236}">
                    <a16:creationId xmlns:a16="http://schemas.microsoft.com/office/drawing/2014/main" id="{20F66596-2CE0-E4DD-9F0A-EF769CCDE17F}"/>
                  </a:ext>
                </a:extLst>
              </p:cNvPr>
              <p:cNvSpPr/>
              <p:nvPr/>
            </p:nvSpPr>
            <p:spPr>
              <a:xfrm>
                <a:off x="6201114" y="2175042"/>
                <a:ext cx="635430" cy="61993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4" name="Oval 283">
                <a:extLst>
                  <a:ext uri="{FF2B5EF4-FFF2-40B4-BE49-F238E27FC236}">
                    <a16:creationId xmlns:a16="http://schemas.microsoft.com/office/drawing/2014/main" id="{BF5C8CB5-6E26-37AF-3CEC-7A2152E5594A}"/>
                  </a:ext>
                </a:extLst>
              </p:cNvPr>
              <p:cNvSpPr/>
              <p:nvPr/>
            </p:nvSpPr>
            <p:spPr>
              <a:xfrm>
                <a:off x="6286998" y="2216852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5" name="Oval 284">
                <a:extLst>
                  <a:ext uri="{FF2B5EF4-FFF2-40B4-BE49-F238E27FC236}">
                    <a16:creationId xmlns:a16="http://schemas.microsoft.com/office/drawing/2014/main" id="{1B281061-5622-6465-FCFF-6393CF34A1EB}"/>
                  </a:ext>
                </a:extLst>
              </p:cNvPr>
              <p:cNvSpPr/>
              <p:nvPr/>
            </p:nvSpPr>
            <p:spPr>
              <a:xfrm>
                <a:off x="6663478" y="224799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6" name="Oval 285">
                <a:extLst>
                  <a:ext uri="{FF2B5EF4-FFF2-40B4-BE49-F238E27FC236}">
                    <a16:creationId xmlns:a16="http://schemas.microsoft.com/office/drawing/2014/main" id="{C89FFA3F-1D41-2907-B3DD-83A8774A19FB}"/>
                  </a:ext>
                </a:extLst>
              </p:cNvPr>
              <p:cNvSpPr/>
              <p:nvPr/>
            </p:nvSpPr>
            <p:spPr>
              <a:xfrm>
                <a:off x="6736593" y="250005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7" name="Oval 286">
                <a:extLst>
                  <a:ext uri="{FF2B5EF4-FFF2-40B4-BE49-F238E27FC236}">
                    <a16:creationId xmlns:a16="http://schemas.microsoft.com/office/drawing/2014/main" id="{318EC7DC-D2CB-24BE-AC0B-4D0DA50EC2F6}"/>
                  </a:ext>
                </a:extLst>
              </p:cNvPr>
              <p:cNvSpPr/>
              <p:nvPr/>
            </p:nvSpPr>
            <p:spPr>
              <a:xfrm>
                <a:off x="6562703" y="264561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8" name="Oval 287">
                <a:extLst>
                  <a:ext uri="{FF2B5EF4-FFF2-40B4-BE49-F238E27FC236}">
                    <a16:creationId xmlns:a16="http://schemas.microsoft.com/office/drawing/2014/main" id="{D6A7FAEF-C827-1AE5-243E-CA639451A094}"/>
                  </a:ext>
                </a:extLst>
              </p:cNvPr>
              <p:cNvSpPr/>
              <p:nvPr/>
            </p:nvSpPr>
            <p:spPr>
              <a:xfrm>
                <a:off x="6453935" y="2440759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89" name="Oval 288">
                <a:extLst>
                  <a:ext uri="{FF2B5EF4-FFF2-40B4-BE49-F238E27FC236}">
                    <a16:creationId xmlns:a16="http://schemas.microsoft.com/office/drawing/2014/main" id="{E6543923-0323-1A78-3969-B73CE945D186}"/>
                  </a:ext>
                </a:extLst>
              </p:cNvPr>
              <p:cNvSpPr/>
              <p:nvPr/>
            </p:nvSpPr>
            <p:spPr>
              <a:xfrm>
                <a:off x="6244054" y="2696874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90" name="Straight Connector 289">
                <a:extLst>
                  <a:ext uri="{FF2B5EF4-FFF2-40B4-BE49-F238E27FC236}">
                    <a16:creationId xmlns:a16="http://schemas.microsoft.com/office/drawing/2014/main" id="{2073E858-05F7-3055-6451-2C088677DC40}"/>
                  </a:ext>
                </a:extLst>
              </p:cNvPr>
              <p:cNvCxnSpPr>
                <a:cxnSpLocks/>
                <a:endCxn id="285" idx="2"/>
              </p:cNvCxnSpPr>
              <p:nvPr/>
            </p:nvCxnSpPr>
            <p:spPr>
              <a:xfrm>
                <a:off x="6344792" y="2247996"/>
                <a:ext cx="318686" cy="2700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1" name="Straight Connector 290">
                <a:extLst>
                  <a:ext uri="{FF2B5EF4-FFF2-40B4-BE49-F238E27FC236}">
                    <a16:creationId xmlns:a16="http://schemas.microsoft.com/office/drawing/2014/main" id="{378B1439-DED3-9EE3-9989-C0DFA6736FC6}"/>
                  </a:ext>
                </a:extLst>
              </p:cNvPr>
              <p:cNvCxnSpPr>
                <a:cxnSpLocks/>
                <a:stCxn id="284" idx="5"/>
                <a:endCxn id="288" idx="1"/>
              </p:cNvCxnSpPr>
              <p:nvPr/>
            </p:nvCxnSpPr>
            <p:spPr>
              <a:xfrm>
                <a:off x="6333090" y="2262944"/>
                <a:ext cx="128753" cy="185723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2" name="Straight Connector 291">
                <a:extLst>
                  <a:ext uri="{FF2B5EF4-FFF2-40B4-BE49-F238E27FC236}">
                    <a16:creationId xmlns:a16="http://schemas.microsoft.com/office/drawing/2014/main" id="{F3DE47FB-4DB8-026A-663D-4FE9AF56AB7B}"/>
                  </a:ext>
                </a:extLst>
              </p:cNvPr>
              <p:cNvCxnSpPr>
                <a:cxnSpLocks/>
                <a:stCxn id="285" idx="5"/>
                <a:endCxn id="286" idx="0"/>
              </p:cNvCxnSpPr>
              <p:nvPr/>
            </p:nvCxnSpPr>
            <p:spPr>
              <a:xfrm>
                <a:off x="6709570" y="2294088"/>
                <a:ext cx="54023" cy="205968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3" name="Straight Connector 292">
                <a:extLst>
                  <a:ext uri="{FF2B5EF4-FFF2-40B4-BE49-F238E27FC236}">
                    <a16:creationId xmlns:a16="http://schemas.microsoft.com/office/drawing/2014/main" id="{983DAD9F-2C34-0F7B-8F7F-9B973BA9171F}"/>
                  </a:ext>
                </a:extLst>
              </p:cNvPr>
              <p:cNvCxnSpPr>
                <a:cxnSpLocks/>
                <a:stCxn id="286" idx="3"/>
                <a:endCxn id="287" idx="7"/>
              </p:cNvCxnSpPr>
              <p:nvPr/>
            </p:nvCxnSpPr>
            <p:spPr>
              <a:xfrm flipH="1">
                <a:off x="6608795" y="2546148"/>
                <a:ext cx="135706" cy="107377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4" name="Straight Connector 293">
                <a:extLst>
                  <a:ext uri="{FF2B5EF4-FFF2-40B4-BE49-F238E27FC236}">
                    <a16:creationId xmlns:a16="http://schemas.microsoft.com/office/drawing/2014/main" id="{C9AE6443-BCD7-BF5C-C0B2-D8ED24AA35DC}"/>
                  </a:ext>
                </a:extLst>
              </p:cNvPr>
              <p:cNvCxnSpPr>
                <a:cxnSpLocks/>
                <a:stCxn id="287" idx="2"/>
                <a:endCxn id="289" idx="6"/>
              </p:cNvCxnSpPr>
              <p:nvPr/>
            </p:nvCxnSpPr>
            <p:spPr>
              <a:xfrm flipH="1">
                <a:off x="6298054" y="2672617"/>
                <a:ext cx="264649" cy="51257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5" name="Straight Connector 294">
                <a:extLst>
                  <a:ext uri="{FF2B5EF4-FFF2-40B4-BE49-F238E27FC236}">
                    <a16:creationId xmlns:a16="http://schemas.microsoft.com/office/drawing/2014/main" id="{9694BF4B-7203-E103-53F5-9A6B0FF5C5BA}"/>
                  </a:ext>
                </a:extLst>
              </p:cNvPr>
              <p:cNvCxnSpPr>
                <a:cxnSpLocks/>
                <a:stCxn id="289" idx="0"/>
                <a:endCxn id="284" idx="4"/>
              </p:cNvCxnSpPr>
              <p:nvPr/>
            </p:nvCxnSpPr>
            <p:spPr>
              <a:xfrm flipV="1">
                <a:off x="6271054" y="2270852"/>
                <a:ext cx="42944" cy="426022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6" name="Straight Connector 295">
                <a:extLst>
                  <a:ext uri="{FF2B5EF4-FFF2-40B4-BE49-F238E27FC236}">
                    <a16:creationId xmlns:a16="http://schemas.microsoft.com/office/drawing/2014/main" id="{D5CEE788-746B-A265-CE08-C121E56B10C5}"/>
                  </a:ext>
                </a:extLst>
              </p:cNvPr>
              <p:cNvCxnSpPr>
                <a:cxnSpLocks/>
                <a:stCxn id="289" idx="7"/>
                <a:endCxn id="288" idx="3"/>
              </p:cNvCxnSpPr>
              <p:nvPr/>
            </p:nvCxnSpPr>
            <p:spPr>
              <a:xfrm flipV="1">
                <a:off x="6290146" y="2486851"/>
                <a:ext cx="171697" cy="217931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7" name="Straight Connector 296">
                <a:extLst>
                  <a:ext uri="{FF2B5EF4-FFF2-40B4-BE49-F238E27FC236}">
                    <a16:creationId xmlns:a16="http://schemas.microsoft.com/office/drawing/2014/main" id="{594AC47A-86D6-94F6-6564-85A60EEA2A9B}"/>
                  </a:ext>
                </a:extLst>
              </p:cNvPr>
              <p:cNvCxnSpPr>
                <a:cxnSpLocks/>
                <a:stCxn id="287" idx="1"/>
                <a:endCxn id="288" idx="5"/>
              </p:cNvCxnSpPr>
              <p:nvPr/>
            </p:nvCxnSpPr>
            <p:spPr>
              <a:xfrm flipH="1" flipV="1">
                <a:off x="6500027" y="2486851"/>
                <a:ext cx="70584" cy="166674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8" name="Straight Connector 297">
                <a:extLst>
                  <a:ext uri="{FF2B5EF4-FFF2-40B4-BE49-F238E27FC236}">
                    <a16:creationId xmlns:a16="http://schemas.microsoft.com/office/drawing/2014/main" id="{DC84B7B6-3CAE-BF0F-FEE0-27732529BBB7}"/>
                  </a:ext>
                </a:extLst>
              </p:cNvPr>
              <p:cNvCxnSpPr>
                <a:cxnSpLocks/>
                <a:stCxn id="288" idx="7"/>
                <a:endCxn id="285" idx="3"/>
              </p:cNvCxnSpPr>
              <p:nvPr/>
            </p:nvCxnSpPr>
            <p:spPr>
              <a:xfrm flipV="1">
                <a:off x="6500027" y="2294088"/>
                <a:ext cx="171359" cy="154579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9" name="Rectangle 298">
                <a:extLst>
                  <a:ext uri="{FF2B5EF4-FFF2-40B4-BE49-F238E27FC236}">
                    <a16:creationId xmlns:a16="http://schemas.microsoft.com/office/drawing/2014/main" id="{050AD472-4E34-B711-2E49-E646248E6A17}"/>
                  </a:ext>
                </a:extLst>
              </p:cNvPr>
              <p:cNvSpPr/>
              <p:nvPr/>
            </p:nvSpPr>
            <p:spPr>
              <a:xfrm>
                <a:off x="6087688" y="2936704"/>
                <a:ext cx="828000" cy="1669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300" name="TextBox 299">
                <a:extLst>
                  <a:ext uri="{FF2B5EF4-FFF2-40B4-BE49-F238E27FC236}">
                    <a16:creationId xmlns:a16="http://schemas.microsoft.com/office/drawing/2014/main" id="{2053E930-4328-0C38-5469-4AB2CBE6A634}"/>
                  </a:ext>
                </a:extLst>
              </p:cNvPr>
              <p:cNvSpPr txBox="1"/>
              <p:nvPr/>
            </p:nvSpPr>
            <p:spPr>
              <a:xfrm>
                <a:off x="6003448" y="2778484"/>
                <a:ext cx="991727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instance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9866155-DD3C-E38A-2867-1A0513DD6994}"/>
                </a:ext>
              </a:extLst>
            </p:cNvPr>
            <p:cNvGrpSpPr/>
            <p:nvPr/>
          </p:nvGrpSpPr>
          <p:grpSpPr>
            <a:xfrm>
              <a:off x="1993653" y="4500012"/>
              <a:ext cx="828001" cy="834274"/>
              <a:chOff x="7043267" y="3659123"/>
              <a:chExt cx="828001" cy="834274"/>
            </a:xfrm>
          </p:grpSpPr>
          <p:sp>
            <p:nvSpPr>
              <p:cNvPr id="266" name="Rectangle 265">
                <a:extLst>
                  <a:ext uri="{FF2B5EF4-FFF2-40B4-BE49-F238E27FC236}">
                    <a16:creationId xmlns:a16="http://schemas.microsoft.com/office/drawing/2014/main" id="{2596FF1A-A448-A25F-486A-170D12526421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67" name="Oval 266">
                <a:extLst>
                  <a:ext uri="{FF2B5EF4-FFF2-40B4-BE49-F238E27FC236}">
                    <a16:creationId xmlns:a16="http://schemas.microsoft.com/office/drawing/2014/main" id="{1B22BFBD-100F-2687-A708-438CC9196AD5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68" name="Oval 267">
                <a:extLst>
                  <a:ext uri="{FF2B5EF4-FFF2-40B4-BE49-F238E27FC236}">
                    <a16:creationId xmlns:a16="http://schemas.microsoft.com/office/drawing/2014/main" id="{82CEA72A-3CF4-0636-3C86-79C5B8CEB51E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69" name="Oval 268">
                <a:extLst>
                  <a:ext uri="{FF2B5EF4-FFF2-40B4-BE49-F238E27FC236}">
                    <a16:creationId xmlns:a16="http://schemas.microsoft.com/office/drawing/2014/main" id="{1BFCBF28-4068-774D-CBCB-62B644C5F95E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70" name="Oval 269">
                <a:extLst>
                  <a:ext uri="{FF2B5EF4-FFF2-40B4-BE49-F238E27FC236}">
                    <a16:creationId xmlns:a16="http://schemas.microsoft.com/office/drawing/2014/main" id="{3363730F-F0DE-AA2D-4833-E0F6A64D0CB9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71" name="Oval 270">
                <a:extLst>
                  <a:ext uri="{FF2B5EF4-FFF2-40B4-BE49-F238E27FC236}">
                    <a16:creationId xmlns:a16="http://schemas.microsoft.com/office/drawing/2014/main" id="{4A8A1DD7-4B2E-589F-6703-59DD76165FA5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  <p:sp>
            <p:nvSpPr>
              <p:cNvPr id="272" name="Oval 271">
                <a:extLst>
                  <a:ext uri="{FF2B5EF4-FFF2-40B4-BE49-F238E27FC236}">
                    <a16:creationId xmlns:a16="http://schemas.microsoft.com/office/drawing/2014/main" id="{77DE9291-7B99-23FC-4722-A202E78916FE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73" name="Straight Connector 272">
                <a:extLst>
                  <a:ext uri="{FF2B5EF4-FFF2-40B4-BE49-F238E27FC236}">
                    <a16:creationId xmlns:a16="http://schemas.microsoft.com/office/drawing/2014/main" id="{6E0C3AD8-5CFF-963E-788B-937EE7A2506F}"/>
                  </a:ext>
                </a:extLst>
              </p:cNvPr>
              <p:cNvCxnSpPr>
                <a:cxnSpLocks/>
                <a:endCxn id="268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4" name="Straight Connector 273">
                <a:extLst>
                  <a:ext uri="{FF2B5EF4-FFF2-40B4-BE49-F238E27FC236}">
                    <a16:creationId xmlns:a16="http://schemas.microsoft.com/office/drawing/2014/main" id="{3D805106-D291-4DBD-6F64-98B125AEB7E7}"/>
                  </a:ext>
                </a:extLst>
              </p:cNvPr>
              <p:cNvCxnSpPr>
                <a:cxnSpLocks/>
                <a:stCxn id="267" idx="5"/>
                <a:endCxn id="271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5" name="Straight Connector 274">
                <a:extLst>
                  <a:ext uri="{FF2B5EF4-FFF2-40B4-BE49-F238E27FC236}">
                    <a16:creationId xmlns:a16="http://schemas.microsoft.com/office/drawing/2014/main" id="{B29346C9-4323-1AC5-B661-2482B503F21C}"/>
                  </a:ext>
                </a:extLst>
              </p:cNvPr>
              <p:cNvCxnSpPr>
                <a:cxnSpLocks/>
                <a:stCxn id="268" idx="5"/>
                <a:endCxn id="269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6" name="Straight Connector 275">
                <a:extLst>
                  <a:ext uri="{FF2B5EF4-FFF2-40B4-BE49-F238E27FC236}">
                    <a16:creationId xmlns:a16="http://schemas.microsoft.com/office/drawing/2014/main" id="{0A2EA279-7A26-3FC4-2928-A3919A95BA47}"/>
                  </a:ext>
                </a:extLst>
              </p:cNvPr>
              <p:cNvCxnSpPr>
                <a:cxnSpLocks/>
                <a:stCxn id="269" idx="3"/>
                <a:endCxn id="270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7" name="Straight Connector 276">
                <a:extLst>
                  <a:ext uri="{FF2B5EF4-FFF2-40B4-BE49-F238E27FC236}">
                    <a16:creationId xmlns:a16="http://schemas.microsoft.com/office/drawing/2014/main" id="{7E0414CE-E1E3-054F-77BA-6A00512D7E72}"/>
                  </a:ext>
                </a:extLst>
              </p:cNvPr>
              <p:cNvCxnSpPr>
                <a:cxnSpLocks/>
                <a:stCxn id="270" idx="2"/>
                <a:endCxn id="272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8" name="Straight Connector 277">
                <a:extLst>
                  <a:ext uri="{FF2B5EF4-FFF2-40B4-BE49-F238E27FC236}">
                    <a16:creationId xmlns:a16="http://schemas.microsoft.com/office/drawing/2014/main" id="{34DFDF20-18E2-4789-C9DA-6D4AF095911F}"/>
                  </a:ext>
                </a:extLst>
              </p:cNvPr>
              <p:cNvCxnSpPr>
                <a:cxnSpLocks/>
                <a:stCxn id="272" idx="0"/>
                <a:endCxn id="267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9" name="Straight Connector 278">
                <a:extLst>
                  <a:ext uri="{FF2B5EF4-FFF2-40B4-BE49-F238E27FC236}">
                    <a16:creationId xmlns:a16="http://schemas.microsoft.com/office/drawing/2014/main" id="{D1A56DAC-1E12-EEC9-9142-37DAF60FF022}"/>
                  </a:ext>
                </a:extLst>
              </p:cNvPr>
              <p:cNvCxnSpPr>
                <a:cxnSpLocks/>
                <a:stCxn id="272" idx="7"/>
                <a:endCxn id="271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0" name="Straight Connector 279">
                <a:extLst>
                  <a:ext uri="{FF2B5EF4-FFF2-40B4-BE49-F238E27FC236}">
                    <a16:creationId xmlns:a16="http://schemas.microsoft.com/office/drawing/2014/main" id="{F0011CDD-4EFF-1E73-A801-5B5B67E96D45}"/>
                  </a:ext>
                </a:extLst>
              </p:cNvPr>
              <p:cNvCxnSpPr>
                <a:cxnSpLocks/>
                <a:stCxn id="270" idx="1"/>
                <a:endCxn id="271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1" name="Straight Connector 280">
                <a:extLst>
                  <a:ext uri="{FF2B5EF4-FFF2-40B4-BE49-F238E27FC236}">
                    <a16:creationId xmlns:a16="http://schemas.microsoft.com/office/drawing/2014/main" id="{E8810343-E0B0-77F0-349F-5A5CA14B24B3}"/>
                  </a:ext>
                </a:extLst>
              </p:cNvPr>
              <p:cNvCxnSpPr>
                <a:cxnSpLocks/>
                <a:stCxn id="271" idx="7"/>
                <a:endCxn id="268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82" name="TextBox 281">
                <a:extLst>
                  <a:ext uri="{FF2B5EF4-FFF2-40B4-BE49-F238E27FC236}">
                    <a16:creationId xmlns:a16="http://schemas.microsoft.com/office/drawing/2014/main" id="{34C71655-B4B2-1681-497C-C81DDCE0D672}"/>
                  </a:ext>
                </a:extLst>
              </p:cNvPr>
              <p:cNvSpPr txBox="1"/>
              <p:nvPr/>
            </p:nvSpPr>
            <p:spPr>
              <a:xfrm>
                <a:off x="7043267" y="4262565"/>
                <a:ext cx="828001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Solution</a:t>
                </a:r>
              </a:p>
            </p:txBody>
          </p:sp>
        </p:grpSp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EB52E4B9-4636-FD00-4419-2506CCFFC7A8}"/>
                </a:ext>
              </a:extLst>
            </p:cNvPr>
            <p:cNvSpPr/>
            <p:nvPr/>
          </p:nvSpPr>
          <p:spPr>
            <a:xfrm>
              <a:off x="2084841" y="2213263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Initialize</a:t>
              </a:r>
            </a:p>
          </p:txBody>
        </p:sp>
        <p:sp>
          <p:nvSpPr>
            <p:cNvPr id="14" name="Down Arrow 13">
              <a:extLst>
                <a:ext uri="{FF2B5EF4-FFF2-40B4-BE49-F238E27FC236}">
                  <a16:creationId xmlns:a16="http://schemas.microsoft.com/office/drawing/2014/main" id="{1E58F64B-CAE6-501B-ADC6-AC5592015DDB}"/>
                </a:ext>
              </a:extLst>
            </p:cNvPr>
            <p:cNvSpPr/>
            <p:nvPr/>
          </p:nvSpPr>
          <p:spPr>
            <a:xfrm rot="14901951">
              <a:off x="2436372" y="3011260"/>
              <a:ext cx="246701" cy="328517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5" name="Down Arrow 14">
              <a:extLst>
                <a:ext uri="{FF2B5EF4-FFF2-40B4-BE49-F238E27FC236}">
                  <a16:creationId xmlns:a16="http://schemas.microsoft.com/office/drawing/2014/main" id="{84DE4711-7C93-58C8-CA6F-2F1DD7427264}"/>
                </a:ext>
              </a:extLst>
            </p:cNvPr>
            <p:cNvSpPr/>
            <p:nvPr/>
          </p:nvSpPr>
          <p:spPr>
            <a:xfrm>
              <a:off x="3525443" y="2925337"/>
              <a:ext cx="246701" cy="424690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6" name="Down Arrow 15">
              <a:extLst>
                <a:ext uri="{FF2B5EF4-FFF2-40B4-BE49-F238E27FC236}">
                  <a16:creationId xmlns:a16="http://schemas.microsoft.com/office/drawing/2014/main" id="{99E77C9D-76C9-0255-4865-9B86CCBD2E23}"/>
                </a:ext>
              </a:extLst>
            </p:cNvPr>
            <p:cNvSpPr/>
            <p:nvPr/>
          </p:nvSpPr>
          <p:spPr>
            <a:xfrm>
              <a:off x="3525443" y="3373159"/>
              <a:ext cx="246701" cy="514800"/>
            </a:xfrm>
            <a:prstGeom prst="downArrow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7" name="Down Arrow 16">
              <a:extLst>
                <a:ext uri="{FF2B5EF4-FFF2-40B4-BE49-F238E27FC236}">
                  <a16:creationId xmlns:a16="http://schemas.microsoft.com/office/drawing/2014/main" id="{432C617C-1E01-38E4-9F48-B7C9DE6ECDEC}"/>
                </a:ext>
              </a:extLst>
            </p:cNvPr>
            <p:cNvSpPr/>
            <p:nvPr/>
          </p:nvSpPr>
          <p:spPr>
            <a:xfrm rot="6519061">
              <a:off x="2901362" y="3371809"/>
              <a:ext cx="246701" cy="700453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18" name="Rounded Rectangle 17">
              <a:extLst>
                <a:ext uri="{FF2B5EF4-FFF2-40B4-BE49-F238E27FC236}">
                  <a16:creationId xmlns:a16="http://schemas.microsoft.com/office/drawing/2014/main" id="{EE71AF26-7D76-453A-D54D-8D756A355461}"/>
                </a:ext>
              </a:extLst>
            </p:cNvPr>
            <p:cNvSpPr/>
            <p:nvPr/>
          </p:nvSpPr>
          <p:spPr>
            <a:xfrm>
              <a:off x="3314928" y="3765324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Mutate</a:t>
              </a:r>
            </a:p>
          </p:txBody>
        </p:sp>
        <p:sp>
          <p:nvSpPr>
            <p:cNvPr id="19" name="Down Arrow 18">
              <a:extLst>
                <a:ext uri="{FF2B5EF4-FFF2-40B4-BE49-F238E27FC236}">
                  <a16:creationId xmlns:a16="http://schemas.microsoft.com/office/drawing/2014/main" id="{F181F40B-A3EE-2EC6-B562-CEB26505B437}"/>
                </a:ext>
              </a:extLst>
            </p:cNvPr>
            <p:cNvSpPr/>
            <p:nvPr/>
          </p:nvSpPr>
          <p:spPr>
            <a:xfrm rot="14901951">
              <a:off x="2929898" y="2646261"/>
              <a:ext cx="246701" cy="679863"/>
            </a:xfrm>
            <a:prstGeom prst="downArrow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0" name="Rounded Rectangle 19">
              <a:extLst>
                <a:ext uri="{FF2B5EF4-FFF2-40B4-BE49-F238E27FC236}">
                  <a16:creationId xmlns:a16="http://schemas.microsoft.com/office/drawing/2014/main" id="{1F685287-46A2-A5C9-BDEF-FBC6AD5A372D}"/>
                </a:ext>
              </a:extLst>
            </p:cNvPr>
            <p:cNvSpPr/>
            <p:nvPr/>
          </p:nvSpPr>
          <p:spPr>
            <a:xfrm>
              <a:off x="3314928" y="2766577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Crossover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4AC7D4-9043-9C9C-1107-E9D8EE60B136}"/>
                </a:ext>
              </a:extLst>
            </p:cNvPr>
            <p:cNvSpPr/>
            <p:nvPr/>
          </p:nvSpPr>
          <p:spPr>
            <a:xfrm>
              <a:off x="1727200" y="2681156"/>
              <a:ext cx="2336800" cy="13736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AC037F9-4CD7-14F9-085E-4B0765ED834C}"/>
                </a:ext>
              </a:extLst>
            </p:cNvPr>
            <p:cNvSpPr txBox="1"/>
            <p:nvPr/>
          </p:nvSpPr>
          <p:spPr>
            <a:xfrm>
              <a:off x="2880577" y="2486548"/>
              <a:ext cx="1185807" cy="215444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algn="r"/>
              <a:r>
                <a:rPr lang="en-AT" sz="800" dirty="0">
                  <a:latin typeface="Arial" panose="020B0604020202020204" pitchFamily="34" charset="0"/>
                  <a:cs typeface="Arial" panose="020B0604020202020204" pitchFamily="34" charset="0"/>
                </a:rPr>
                <a:t>Repeat N generations</a:t>
              </a:r>
            </a:p>
          </p:txBody>
        </p:sp>
        <p:sp>
          <p:nvSpPr>
            <p:cNvPr id="23" name="Down Arrow 22">
              <a:extLst>
                <a:ext uri="{FF2B5EF4-FFF2-40B4-BE49-F238E27FC236}">
                  <a16:creationId xmlns:a16="http://schemas.microsoft.com/office/drawing/2014/main" id="{9B3851DB-053F-9CBA-14D6-E5D1F65158AF}"/>
                </a:ext>
              </a:extLst>
            </p:cNvPr>
            <p:cNvSpPr/>
            <p:nvPr/>
          </p:nvSpPr>
          <p:spPr>
            <a:xfrm>
              <a:off x="2283761" y="3181663"/>
              <a:ext cx="278510" cy="403227"/>
            </a:xfrm>
            <a:prstGeom prst="downArrow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4" name="Down Arrow 23">
              <a:extLst>
                <a:ext uri="{FF2B5EF4-FFF2-40B4-BE49-F238E27FC236}">
                  <a16:creationId xmlns:a16="http://schemas.microsoft.com/office/drawing/2014/main" id="{384CC637-217F-0D49-A612-1AEA5A98CFD9}"/>
                </a:ext>
              </a:extLst>
            </p:cNvPr>
            <p:cNvSpPr/>
            <p:nvPr/>
          </p:nvSpPr>
          <p:spPr>
            <a:xfrm>
              <a:off x="2241793" y="4062194"/>
              <a:ext cx="349480" cy="403227"/>
            </a:xfrm>
            <a:prstGeom prst="downArrow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5" name="Rounded Rectangle 24">
              <a:extLst>
                <a:ext uri="{FF2B5EF4-FFF2-40B4-BE49-F238E27FC236}">
                  <a16:creationId xmlns:a16="http://schemas.microsoft.com/office/drawing/2014/main" id="{748B214A-98D3-4DD1-ACA0-980BC7591469}"/>
                </a:ext>
              </a:extLst>
            </p:cNvPr>
            <p:cNvSpPr/>
            <p:nvPr/>
          </p:nvSpPr>
          <p:spPr>
            <a:xfrm>
              <a:off x="1832824" y="3124774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26" name="Down Arrow 25">
              <a:extLst>
                <a:ext uri="{FF2B5EF4-FFF2-40B4-BE49-F238E27FC236}">
                  <a16:creationId xmlns:a16="http://schemas.microsoft.com/office/drawing/2014/main" id="{86A78A0B-22A1-72B7-BB37-2E1F5A9523A6}"/>
                </a:ext>
              </a:extLst>
            </p:cNvPr>
            <p:cNvSpPr/>
            <p:nvPr/>
          </p:nvSpPr>
          <p:spPr>
            <a:xfrm>
              <a:off x="2283242" y="2688586"/>
              <a:ext cx="271712" cy="435112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7" name="Down Arrow 26">
              <a:extLst>
                <a:ext uri="{FF2B5EF4-FFF2-40B4-BE49-F238E27FC236}">
                  <a16:creationId xmlns:a16="http://schemas.microsoft.com/office/drawing/2014/main" id="{01C9955C-2FDC-65F2-DA8E-07777FBC6C3D}"/>
                </a:ext>
              </a:extLst>
            </p:cNvPr>
            <p:cNvSpPr/>
            <p:nvPr/>
          </p:nvSpPr>
          <p:spPr>
            <a:xfrm>
              <a:off x="2271798" y="3566738"/>
              <a:ext cx="271712" cy="475213"/>
            </a:xfrm>
            <a:prstGeom prst="downArrow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8" name="Down Arrow 27">
              <a:extLst>
                <a:ext uri="{FF2B5EF4-FFF2-40B4-BE49-F238E27FC236}">
                  <a16:creationId xmlns:a16="http://schemas.microsoft.com/office/drawing/2014/main" id="{F6025F9B-4C6E-C6BA-3CC2-B24CFF929C90}"/>
                </a:ext>
              </a:extLst>
            </p:cNvPr>
            <p:cNvSpPr/>
            <p:nvPr/>
          </p:nvSpPr>
          <p:spPr>
            <a:xfrm rot="6519061">
              <a:off x="2442462" y="3463128"/>
              <a:ext cx="246701" cy="209421"/>
            </a:xfrm>
            <a:prstGeom prst="downArrow">
              <a:avLst>
                <a:gd name="adj1" fmla="val 50000"/>
                <a:gd name="adj2" fmla="val 0"/>
              </a:avLst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29" name="Rounded Rectangle 28">
              <a:extLst>
                <a:ext uri="{FF2B5EF4-FFF2-40B4-BE49-F238E27FC236}">
                  <a16:creationId xmlns:a16="http://schemas.microsoft.com/office/drawing/2014/main" id="{5DC90582-FDC1-FF4B-C087-D51008F911D7}"/>
                </a:ext>
              </a:extLst>
            </p:cNvPr>
            <p:cNvSpPr/>
            <p:nvPr/>
          </p:nvSpPr>
          <p:spPr>
            <a:xfrm>
              <a:off x="1831383" y="3422808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solidFill>
                <a:srgbClr val="4472C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Replace</a:t>
              </a:r>
            </a:p>
          </p:txBody>
        </p:sp>
        <p:sp>
          <p:nvSpPr>
            <p:cNvPr id="30" name="Rounded Rectangle 29">
              <a:extLst>
                <a:ext uri="{FF2B5EF4-FFF2-40B4-BE49-F238E27FC236}">
                  <a16:creationId xmlns:a16="http://schemas.microsoft.com/office/drawing/2014/main" id="{ABD11BF7-4B00-41C8-AB19-161CCBF662F6}"/>
                </a:ext>
              </a:extLst>
            </p:cNvPr>
            <p:cNvSpPr>
              <a:spLocks/>
            </p:cNvSpPr>
            <p:nvPr/>
          </p:nvSpPr>
          <p:spPr>
            <a:xfrm>
              <a:off x="4506687" y="895950"/>
              <a:ext cx="6167536" cy="4506534"/>
            </a:xfrm>
            <a:prstGeom prst="roundRect">
              <a:avLst>
                <a:gd name="adj" fmla="val 10248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 dirty="0"/>
            </a:p>
          </p:txBody>
        </p:sp>
        <p:sp>
          <p:nvSpPr>
            <p:cNvPr id="31" name="Down Arrow 30">
              <a:extLst>
                <a:ext uri="{FF2B5EF4-FFF2-40B4-BE49-F238E27FC236}">
                  <a16:creationId xmlns:a16="http://schemas.microsoft.com/office/drawing/2014/main" id="{4E3AD130-3E2A-10FB-D5ED-E4DFC15F754C}"/>
                </a:ext>
              </a:extLst>
            </p:cNvPr>
            <p:cNvSpPr/>
            <p:nvPr/>
          </p:nvSpPr>
          <p:spPr>
            <a:xfrm>
              <a:off x="5230148" y="2064405"/>
              <a:ext cx="349480" cy="616751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4D961A3-5B93-7F5A-1180-16804FD82789}"/>
                </a:ext>
              </a:extLst>
            </p:cNvPr>
            <p:cNvSpPr txBox="1"/>
            <p:nvPr/>
          </p:nvSpPr>
          <p:spPr>
            <a:xfrm>
              <a:off x="6322714" y="5484992"/>
              <a:ext cx="2535482" cy="36930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AT" sz="1800" dirty="0">
                  <a:latin typeface="Arial" panose="020B0604020202020204" pitchFamily="34" charset="0"/>
                  <a:cs typeface="Arial" panose="020B0604020202020204" pitchFamily="34" charset="0"/>
                </a:rPr>
                <a:t>DDEA</a:t>
              </a:r>
            </a:p>
          </p:txBody>
        </p: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7335D402-583E-69CE-60E9-FCE80982991B}"/>
                </a:ext>
              </a:extLst>
            </p:cNvPr>
            <p:cNvGrpSpPr/>
            <p:nvPr/>
          </p:nvGrpSpPr>
          <p:grpSpPr>
            <a:xfrm>
              <a:off x="4921154" y="1235220"/>
              <a:ext cx="997495" cy="928606"/>
              <a:chOff x="6020042" y="2175042"/>
              <a:chExt cx="997495" cy="928606"/>
            </a:xfrm>
          </p:grpSpPr>
          <p:sp>
            <p:nvSpPr>
              <p:cNvPr id="248" name="Rectangle 247">
                <a:extLst>
                  <a:ext uri="{FF2B5EF4-FFF2-40B4-BE49-F238E27FC236}">
                    <a16:creationId xmlns:a16="http://schemas.microsoft.com/office/drawing/2014/main" id="{6E26C5EC-338C-21F0-F6DA-F4483DF46DD3}"/>
                  </a:ext>
                </a:extLst>
              </p:cNvPr>
              <p:cNvSpPr/>
              <p:nvPr/>
            </p:nvSpPr>
            <p:spPr>
              <a:xfrm>
                <a:off x="6201114" y="2175042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49" name="Oval 248">
                <a:extLst>
                  <a:ext uri="{FF2B5EF4-FFF2-40B4-BE49-F238E27FC236}">
                    <a16:creationId xmlns:a16="http://schemas.microsoft.com/office/drawing/2014/main" id="{20A5BCDE-FC09-6287-CEF7-2C5B19E1406D}"/>
                  </a:ext>
                </a:extLst>
              </p:cNvPr>
              <p:cNvSpPr/>
              <p:nvPr/>
            </p:nvSpPr>
            <p:spPr>
              <a:xfrm>
                <a:off x="6286998" y="2216852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0" name="Oval 249">
                <a:extLst>
                  <a:ext uri="{FF2B5EF4-FFF2-40B4-BE49-F238E27FC236}">
                    <a16:creationId xmlns:a16="http://schemas.microsoft.com/office/drawing/2014/main" id="{FCDCB2C6-E55D-FDA7-AF2B-9D891A327246}"/>
                  </a:ext>
                </a:extLst>
              </p:cNvPr>
              <p:cNvSpPr/>
              <p:nvPr/>
            </p:nvSpPr>
            <p:spPr>
              <a:xfrm>
                <a:off x="6663478" y="224799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1" name="Oval 250">
                <a:extLst>
                  <a:ext uri="{FF2B5EF4-FFF2-40B4-BE49-F238E27FC236}">
                    <a16:creationId xmlns:a16="http://schemas.microsoft.com/office/drawing/2014/main" id="{71050000-8D68-1D43-1174-9C735C4A0AF7}"/>
                  </a:ext>
                </a:extLst>
              </p:cNvPr>
              <p:cNvSpPr/>
              <p:nvPr/>
            </p:nvSpPr>
            <p:spPr>
              <a:xfrm>
                <a:off x="6736593" y="250005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2" name="Oval 251">
                <a:extLst>
                  <a:ext uri="{FF2B5EF4-FFF2-40B4-BE49-F238E27FC236}">
                    <a16:creationId xmlns:a16="http://schemas.microsoft.com/office/drawing/2014/main" id="{DA1AEBC6-AF76-6A98-9D40-E8706FA4EC4A}"/>
                  </a:ext>
                </a:extLst>
              </p:cNvPr>
              <p:cNvSpPr/>
              <p:nvPr/>
            </p:nvSpPr>
            <p:spPr>
              <a:xfrm>
                <a:off x="6562703" y="264561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3" name="Oval 252">
                <a:extLst>
                  <a:ext uri="{FF2B5EF4-FFF2-40B4-BE49-F238E27FC236}">
                    <a16:creationId xmlns:a16="http://schemas.microsoft.com/office/drawing/2014/main" id="{F6CA2987-2CAA-7459-B292-66871C0EA979}"/>
                  </a:ext>
                </a:extLst>
              </p:cNvPr>
              <p:cNvSpPr/>
              <p:nvPr/>
            </p:nvSpPr>
            <p:spPr>
              <a:xfrm>
                <a:off x="6453935" y="2440759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54" name="Oval 253">
                <a:extLst>
                  <a:ext uri="{FF2B5EF4-FFF2-40B4-BE49-F238E27FC236}">
                    <a16:creationId xmlns:a16="http://schemas.microsoft.com/office/drawing/2014/main" id="{2DF7EBDF-1AC6-7D81-F55F-1188CD67AB08}"/>
                  </a:ext>
                </a:extLst>
              </p:cNvPr>
              <p:cNvSpPr/>
              <p:nvPr/>
            </p:nvSpPr>
            <p:spPr>
              <a:xfrm>
                <a:off x="6244054" y="2696874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55" name="Straight Connector 254">
                <a:extLst>
                  <a:ext uri="{FF2B5EF4-FFF2-40B4-BE49-F238E27FC236}">
                    <a16:creationId xmlns:a16="http://schemas.microsoft.com/office/drawing/2014/main" id="{8F890D04-4A36-50FB-652B-93A99E100BEC}"/>
                  </a:ext>
                </a:extLst>
              </p:cNvPr>
              <p:cNvCxnSpPr>
                <a:cxnSpLocks/>
                <a:endCxn id="250" idx="2"/>
              </p:cNvCxnSpPr>
              <p:nvPr/>
            </p:nvCxnSpPr>
            <p:spPr>
              <a:xfrm>
                <a:off x="6344792" y="2247996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6" name="Straight Connector 255">
                <a:extLst>
                  <a:ext uri="{FF2B5EF4-FFF2-40B4-BE49-F238E27FC236}">
                    <a16:creationId xmlns:a16="http://schemas.microsoft.com/office/drawing/2014/main" id="{E0EBDF6F-708C-A0C4-4597-D86907F01934}"/>
                  </a:ext>
                </a:extLst>
              </p:cNvPr>
              <p:cNvCxnSpPr>
                <a:cxnSpLocks/>
                <a:stCxn id="249" idx="5"/>
                <a:endCxn id="253" idx="1"/>
              </p:cNvCxnSpPr>
              <p:nvPr/>
            </p:nvCxnSpPr>
            <p:spPr>
              <a:xfrm>
                <a:off x="6333090" y="2262944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7" name="Straight Connector 256">
                <a:extLst>
                  <a:ext uri="{FF2B5EF4-FFF2-40B4-BE49-F238E27FC236}">
                    <a16:creationId xmlns:a16="http://schemas.microsoft.com/office/drawing/2014/main" id="{36234F64-C8C8-3E31-A365-E47C8F5C8367}"/>
                  </a:ext>
                </a:extLst>
              </p:cNvPr>
              <p:cNvCxnSpPr>
                <a:cxnSpLocks/>
                <a:stCxn id="250" idx="5"/>
                <a:endCxn id="251" idx="0"/>
              </p:cNvCxnSpPr>
              <p:nvPr/>
            </p:nvCxnSpPr>
            <p:spPr>
              <a:xfrm>
                <a:off x="6709570" y="2294088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8" name="Straight Connector 257">
                <a:extLst>
                  <a:ext uri="{FF2B5EF4-FFF2-40B4-BE49-F238E27FC236}">
                    <a16:creationId xmlns:a16="http://schemas.microsoft.com/office/drawing/2014/main" id="{D144B479-17F5-EC5B-33E4-48A8BC6002F5}"/>
                  </a:ext>
                </a:extLst>
              </p:cNvPr>
              <p:cNvCxnSpPr>
                <a:cxnSpLocks/>
                <a:stCxn id="251" idx="3"/>
                <a:endCxn id="252" idx="7"/>
              </p:cNvCxnSpPr>
              <p:nvPr/>
            </p:nvCxnSpPr>
            <p:spPr>
              <a:xfrm flipH="1">
                <a:off x="6608795" y="2546148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9" name="Straight Connector 258">
                <a:extLst>
                  <a:ext uri="{FF2B5EF4-FFF2-40B4-BE49-F238E27FC236}">
                    <a16:creationId xmlns:a16="http://schemas.microsoft.com/office/drawing/2014/main" id="{D95D6061-88F5-B2F9-35E7-F0504BB66902}"/>
                  </a:ext>
                </a:extLst>
              </p:cNvPr>
              <p:cNvCxnSpPr>
                <a:cxnSpLocks/>
                <a:stCxn id="252" idx="2"/>
                <a:endCxn id="254" idx="6"/>
              </p:cNvCxnSpPr>
              <p:nvPr/>
            </p:nvCxnSpPr>
            <p:spPr>
              <a:xfrm flipH="1">
                <a:off x="6298054" y="2672617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0" name="Straight Connector 259">
                <a:extLst>
                  <a:ext uri="{FF2B5EF4-FFF2-40B4-BE49-F238E27FC236}">
                    <a16:creationId xmlns:a16="http://schemas.microsoft.com/office/drawing/2014/main" id="{BDD3C33E-2BE9-2CAE-6717-5B2D7C747A34}"/>
                  </a:ext>
                </a:extLst>
              </p:cNvPr>
              <p:cNvCxnSpPr>
                <a:cxnSpLocks/>
                <a:stCxn id="254" idx="0"/>
                <a:endCxn id="249" idx="4"/>
              </p:cNvCxnSpPr>
              <p:nvPr/>
            </p:nvCxnSpPr>
            <p:spPr>
              <a:xfrm flipV="1">
                <a:off x="6271054" y="2270852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1" name="Straight Connector 260">
                <a:extLst>
                  <a:ext uri="{FF2B5EF4-FFF2-40B4-BE49-F238E27FC236}">
                    <a16:creationId xmlns:a16="http://schemas.microsoft.com/office/drawing/2014/main" id="{5E78B2ED-9802-9868-6693-116CC63AB891}"/>
                  </a:ext>
                </a:extLst>
              </p:cNvPr>
              <p:cNvCxnSpPr>
                <a:cxnSpLocks/>
                <a:stCxn id="254" idx="7"/>
                <a:endCxn id="253" idx="3"/>
              </p:cNvCxnSpPr>
              <p:nvPr/>
            </p:nvCxnSpPr>
            <p:spPr>
              <a:xfrm flipV="1">
                <a:off x="6290146" y="2486851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2" name="Straight Connector 261">
                <a:extLst>
                  <a:ext uri="{FF2B5EF4-FFF2-40B4-BE49-F238E27FC236}">
                    <a16:creationId xmlns:a16="http://schemas.microsoft.com/office/drawing/2014/main" id="{DCB1BE1F-DFAA-8287-C04F-382FC9F73179}"/>
                  </a:ext>
                </a:extLst>
              </p:cNvPr>
              <p:cNvCxnSpPr>
                <a:cxnSpLocks/>
                <a:stCxn id="252" idx="1"/>
                <a:endCxn id="253" idx="5"/>
              </p:cNvCxnSpPr>
              <p:nvPr/>
            </p:nvCxnSpPr>
            <p:spPr>
              <a:xfrm flipH="1" flipV="1">
                <a:off x="6500027" y="2486851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3" name="Straight Connector 262">
                <a:extLst>
                  <a:ext uri="{FF2B5EF4-FFF2-40B4-BE49-F238E27FC236}">
                    <a16:creationId xmlns:a16="http://schemas.microsoft.com/office/drawing/2014/main" id="{795EECEF-6BAB-97B4-FA26-2C0252AC3466}"/>
                  </a:ext>
                </a:extLst>
              </p:cNvPr>
              <p:cNvCxnSpPr>
                <a:cxnSpLocks/>
                <a:stCxn id="253" idx="7"/>
                <a:endCxn id="250" idx="3"/>
              </p:cNvCxnSpPr>
              <p:nvPr/>
            </p:nvCxnSpPr>
            <p:spPr>
              <a:xfrm flipV="1">
                <a:off x="6500027" y="2294088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4" name="Rectangle 263">
                <a:extLst>
                  <a:ext uri="{FF2B5EF4-FFF2-40B4-BE49-F238E27FC236}">
                    <a16:creationId xmlns:a16="http://schemas.microsoft.com/office/drawing/2014/main" id="{25C02DC9-93CE-B107-393E-D1EF7C58CC5E}"/>
                  </a:ext>
                </a:extLst>
              </p:cNvPr>
              <p:cNvSpPr/>
              <p:nvPr/>
            </p:nvSpPr>
            <p:spPr>
              <a:xfrm>
                <a:off x="6087688" y="2936704"/>
                <a:ext cx="828000" cy="1669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65" name="TextBox 264">
                <a:extLst>
                  <a:ext uri="{FF2B5EF4-FFF2-40B4-BE49-F238E27FC236}">
                    <a16:creationId xmlns:a16="http://schemas.microsoft.com/office/drawing/2014/main" id="{BA89D5E2-A238-1B09-AABC-3E2D6627EFA7}"/>
                  </a:ext>
                </a:extLst>
              </p:cNvPr>
              <p:cNvSpPr txBox="1"/>
              <p:nvPr/>
            </p:nvSpPr>
            <p:spPr>
              <a:xfrm>
                <a:off x="6020042" y="2779507"/>
                <a:ext cx="997495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instance</a:t>
                </a:r>
              </a:p>
            </p:txBody>
          </p: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B9B25F86-3C92-A8E2-4BE2-F66C2EAB0CC7}"/>
                </a:ext>
              </a:extLst>
            </p:cNvPr>
            <p:cNvGrpSpPr/>
            <p:nvPr/>
          </p:nvGrpSpPr>
          <p:grpSpPr>
            <a:xfrm>
              <a:off x="4982008" y="4500012"/>
              <a:ext cx="828001" cy="834274"/>
              <a:chOff x="7043267" y="3659123"/>
              <a:chExt cx="828001" cy="834274"/>
            </a:xfrm>
          </p:grpSpPr>
          <p:sp>
            <p:nvSpPr>
              <p:cNvPr id="231" name="Rectangle 230">
                <a:extLst>
                  <a:ext uri="{FF2B5EF4-FFF2-40B4-BE49-F238E27FC236}">
                    <a16:creationId xmlns:a16="http://schemas.microsoft.com/office/drawing/2014/main" id="{997B713E-5CC9-5DAE-3B70-C3B98D852E03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2" name="Oval 231">
                <a:extLst>
                  <a:ext uri="{FF2B5EF4-FFF2-40B4-BE49-F238E27FC236}">
                    <a16:creationId xmlns:a16="http://schemas.microsoft.com/office/drawing/2014/main" id="{1B51B037-C173-E8FB-5433-436E1D668F66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3" name="Oval 232">
                <a:extLst>
                  <a:ext uri="{FF2B5EF4-FFF2-40B4-BE49-F238E27FC236}">
                    <a16:creationId xmlns:a16="http://schemas.microsoft.com/office/drawing/2014/main" id="{44407D5C-5C5A-E26D-80BE-54EF3C3F480B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4" name="Oval 233">
                <a:extLst>
                  <a:ext uri="{FF2B5EF4-FFF2-40B4-BE49-F238E27FC236}">
                    <a16:creationId xmlns:a16="http://schemas.microsoft.com/office/drawing/2014/main" id="{E23AAF08-EE80-223E-4E81-695F829CD907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5" name="Oval 234">
                <a:extLst>
                  <a:ext uri="{FF2B5EF4-FFF2-40B4-BE49-F238E27FC236}">
                    <a16:creationId xmlns:a16="http://schemas.microsoft.com/office/drawing/2014/main" id="{F7C435AE-FE96-CDC2-D273-3C25145903C6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6" name="Oval 235">
                <a:extLst>
                  <a:ext uri="{FF2B5EF4-FFF2-40B4-BE49-F238E27FC236}">
                    <a16:creationId xmlns:a16="http://schemas.microsoft.com/office/drawing/2014/main" id="{CA7EE497-5786-040A-5E1C-3C1FF025F428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237" name="Oval 236">
                <a:extLst>
                  <a:ext uri="{FF2B5EF4-FFF2-40B4-BE49-F238E27FC236}">
                    <a16:creationId xmlns:a16="http://schemas.microsoft.com/office/drawing/2014/main" id="{B7A827B8-4F1E-835F-BC79-A20CE79FD390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38" name="Straight Connector 237">
                <a:extLst>
                  <a:ext uri="{FF2B5EF4-FFF2-40B4-BE49-F238E27FC236}">
                    <a16:creationId xmlns:a16="http://schemas.microsoft.com/office/drawing/2014/main" id="{DE72C6F5-830C-890F-CA07-70227FEED52A}"/>
                  </a:ext>
                </a:extLst>
              </p:cNvPr>
              <p:cNvCxnSpPr>
                <a:cxnSpLocks/>
                <a:endCxn id="233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9" name="Straight Connector 238">
                <a:extLst>
                  <a:ext uri="{FF2B5EF4-FFF2-40B4-BE49-F238E27FC236}">
                    <a16:creationId xmlns:a16="http://schemas.microsoft.com/office/drawing/2014/main" id="{D3D0A7BA-5E47-AA5C-5960-9880BD8801B3}"/>
                  </a:ext>
                </a:extLst>
              </p:cNvPr>
              <p:cNvCxnSpPr>
                <a:cxnSpLocks/>
                <a:stCxn id="232" idx="5"/>
                <a:endCxn id="236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0" name="Straight Connector 239">
                <a:extLst>
                  <a:ext uri="{FF2B5EF4-FFF2-40B4-BE49-F238E27FC236}">
                    <a16:creationId xmlns:a16="http://schemas.microsoft.com/office/drawing/2014/main" id="{A1AEC88A-B91A-93EE-849C-43B5675FD77F}"/>
                  </a:ext>
                </a:extLst>
              </p:cNvPr>
              <p:cNvCxnSpPr>
                <a:cxnSpLocks/>
                <a:stCxn id="233" idx="5"/>
                <a:endCxn id="234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1" name="Straight Connector 240">
                <a:extLst>
                  <a:ext uri="{FF2B5EF4-FFF2-40B4-BE49-F238E27FC236}">
                    <a16:creationId xmlns:a16="http://schemas.microsoft.com/office/drawing/2014/main" id="{10C3D7B0-E15F-A965-9190-CA655F746C42}"/>
                  </a:ext>
                </a:extLst>
              </p:cNvPr>
              <p:cNvCxnSpPr>
                <a:cxnSpLocks/>
                <a:stCxn id="234" idx="3"/>
                <a:endCxn id="235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2" name="Straight Connector 241">
                <a:extLst>
                  <a:ext uri="{FF2B5EF4-FFF2-40B4-BE49-F238E27FC236}">
                    <a16:creationId xmlns:a16="http://schemas.microsoft.com/office/drawing/2014/main" id="{5D61E4AB-36F8-E5A6-78C8-363E5927A7C3}"/>
                  </a:ext>
                </a:extLst>
              </p:cNvPr>
              <p:cNvCxnSpPr>
                <a:cxnSpLocks/>
                <a:stCxn id="235" idx="2"/>
                <a:endCxn id="237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3" name="Straight Connector 242">
                <a:extLst>
                  <a:ext uri="{FF2B5EF4-FFF2-40B4-BE49-F238E27FC236}">
                    <a16:creationId xmlns:a16="http://schemas.microsoft.com/office/drawing/2014/main" id="{097BE892-C9E3-65E4-5309-30B45C915DC9}"/>
                  </a:ext>
                </a:extLst>
              </p:cNvPr>
              <p:cNvCxnSpPr>
                <a:cxnSpLocks/>
                <a:stCxn id="237" idx="0"/>
                <a:endCxn id="232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4" name="Straight Connector 243">
                <a:extLst>
                  <a:ext uri="{FF2B5EF4-FFF2-40B4-BE49-F238E27FC236}">
                    <a16:creationId xmlns:a16="http://schemas.microsoft.com/office/drawing/2014/main" id="{2C155062-DC81-9B2C-80D8-93ACBD57D34E}"/>
                  </a:ext>
                </a:extLst>
              </p:cNvPr>
              <p:cNvCxnSpPr>
                <a:cxnSpLocks/>
                <a:stCxn id="237" idx="7"/>
                <a:endCxn id="236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5" name="Straight Connector 244">
                <a:extLst>
                  <a:ext uri="{FF2B5EF4-FFF2-40B4-BE49-F238E27FC236}">
                    <a16:creationId xmlns:a16="http://schemas.microsoft.com/office/drawing/2014/main" id="{8B09D264-D17C-62AB-5724-D3748A816E16}"/>
                  </a:ext>
                </a:extLst>
              </p:cNvPr>
              <p:cNvCxnSpPr>
                <a:cxnSpLocks/>
                <a:stCxn id="235" idx="1"/>
                <a:endCxn id="236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6" name="Straight Connector 245">
                <a:extLst>
                  <a:ext uri="{FF2B5EF4-FFF2-40B4-BE49-F238E27FC236}">
                    <a16:creationId xmlns:a16="http://schemas.microsoft.com/office/drawing/2014/main" id="{87B2F348-C5C4-0B80-4536-4465A382726C}"/>
                  </a:ext>
                </a:extLst>
              </p:cNvPr>
              <p:cNvCxnSpPr>
                <a:cxnSpLocks/>
                <a:stCxn id="236" idx="7"/>
                <a:endCxn id="233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1ABAFCF5-A700-5298-8C79-983842FA7FCE}"/>
                  </a:ext>
                </a:extLst>
              </p:cNvPr>
              <p:cNvSpPr txBox="1"/>
              <p:nvPr/>
            </p:nvSpPr>
            <p:spPr>
              <a:xfrm>
                <a:off x="7043267" y="4262565"/>
                <a:ext cx="828001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Solution</a:t>
                </a:r>
              </a:p>
            </p:txBody>
          </p:sp>
        </p:grpSp>
        <p:sp>
          <p:nvSpPr>
            <p:cNvPr id="35" name="Rounded Rectangle 34">
              <a:extLst>
                <a:ext uri="{FF2B5EF4-FFF2-40B4-BE49-F238E27FC236}">
                  <a16:creationId xmlns:a16="http://schemas.microsoft.com/office/drawing/2014/main" id="{DD2A9C5F-A194-E57A-E148-DAF9458D4070}"/>
                </a:ext>
              </a:extLst>
            </p:cNvPr>
            <p:cNvSpPr/>
            <p:nvPr/>
          </p:nvSpPr>
          <p:spPr>
            <a:xfrm>
              <a:off x="4900858" y="2107417"/>
              <a:ext cx="1021026" cy="289580"/>
            </a:xfrm>
            <a:prstGeom prst="roundRect">
              <a:avLst>
                <a:gd name="adj" fmla="val 45404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Diffusion-Based</a:t>
              </a:r>
              <a:b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Initialization</a:t>
              </a:r>
            </a:p>
          </p:txBody>
        </p:sp>
        <p:sp>
          <p:nvSpPr>
            <p:cNvPr id="36" name="Down Arrow 35">
              <a:extLst>
                <a:ext uri="{FF2B5EF4-FFF2-40B4-BE49-F238E27FC236}">
                  <a16:creationId xmlns:a16="http://schemas.microsoft.com/office/drawing/2014/main" id="{0801382A-F1E3-AF1D-F4D8-6B6A23C34E83}"/>
                </a:ext>
              </a:extLst>
            </p:cNvPr>
            <p:cNvSpPr/>
            <p:nvPr/>
          </p:nvSpPr>
          <p:spPr>
            <a:xfrm rot="14901951">
              <a:off x="5424727" y="3011260"/>
              <a:ext cx="246701" cy="328517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7" name="Down Arrow 36">
              <a:extLst>
                <a:ext uri="{FF2B5EF4-FFF2-40B4-BE49-F238E27FC236}">
                  <a16:creationId xmlns:a16="http://schemas.microsoft.com/office/drawing/2014/main" id="{DEDADB30-74ED-2918-4356-F7CBC8A0CD73}"/>
                </a:ext>
              </a:extLst>
            </p:cNvPr>
            <p:cNvSpPr/>
            <p:nvPr/>
          </p:nvSpPr>
          <p:spPr>
            <a:xfrm>
              <a:off x="6513798" y="2925337"/>
              <a:ext cx="246701" cy="424690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8" name="Down Arrow 37">
              <a:extLst>
                <a:ext uri="{FF2B5EF4-FFF2-40B4-BE49-F238E27FC236}">
                  <a16:creationId xmlns:a16="http://schemas.microsoft.com/office/drawing/2014/main" id="{D04A265D-0A3B-EE26-1AB5-054E5B56F610}"/>
                </a:ext>
              </a:extLst>
            </p:cNvPr>
            <p:cNvSpPr/>
            <p:nvPr/>
          </p:nvSpPr>
          <p:spPr>
            <a:xfrm>
              <a:off x="6513798" y="3373159"/>
              <a:ext cx="246701" cy="514800"/>
            </a:xfrm>
            <a:prstGeom prst="downArrow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39" name="Down Arrow 38">
              <a:extLst>
                <a:ext uri="{FF2B5EF4-FFF2-40B4-BE49-F238E27FC236}">
                  <a16:creationId xmlns:a16="http://schemas.microsoft.com/office/drawing/2014/main" id="{28E86E19-C70C-EFEF-9C65-1C1578AD2638}"/>
                </a:ext>
              </a:extLst>
            </p:cNvPr>
            <p:cNvSpPr/>
            <p:nvPr/>
          </p:nvSpPr>
          <p:spPr>
            <a:xfrm rot="6519061">
              <a:off x="5889717" y="3371809"/>
              <a:ext cx="246701" cy="700453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B68AA3A4-3549-70F7-DB4E-8A4189FC860E}"/>
                </a:ext>
              </a:extLst>
            </p:cNvPr>
            <p:cNvSpPr/>
            <p:nvPr/>
          </p:nvSpPr>
          <p:spPr>
            <a:xfrm>
              <a:off x="6303283" y="3765324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Mutate</a:t>
              </a:r>
            </a:p>
          </p:txBody>
        </p:sp>
        <p:sp>
          <p:nvSpPr>
            <p:cNvPr id="41" name="Down Arrow 40">
              <a:extLst>
                <a:ext uri="{FF2B5EF4-FFF2-40B4-BE49-F238E27FC236}">
                  <a16:creationId xmlns:a16="http://schemas.microsoft.com/office/drawing/2014/main" id="{881B6C20-DF49-D825-AACB-46C3F437AD97}"/>
                </a:ext>
              </a:extLst>
            </p:cNvPr>
            <p:cNvSpPr/>
            <p:nvPr/>
          </p:nvSpPr>
          <p:spPr>
            <a:xfrm rot="14901951">
              <a:off x="5918253" y="2646261"/>
              <a:ext cx="246701" cy="679863"/>
            </a:xfrm>
            <a:prstGeom prst="downArrow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3EA696AC-55E7-0AD1-CB62-B22DD1AA3399}"/>
                </a:ext>
              </a:extLst>
            </p:cNvPr>
            <p:cNvSpPr/>
            <p:nvPr/>
          </p:nvSpPr>
          <p:spPr>
            <a:xfrm>
              <a:off x="4715555" y="2681156"/>
              <a:ext cx="2336800" cy="13736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355A804-AD22-B830-BABB-F76801D2B5E0}"/>
                </a:ext>
              </a:extLst>
            </p:cNvPr>
            <p:cNvSpPr txBox="1"/>
            <p:nvPr/>
          </p:nvSpPr>
          <p:spPr>
            <a:xfrm>
              <a:off x="5873049" y="2486548"/>
              <a:ext cx="1185807" cy="215444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algn="r"/>
              <a:r>
                <a:rPr lang="en-AT" sz="800" dirty="0">
                  <a:latin typeface="Arial" panose="020B0604020202020204" pitchFamily="34" charset="0"/>
                  <a:cs typeface="Arial" panose="020B0604020202020204" pitchFamily="34" charset="0"/>
                </a:rPr>
                <a:t>Repeat N generations</a:t>
              </a:r>
            </a:p>
          </p:txBody>
        </p:sp>
        <p:sp>
          <p:nvSpPr>
            <p:cNvPr id="44" name="Down Arrow 43">
              <a:extLst>
                <a:ext uri="{FF2B5EF4-FFF2-40B4-BE49-F238E27FC236}">
                  <a16:creationId xmlns:a16="http://schemas.microsoft.com/office/drawing/2014/main" id="{3ED22F22-2842-6B5B-B853-04E959B2C4CE}"/>
                </a:ext>
              </a:extLst>
            </p:cNvPr>
            <p:cNvSpPr/>
            <p:nvPr/>
          </p:nvSpPr>
          <p:spPr>
            <a:xfrm>
              <a:off x="5272116" y="3181663"/>
              <a:ext cx="278510" cy="403227"/>
            </a:xfrm>
            <a:prstGeom prst="downArrow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5" name="Down Arrow 44">
              <a:extLst>
                <a:ext uri="{FF2B5EF4-FFF2-40B4-BE49-F238E27FC236}">
                  <a16:creationId xmlns:a16="http://schemas.microsoft.com/office/drawing/2014/main" id="{C73CBFBA-75BE-EEC2-653C-49E8FCAA92D4}"/>
                </a:ext>
              </a:extLst>
            </p:cNvPr>
            <p:cNvSpPr/>
            <p:nvPr/>
          </p:nvSpPr>
          <p:spPr>
            <a:xfrm>
              <a:off x="5230148" y="4062194"/>
              <a:ext cx="349480" cy="403227"/>
            </a:xfrm>
            <a:prstGeom prst="downArrow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6" name="Rounded Rectangle 45">
              <a:extLst>
                <a:ext uri="{FF2B5EF4-FFF2-40B4-BE49-F238E27FC236}">
                  <a16:creationId xmlns:a16="http://schemas.microsoft.com/office/drawing/2014/main" id="{E77EBD5F-4D68-0A71-6EBD-F2169070D31D}"/>
                </a:ext>
              </a:extLst>
            </p:cNvPr>
            <p:cNvSpPr/>
            <p:nvPr/>
          </p:nvSpPr>
          <p:spPr>
            <a:xfrm>
              <a:off x="4821179" y="3124774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Select</a:t>
              </a:r>
            </a:p>
          </p:txBody>
        </p:sp>
        <p:sp>
          <p:nvSpPr>
            <p:cNvPr id="47" name="Down Arrow 46">
              <a:extLst>
                <a:ext uri="{FF2B5EF4-FFF2-40B4-BE49-F238E27FC236}">
                  <a16:creationId xmlns:a16="http://schemas.microsoft.com/office/drawing/2014/main" id="{E5C7E685-5831-9FB1-A5E3-03AC086F4413}"/>
                </a:ext>
              </a:extLst>
            </p:cNvPr>
            <p:cNvSpPr/>
            <p:nvPr/>
          </p:nvSpPr>
          <p:spPr>
            <a:xfrm>
              <a:off x="5271597" y="2688586"/>
              <a:ext cx="271712" cy="435112"/>
            </a:xfrm>
            <a:prstGeom prst="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8" name="Down Arrow 47">
              <a:extLst>
                <a:ext uri="{FF2B5EF4-FFF2-40B4-BE49-F238E27FC236}">
                  <a16:creationId xmlns:a16="http://schemas.microsoft.com/office/drawing/2014/main" id="{65985960-5CC1-B187-03A0-1D441FE6EE97}"/>
                </a:ext>
              </a:extLst>
            </p:cNvPr>
            <p:cNvSpPr/>
            <p:nvPr/>
          </p:nvSpPr>
          <p:spPr>
            <a:xfrm>
              <a:off x="5260153" y="3566738"/>
              <a:ext cx="271712" cy="475213"/>
            </a:xfrm>
            <a:prstGeom prst="downArrow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49" name="Down Arrow 48">
              <a:extLst>
                <a:ext uri="{FF2B5EF4-FFF2-40B4-BE49-F238E27FC236}">
                  <a16:creationId xmlns:a16="http://schemas.microsoft.com/office/drawing/2014/main" id="{F66C8E9C-374B-0C93-5306-3572DD749795}"/>
                </a:ext>
              </a:extLst>
            </p:cNvPr>
            <p:cNvSpPr/>
            <p:nvPr/>
          </p:nvSpPr>
          <p:spPr>
            <a:xfrm rot="6519061">
              <a:off x="5430817" y="3463128"/>
              <a:ext cx="246701" cy="209421"/>
            </a:xfrm>
            <a:prstGeom prst="downArrow">
              <a:avLst>
                <a:gd name="adj1" fmla="val 50000"/>
                <a:gd name="adj2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0" name="Rounded Rectangle 49">
              <a:extLst>
                <a:ext uri="{FF2B5EF4-FFF2-40B4-BE49-F238E27FC236}">
                  <a16:creationId xmlns:a16="http://schemas.microsoft.com/office/drawing/2014/main" id="{177A718F-4CB3-A569-330D-C42E701C8D99}"/>
                </a:ext>
              </a:extLst>
            </p:cNvPr>
            <p:cNvSpPr/>
            <p:nvPr/>
          </p:nvSpPr>
          <p:spPr>
            <a:xfrm>
              <a:off x="4819738" y="3422808"/>
              <a:ext cx="663385" cy="175621"/>
            </a:xfrm>
            <a:prstGeom prst="roundRect">
              <a:avLst>
                <a:gd name="adj" fmla="val 45404"/>
              </a:avLst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9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Replace</a:t>
              </a:r>
            </a:p>
          </p:txBody>
        </p:sp>
        <p:sp>
          <p:nvSpPr>
            <p:cNvPr id="51" name="Rounded Rectangle 50">
              <a:extLst>
                <a:ext uri="{FF2B5EF4-FFF2-40B4-BE49-F238E27FC236}">
                  <a16:creationId xmlns:a16="http://schemas.microsoft.com/office/drawing/2014/main" id="{FB5B0F44-B5FE-B0B2-8309-E5CB2D5E7C93}"/>
                </a:ext>
              </a:extLst>
            </p:cNvPr>
            <p:cNvSpPr/>
            <p:nvPr/>
          </p:nvSpPr>
          <p:spPr>
            <a:xfrm>
              <a:off x="6303283" y="2766577"/>
              <a:ext cx="1079300" cy="288000"/>
            </a:xfrm>
            <a:prstGeom prst="roundRect">
              <a:avLst>
                <a:gd name="adj" fmla="val 45404"/>
              </a:avLst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Diffusion-Based</a:t>
              </a:r>
              <a:b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AT" sz="8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Crossover</a:t>
              </a:r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3BC9B06A-A41F-4C96-5530-C81C11CC25B6}"/>
                </a:ext>
              </a:extLst>
            </p:cNvPr>
            <p:cNvGrpSpPr/>
            <p:nvPr/>
          </p:nvGrpSpPr>
          <p:grpSpPr>
            <a:xfrm>
              <a:off x="7209259" y="1407398"/>
              <a:ext cx="929976" cy="928606"/>
              <a:chOff x="6054809" y="2175042"/>
              <a:chExt cx="929976" cy="928606"/>
            </a:xfrm>
          </p:grpSpPr>
          <p:sp>
            <p:nvSpPr>
              <p:cNvPr id="213" name="Rectangle 212">
                <a:extLst>
                  <a:ext uri="{FF2B5EF4-FFF2-40B4-BE49-F238E27FC236}">
                    <a16:creationId xmlns:a16="http://schemas.microsoft.com/office/drawing/2014/main" id="{465F8EFC-6B46-E1CD-B139-269E006D273D}"/>
                  </a:ext>
                </a:extLst>
              </p:cNvPr>
              <p:cNvSpPr/>
              <p:nvPr/>
            </p:nvSpPr>
            <p:spPr>
              <a:xfrm>
                <a:off x="6201114" y="2175042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4" name="Oval 213">
                <a:extLst>
                  <a:ext uri="{FF2B5EF4-FFF2-40B4-BE49-F238E27FC236}">
                    <a16:creationId xmlns:a16="http://schemas.microsoft.com/office/drawing/2014/main" id="{998EABB2-08CE-3888-50DC-10567EADA0BE}"/>
                  </a:ext>
                </a:extLst>
              </p:cNvPr>
              <p:cNvSpPr/>
              <p:nvPr/>
            </p:nvSpPr>
            <p:spPr>
              <a:xfrm>
                <a:off x="6286998" y="2216852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5" name="Oval 214">
                <a:extLst>
                  <a:ext uri="{FF2B5EF4-FFF2-40B4-BE49-F238E27FC236}">
                    <a16:creationId xmlns:a16="http://schemas.microsoft.com/office/drawing/2014/main" id="{49F3D056-2A43-3F2D-8A3D-8F4A89F53D23}"/>
                  </a:ext>
                </a:extLst>
              </p:cNvPr>
              <p:cNvSpPr/>
              <p:nvPr/>
            </p:nvSpPr>
            <p:spPr>
              <a:xfrm>
                <a:off x="6663478" y="224799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6" name="Oval 215">
                <a:extLst>
                  <a:ext uri="{FF2B5EF4-FFF2-40B4-BE49-F238E27FC236}">
                    <a16:creationId xmlns:a16="http://schemas.microsoft.com/office/drawing/2014/main" id="{E3238BE9-AE98-52BE-E9CB-1644A5777F22}"/>
                  </a:ext>
                </a:extLst>
              </p:cNvPr>
              <p:cNvSpPr/>
              <p:nvPr/>
            </p:nvSpPr>
            <p:spPr>
              <a:xfrm>
                <a:off x="6736593" y="250005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7" name="Oval 216">
                <a:extLst>
                  <a:ext uri="{FF2B5EF4-FFF2-40B4-BE49-F238E27FC236}">
                    <a16:creationId xmlns:a16="http://schemas.microsoft.com/office/drawing/2014/main" id="{62910846-DFA2-57FD-9AF8-B6E783585286}"/>
                  </a:ext>
                </a:extLst>
              </p:cNvPr>
              <p:cNvSpPr/>
              <p:nvPr/>
            </p:nvSpPr>
            <p:spPr>
              <a:xfrm>
                <a:off x="6562703" y="264561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8" name="Oval 217">
                <a:extLst>
                  <a:ext uri="{FF2B5EF4-FFF2-40B4-BE49-F238E27FC236}">
                    <a16:creationId xmlns:a16="http://schemas.microsoft.com/office/drawing/2014/main" id="{7F86FCD1-FDE5-445F-1D26-7169186FB3DC}"/>
                  </a:ext>
                </a:extLst>
              </p:cNvPr>
              <p:cNvSpPr/>
              <p:nvPr/>
            </p:nvSpPr>
            <p:spPr>
              <a:xfrm>
                <a:off x="6453935" y="2440759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19" name="Oval 218">
                <a:extLst>
                  <a:ext uri="{FF2B5EF4-FFF2-40B4-BE49-F238E27FC236}">
                    <a16:creationId xmlns:a16="http://schemas.microsoft.com/office/drawing/2014/main" id="{84F94421-BFBD-A214-9E70-4E320982858D}"/>
                  </a:ext>
                </a:extLst>
              </p:cNvPr>
              <p:cNvSpPr/>
              <p:nvPr/>
            </p:nvSpPr>
            <p:spPr>
              <a:xfrm>
                <a:off x="6244054" y="2696874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220" name="Straight Connector 219">
                <a:extLst>
                  <a:ext uri="{FF2B5EF4-FFF2-40B4-BE49-F238E27FC236}">
                    <a16:creationId xmlns:a16="http://schemas.microsoft.com/office/drawing/2014/main" id="{8EFD6B34-9EA3-0D12-B2D8-149CD277F993}"/>
                  </a:ext>
                </a:extLst>
              </p:cNvPr>
              <p:cNvCxnSpPr>
                <a:cxnSpLocks/>
                <a:endCxn id="215" idx="2"/>
              </p:cNvCxnSpPr>
              <p:nvPr/>
            </p:nvCxnSpPr>
            <p:spPr>
              <a:xfrm>
                <a:off x="6344792" y="2247996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1" name="Straight Connector 220">
                <a:extLst>
                  <a:ext uri="{FF2B5EF4-FFF2-40B4-BE49-F238E27FC236}">
                    <a16:creationId xmlns:a16="http://schemas.microsoft.com/office/drawing/2014/main" id="{762EF04B-3887-37CE-F8A0-8E5D9096BE36}"/>
                  </a:ext>
                </a:extLst>
              </p:cNvPr>
              <p:cNvCxnSpPr>
                <a:cxnSpLocks/>
                <a:stCxn id="214" idx="5"/>
                <a:endCxn id="218" idx="1"/>
              </p:cNvCxnSpPr>
              <p:nvPr/>
            </p:nvCxnSpPr>
            <p:spPr>
              <a:xfrm>
                <a:off x="6333090" y="2262944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2" name="Straight Connector 221">
                <a:extLst>
                  <a:ext uri="{FF2B5EF4-FFF2-40B4-BE49-F238E27FC236}">
                    <a16:creationId xmlns:a16="http://schemas.microsoft.com/office/drawing/2014/main" id="{8447A17C-CE7D-EDF1-F49B-E96469A30765}"/>
                  </a:ext>
                </a:extLst>
              </p:cNvPr>
              <p:cNvCxnSpPr>
                <a:cxnSpLocks/>
                <a:stCxn id="215" idx="5"/>
                <a:endCxn id="216" idx="0"/>
              </p:cNvCxnSpPr>
              <p:nvPr/>
            </p:nvCxnSpPr>
            <p:spPr>
              <a:xfrm>
                <a:off x="6709570" y="2294088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3" name="Straight Connector 222">
                <a:extLst>
                  <a:ext uri="{FF2B5EF4-FFF2-40B4-BE49-F238E27FC236}">
                    <a16:creationId xmlns:a16="http://schemas.microsoft.com/office/drawing/2014/main" id="{72EB3C3B-54EF-D63F-3E53-8087E297DB66}"/>
                  </a:ext>
                </a:extLst>
              </p:cNvPr>
              <p:cNvCxnSpPr>
                <a:cxnSpLocks/>
                <a:stCxn id="216" idx="3"/>
                <a:endCxn id="217" idx="7"/>
              </p:cNvCxnSpPr>
              <p:nvPr/>
            </p:nvCxnSpPr>
            <p:spPr>
              <a:xfrm flipH="1">
                <a:off x="6608795" y="2546148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4" name="Straight Connector 223">
                <a:extLst>
                  <a:ext uri="{FF2B5EF4-FFF2-40B4-BE49-F238E27FC236}">
                    <a16:creationId xmlns:a16="http://schemas.microsoft.com/office/drawing/2014/main" id="{4CFEFD43-2B5A-CE3B-6202-9FD0484E8222}"/>
                  </a:ext>
                </a:extLst>
              </p:cNvPr>
              <p:cNvCxnSpPr>
                <a:cxnSpLocks/>
                <a:stCxn id="217" idx="2"/>
                <a:endCxn id="219" idx="6"/>
              </p:cNvCxnSpPr>
              <p:nvPr/>
            </p:nvCxnSpPr>
            <p:spPr>
              <a:xfrm flipH="1">
                <a:off x="6298054" y="2672617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5" name="Straight Connector 224">
                <a:extLst>
                  <a:ext uri="{FF2B5EF4-FFF2-40B4-BE49-F238E27FC236}">
                    <a16:creationId xmlns:a16="http://schemas.microsoft.com/office/drawing/2014/main" id="{0B2A48AA-99A4-7F4E-6964-09FE91EB5980}"/>
                  </a:ext>
                </a:extLst>
              </p:cNvPr>
              <p:cNvCxnSpPr>
                <a:cxnSpLocks/>
                <a:stCxn id="219" idx="0"/>
                <a:endCxn id="214" idx="4"/>
              </p:cNvCxnSpPr>
              <p:nvPr/>
            </p:nvCxnSpPr>
            <p:spPr>
              <a:xfrm flipV="1">
                <a:off x="6271054" y="2270852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6" name="Straight Connector 225">
                <a:extLst>
                  <a:ext uri="{FF2B5EF4-FFF2-40B4-BE49-F238E27FC236}">
                    <a16:creationId xmlns:a16="http://schemas.microsoft.com/office/drawing/2014/main" id="{BAA2A128-CB1E-3D99-C509-9CF788F898E5}"/>
                  </a:ext>
                </a:extLst>
              </p:cNvPr>
              <p:cNvCxnSpPr>
                <a:cxnSpLocks/>
                <a:stCxn id="219" idx="7"/>
                <a:endCxn id="218" idx="3"/>
              </p:cNvCxnSpPr>
              <p:nvPr/>
            </p:nvCxnSpPr>
            <p:spPr>
              <a:xfrm flipV="1">
                <a:off x="6290146" y="2486851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7" name="Straight Connector 226">
                <a:extLst>
                  <a:ext uri="{FF2B5EF4-FFF2-40B4-BE49-F238E27FC236}">
                    <a16:creationId xmlns:a16="http://schemas.microsoft.com/office/drawing/2014/main" id="{AD403996-184E-AFF0-6F44-2736F5659E0D}"/>
                  </a:ext>
                </a:extLst>
              </p:cNvPr>
              <p:cNvCxnSpPr>
                <a:cxnSpLocks/>
                <a:stCxn id="217" idx="1"/>
                <a:endCxn id="218" idx="5"/>
              </p:cNvCxnSpPr>
              <p:nvPr/>
            </p:nvCxnSpPr>
            <p:spPr>
              <a:xfrm flipH="1" flipV="1">
                <a:off x="6500027" y="2486851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8" name="Straight Connector 227">
                <a:extLst>
                  <a:ext uri="{FF2B5EF4-FFF2-40B4-BE49-F238E27FC236}">
                    <a16:creationId xmlns:a16="http://schemas.microsoft.com/office/drawing/2014/main" id="{1A253DFD-A857-4601-7D2E-CCB9C4CA91A8}"/>
                  </a:ext>
                </a:extLst>
              </p:cNvPr>
              <p:cNvCxnSpPr>
                <a:cxnSpLocks/>
                <a:stCxn id="218" idx="7"/>
                <a:endCxn id="215" idx="3"/>
              </p:cNvCxnSpPr>
              <p:nvPr/>
            </p:nvCxnSpPr>
            <p:spPr>
              <a:xfrm flipV="1">
                <a:off x="6500027" y="2294088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9" name="Rectangle 228">
                <a:extLst>
                  <a:ext uri="{FF2B5EF4-FFF2-40B4-BE49-F238E27FC236}">
                    <a16:creationId xmlns:a16="http://schemas.microsoft.com/office/drawing/2014/main" id="{FF239253-3398-B108-0D1C-9CB7849A5D04}"/>
                  </a:ext>
                </a:extLst>
              </p:cNvPr>
              <p:cNvSpPr/>
              <p:nvPr/>
            </p:nvSpPr>
            <p:spPr>
              <a:xfrm>
                <a:off x="6087688" y="2936704"/>
                <a:ext cx="828000" cy="1669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27943BF4-4F6E-A5FB-6D25-1153C2E232AA}"/>
                  </a:ext>
                </a:extLst>
              </p:cNvPr>
              <p:cNvSpPr txBox="1"/>
              <p:nvPr/>
            </p:nvSpPr>
            <p:spPr>
              <a:xfrm>
                <a:off x="6054809" y="2768093"/>
                <a:ext cx="929976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instance</a:t>
                </a:r>
              </a:p>
            </p:txBody>
          </p: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E39426C2-4AD2-0B02-7D11-EE377ABDA2B2}"/>
                </a:ext>
              </a:extLst>
            </p:cNvPr>
            <p:cNvGrpSpPr/>
            <p:nvPr/>
          </p:nvGrpSpPr>
          <p:grpSpPr>
            <a:xfrm>
              <a:off x="8157809" y="1440351"/>
              <a:ext cx="963539" cy="1111055"/>
              <a:chOff x="8212344" y="1289082"/>
              <a:chExt cx="963539" cy="1095362"/>
            </a:xfrm>
          </p:grpSpPr>
          <p:pic>
            <p:nvPicPr>
              <p:cNvPr id="211" name="Picture 210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3CA401D6-B37B-DB98-45CA-277C090A971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8829" y="1289082"/>
                <a:ext cx="561413" cy="561413"/>
              </a:xfrm>
              <a:prstGeom prst="rect">
                <a:avLst/>
              </a:prstGeom>
            </p:spPr>
          </p:pic>
          <p:sp>
            <p:nvSpPr>
              <p:cNvPr id="212" name="TextBox 211">
                <a:extLst>
                  <a:ext uri="{FF2B5EF4-FFF2-40B4-BE49-F238E27FC236}">
                    <a16:creationId xmlns:a16="http://schemas.microsoft.com/office/drawing/2014/main" id="{7C09D603-7B4C-4331-C6CD-06E3C7D954D2}"/>
                  </a:ext>
                </a:extLst>
              </p:cNvPr>
              <p:cNvSpPr txBox="1"/>
              <p:nvPr/>
            </p:nvSpPr>
            <p:spPr>
              <a:xfrm>
                <a:off x="8212344" y="1807929"/>
                <a:ext cx="963539" cy="576515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Denoising Diffusion</a:t>
                </a: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Trained on high-quality solutions</a:t>
                </a:r>
              </a:p>
            </p:txBody>
          </p: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5C1C2DAE-C980-41BC-3DBD-DAF8B65D820B}"/>
                </a:ext>
              </a:extLst>
            </p:cNvPr>
            <p:cNvGrpSpPr/>
            <p:nvPr/>
          </p:nvGrpSpPr>
          <p:grpSpPr>
            <a:xfrm>
              <a:off x="8960183" y="1311524"/>
              <a:ext cx="1299387" cy="1258678"/>
              <a:chOff x="8955799" y="1200290"/>
              <a:chExt cx="1299387" cy="1258678"/>
            </a:xfrm>
          </p:grpSpPr>
          <p:grpSp>
            <p:nvGrpSpPr>
              <p:cNvPr id="158" name="Group 157">
                <a:extLst>
                  <a:ext uri="{FF2B5EF4-FFF2-40B4-BE49-F238E27FC236}">
                    <a16:creationId xmlns:a16="http://schemas.microsoft.com/office/drawing/2014/main" id="{A333E460-B2B7-6B0A-E9BB-132D41CF5572}"/>
                  </a:ext>
                </a:extLst>
              </p:cNvPr>
              <p:cNvGrpSpPr/>
              <p:nvPr/>
            </p:nvGrpSpPr>
            <p:grpSpPr>
              <a:xfrm>
                <a:off x="9233274" y="1200290"/>
                <a:ext cx="635430" cy="619932"/>
                <a:chOff x="7139553" y="3659123"/>
                <a:chExt cx="635430" cy="619932"/>
              </a:xfrm>
            </p:grpSpPr>
            <p:sp>
              <p:nvSpPr>
                <p:cNvPr id="195" name="Rectangle 194">
                  <a:extLst>
                    <a:ext uri="{FF2B5EF4-FFF2-40B4-BE49-F238E27FC236}">
                      <a16:creationId xmlns:a16="http://schemas.microsoft.com/office/drawing/2014/main" id="{A4C11ADB-4845-0EEB-4172-099993AD6CDC}"/>
                    </a:ext>
                  </a:extLst>
                </p:cNvPr>
                <p:cNvSpPr/>
                <p:nvPr/>
              </p:nvSpPr>
              <p:spPr>
                <a:xfrm>
                  <a:off x="7139553" y="3659123"/>
                  <a:ext cx="635430" cy="61993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96" name="Oval 195">
                  <a:extLst>
                    <a:ext uri="{FF2B5EF4-FFF2-40B4-BE49-F238E27FC236}">
                      <a16:creationId xmlns:a16="http://schemas.microsoft.com/office/drawing/2014/main" id="{D3ED2217-DAE9-8991-FF4A-072DAE1D94AD}"/>
                    </a:ext>
                  </a:extLst>
                </p:cNvPr>
                <p:cNvSpPr/>
                <p:nvPr/>
              </p:nvSpPr>
              <p:spPr>
                <a:xfrm>
                  <a:off x="7225437" y="3700933"/>
                  <a:ext cx="54000" cy="5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>
                    <a:solidFill>
                      <a:schemeClr val="accent6"/>
                    </a:solidFill>
                  </a:endParaRPr>
                </a:p>
              </p:txBody>
            </p:sp>
            <p:sp>
              <p:nvSpPr>
                <p:cNvPr id="197" name="Oval 196">
                  <a:extLst>
                    <a:ext uri="{FF2B5EF4-FFF2-40B4-BE49-F238E27FC236}">
                      <a16:creationId xmlns:a16="http://schemas.microsoft.com/office/drawing/2014/main" id="{67218AD6-00A3-0243-5D28-2A5F9A7611A7}"/>
                    </a:ext>
                  </a:extLst>
                </p:cNvPr>
                <p:cNvSpPr/>
                <p:nvPr/>
              </p:nvSpPr>
              <p:spPr>
                <a:xfrm>
                  <a:off x="7601917" y="3732077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98" name="Oval 197">
                  <a:extLst>
                    <a:ext uri="{FF2B5EF4-FFF2-40B4-BE49-F238E27FC236}">
                      <a16:creationId xmlns:a16="http://schemas.microsoft.com/office/drawing/2014/main" id="{5A8D34F0-5D2C-19B1-0E10-B59C11FDB8D2}"/>
                    </a:ext>
                  </a:extLst>
                </p:cNvPr>
                <p:cNvSpPr/>
                <p:nvPr/>
              </p:nvSpPr>
              <p:spPr>
                <a:xfrm>
                  <a:off x="7675032" y="3984137"/>
                  <a:ext cx="54000" cy="540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99" name="Oval 198">
                  <a:extLst>
                    <a:ext uri="{FF2B5EF4-FFF2-40B4-BE49-F238E27FC236}">
                      <a16:creationId xmlns:a16="http://schemas.microsoft.com/office/drawing/2014/main" id="{7FC74A63-974A-B694-EF24-AC5380013C74}"/>
                    </a:ext>
                  </a:extLst>
                </p:cNvPr>
                <p:cNvSpPr/>
                <p:nvPr/>
              </p:nvSpPr>
              <p:spPr>
                <a:xfrm>
                  <a:off x="7501142" y="4129698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200" name="Oval 199">
                  <a:extLst>
                    <a:ext uri="{FF2B5EF4-FFF2-40B4-BE49-F238E27FC236}">
                      <a16:creationId xmlns:a16="http://schemas.microsoft.com/office/drawing/2014/main" id="{A018F716-353C-BCA9-9C46-1FE434B62D0B}"/>
                    </a:ext>
                  </a:extLst>
                </p:cNvPr>
                <p:cNvSpPr/>
                <p:nvPr/>
              </p:nvSpPr>
              <p:spPr>
                <a:xfrm>
                  <a:off x="7392374" y="3924840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201" name="Oval 200">
                  <a:extLst>
                    <a:ext uri="{FF2B5EF4-FFF2-40B4-BE49-F238E27FC236}">
                      <a16:creationId xmlns:a16="http://schemas.microsoft.com/office/drawing/2014/main" id="{7405CB28-BA3C-7843-5D76-0037F5A15516}"/>
                    </a:ext>
                  </a:extLst>
                </p:cNvPr>
                <p:cNvSpPr/>
                <p:nvPr/>
              </p:nvSpPr>
              <p:spPr>
                <a:xfrm>
                  <a:off x="7182493" y="4180955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993A70E2-9FD1-E58E-7B8A-06036AEE5011}"/>
                    </a:ext>
                  </a:extLst>
                </p:cNvPr>
                <p:cNvCxnSpPr>
                  <a:cxnSpLocks/>
                  <a:endCxn id="197" idx="2"/>
                </p:cNvCxnSpPr>
                <p:nvPr/>
              </p:nvCxnSpPr>
              <p:spPr>
                <a:xfrm>
                  <a:off x="7283231" y="3732077"/>
                  <a:ext cx="318686" cy="27000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FEB4DFE5-86FA-6C43-9BBC-192ECFC85DD6}"/>
                    </a:ext>
                  </a:extLst>
                </p:cNvPr>
                <p:cNvCxnSpPr>
                  <a:cxnSpLocks/>
                  <a:stCxn id="196" idx="5"/>
                  <a:endCxn id="200" idx="1"/>
                </p:cNvCxnSpPr>
                <p:nvPr/>
              </p:nvCxnSpPr>
              <p:spPr>
                <a:xfrm>
                  <a:off x="7271529" y="3747025"/>
                  <a:ext cx="128753" cy="185723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5A3FA06E-2928-EF8D-7892-4FE65889E1C4}"/>
                    </a:ext>
                  </a:extLst>
                </p:cNvPr>
                <p:cNvCxnSpPr>
                  <a:cxnSpLocks/>
                  <a:stCxn id="197" idx="5"/>
                  <a:endCxn id="198" idx="0"/>
                </p:cNvCxnSpPr>
                <p:nvPr/>
              </p:nvCxnSpPr>
              <p:spPr>
                <a:xfrm>
                  <a:off x="7648009" y="3778169"/>
                  <a:ext cx="54023" cy="205968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F54F2553-CED3-5972-7A34-0D7969413296}"/>
                    </a:ext>
                  </a:extLst>
                </p:cNvPr>
                <p:cNvCxnSpPr>
                  <a:cxnSpLocks/>
                  <a:stCxn id="198" idx="3"/>
                  <a:endCxn id="199" idx="7"/>
                </p:cNvCxnSpPr>
                <p:nvPr/>
              </p:nvCxnSpPr>
              <p:spPr>
                <a:xfrm flipH="1">
                  <a:off x="7547234" y="4030229"/>
                  <a:ext cx="135706" cy="10737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3112826D-7A4F-D36C-7A48-4FDD1C2FC00B}"/>
                    </a:ext>
                  </a:extLst>
                </p:cNvPr>
                <p:cNvCxnSpPr>
                  <a:cxnSpLocks/>
                  <a:stCxn id="199" idx="2"/>
                  <a:endCxn id="201" idx="6"/>
                </p:cNvCxnSpPr>
                <p:nvPr/>
              </p:nvCxnSpPr>
              <p:spPr>
                <a:xfrm flipH="1">
                  <a:off x="7236493" y="4156698"/>
                  <a:ext cx="264649" cy="5125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98C66DB3-1433-6F43-A129-00D57CB411EF}"/>
                    </a:ext>
                  </a:extLst>
                </p:cNvPr>
                <p:cNvCxnSpPr>
                  <a:cxnSpLocks/>
                  <a:stCxn id="201" idx="0"/>
                  <a:endCxn id="196" idx="4"/>
                </p:cNvCxnSpPr>
                <p:nvPr/>
              </p:nvCxnSpPr>
              <p:spPr>
                <a:xfrm flipV="1">
                  <a:off x="7209493" y="3754933"/>
                  <a:ext cx="42944" cy="426022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25452F1F-289C-2EFB-5220-E1F50BBD3C56}"/>
                    </a:ext>
                  </a:extLst>
                </p:cNvPr>
                <p:cNvCxnSpPr>
                  <a:cxnSpLocks/>
                  <a:stCxn id="201" idx="7"/>
                  <a:endCxn id="200" idx="3"/>
                </p:cNvCxnSpPr>
                <p:nvPr/>
              </p:nvCxnSpPr>
              <p:spPr>
                <a:xfrm flipV="1">
                  <a:off x="7228585" y="3970932"/>
                  <a:ext cx="171697" cy="217931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F5830150-9E92-8E50-9B95-593135E72895}"/>
                    </a:ext>
                  </a:extLst>
                </p:cNvPr>
                <p:cNvCxnSpPr>
                  <a:cxnSpLocks/>
                  <a:stCxn id="199" idx="1"/>
                  <a:endCxn id="200" idx="5"/>
                </p:cNvCxnSpPr>
                <p:nvPr/>
              </p:nvCxnSpPr>
              <p:spPr>
                <a:xfrm flipH="1" flipV="1">
                  <a:off x="7438466" y="3970932"/>
                  <a:ext cx="70584" cy="166674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E5710A60-8529-5B8C-5B6C-B7AB98BDCA60}"/>
                    </a:ext>
                  </a:extLst>
                </p:cNvPr>
                <p:cNvCxnSpPr>
                  <a:cxnSpLocks/>
                  <a:stCxn id="200" idx="7"/>
                  <a:endCxn id="197" idx="3"/>
                </p:cNvCxnSpPr>
                <p:nvPr/>
              </p:nvCxnSpPr>
              <p:spPr>
                <a:xfrm flipV="1">
                  <a:off x="7438466" y="3778169"/>
                  <a:ext cx="171359" cy="154579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59" name="Group 158">
                <a:extLst>
                  <a:ext uri="{FF2B5EF4-FFF2-40B4-BE49-F238E27FC236}">
                    <a16:creationId xmlns:a16="http://schemas.microsoft.com/office/drawing/2014/main" id="{47A9154C-B330-A1D9-E4E4-1E2895F9DDD4}"/>
                  </a:ext>
                </a:extLst>
              </p:cNvPr>
              <p:cNvGrpSpPr/>
              <p:nvPr/>
            </p:nvGrpSpPr>
            <p:grpSpPr>
              <a:xfrm>
                <a:off x="9442699" y="1407020"/>
                <a:ext cx="635430" cy="619932"/>
                <a:chOff x="7139553" y="3659123"/>
                <a:chExt cx="635430" cy="619932"/>
              </a:xfrm>
            </p:grpSpPr>
            <p:sp>
              <p:nvSpPr>
                <p:cNvPr id="179" name="Rectangle 178">
                  <a:extLst>
                    <a:ext uri="{FF2B5EF4-FFF2-40B4-BE49-F238E27FC236}">
                      <a16:creationId xmlns:a16="http://schemas.microsoft.com/office/drawing/2014/main" id="{AA19E6C9-C21F-AA4C-0187-452F62667EAC}"/>
                    </a:ext>
                  </a:extLst>
                </p:cNvPr>
                <p:cNvSpPr/>
                <p:nvPr/>
              </p:nvSpPr>
              <p:spPr>
                <a:xfrm>
                  <a:off x="7139553" y="3659123"/>
                  <a:ext cx="635430" cy="61993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0" name="Oval 179">
                  <a:extLst>
                    <a:ext uri="{FF2B5EF4-FFF2-40B4-BE49-F238E27FC236}">
                      <a16:creationId xmlns:a16="http://schemas.microsoft.com/office/drawing/2014/main" id="{CED28EDE-60CE-7D75-6A33-9110CD413F44}"/>
                    </a:ext>
                  </a:extLst>
                </p:cNvPr>
                <p:cNvSpPr/>
                <p:nvPr/>
              </p:nvSpPr>
              <p:spPr>
                <a:xfrm>
                  <a:off x="7225437" y="3700933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1" name="Oval 180">
                  <a:extLst>
                    <a:ext uri="{FF2B5EF4-FFF2-40B4-BE49-F238E27FC236}">
                      <a16:creationId xmlns:a16="http://schemas.microsoft.com/office/drawing/2014/main" id="{333709EA-647B-A352-7403-925DE09928FC}"/>
                    </a:ext>
                  </a:extLst>
                </p:cNvPr>
                <p:cNvSpPr/>
                <p:nvPr/>
              </p:nvSpPr>
              <p:spPr>
                <a:xfrm>
                  <a:off x="7601917" y="3732077"/>
                  <a:ext cx="54000" cy="5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2" name="Oval 181">
                  <a:extLst>
                    <a:ext uri="{FF2B5EF4-FFF2-40B4-BE49-F238E27FC236}">
                      <a16:creationId xmlns:a16="http://schemas.microsoft.com/office/drawing/2014/main" id="{58946969-2F79-EBB3-1B8A-EEDE1A0A82EB}"/>
                    </a:ext>
                  </a:extLst>
                </p:cNvPr>
                <p:cNvSpPr/>
                <p:nvPr/>
              </p:nvSpPr>
              <p:spPr>
                <a:xfrm>
                  <a:off x="7675032" y="3984137"/>
                  <a:ext cx="54000" cy="540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3" name="Oval 182">
                  <a:extLst>
                    <a:ext uri="{FF2B5EF4-FFF2-40B4-BE49-F238E27FC236}">
                      <a16:creationId xmlns:a16="http://schemas.microsoft.com/office/drawing/2014/main" id="{0CC4E240-6D33-4934-F02E-BC7B303B612D}"/>
                    </a:ext>
                  </a:extLst>
                </p:cNvPr>
                <p:cNvSpPr/>
                <p:nvPr/>
              </p:nvSpPr>
              <p:spPr>
                <a:xfrm>
                  <a:off x="7501142" y="4129698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84" name="Oval 183">
                  <a:extLst>
                    <a:ext uri="{FF2B5EF4-FFF2-40B4-BE49-F238E27FC236}">
                      <a16:creationId xmlns:a16="http://schemas.microsoft.com/office/drawing/2014/main" id="{C5E99D13-51C0-8138-FEF0-8690394ED3B8}"/>
                    </a:ext>
                  </a:extLst>
                </p:cNvPr>
                <p:cNvSpPr/>
                <p:nvPr/>
              </p:nvSpPr>
              <p:spPr>
                <a:xfrm>
                  <a:off x="7392374" y="3924840"/>
                  <a:ext cx="54000" cy="54000"/>
                </a:xfrm>
                <a:prstGeom prst="ellipse">
                  <a:avLst/>
                </a:prstGeom>
                <a:solidFill>
                  <a:srgbClr val="FFC000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85" name="Oval 184">
                  <a:extLst>
                    <a:ext uri="{FF2B5EF4-FFF2-40B4-BE49-F238E27FC236}">
                      <a16:creationId xmlns:a16="http://schemas.microsoft.com/office/drawing/2014/main" id="{87D1148E-64A2-CD41-D815-CEBD82C3AFF5}"/>
                    </a:ext>
                  </a:extLst>
                </p:cNvPr>
                <p:cNvSpPr/>
                <p:nvPr/>
              </p:nvSpPr>
              <p:spPr>
                <a:xfrm>
                  <a:off x="7182493" y="4180955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5C67AA38-4F99-8146-1BA1-ECA4891329DC}"/>
                    </a:ext>
                  </a:extLst>
                </p:cNvPr>
                <p:cNvCxnSpPr>
                  <a:cxnSpLocks/>
                  <a:endCxn id="181" idx="2"/>
                </p:cNvCxnSpPr>
                <p:nvPr/>
              </p:nvCxnSpPr>
              <p:spPr>
                <a:xfrm>
                  <a:off x="7283231" y="3732077"/>
                  <a:ext cx="318686" cy="27000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6F9C0643-CB5C-4A78-F2E9-47122776B30B}"/>
                    </a:ext>
                  </a:extLst>
                </p:cNvPr>
                <p:cNvCxnSpPr>
                  <a:cxnSpLocks/>
                  <a:stCxn id="180" idx="5"/>
                  <a:endCxn id="184" idx="1"/>
                </p:cNvCxnSpPr>
                <p:nvPr/>
              </p:nvCxnSpPr>
              <p:spPr>
                <a:xfrm>
                  <a:off x="7271529" y="3747025"/>
                  <a:ext cx="128753" cy="185723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D5355BD2-28AD-6CAB-4A82-85B38B28764C}"/>
                    </a:ext>
                  </a:extLst>
                </p:cNvPr>
                <p:cNvCxnSpPr>
                  <a:cxnSpLocks/>
                  <a:stCxn id="181" idx="5"/>
                  <a:endCxn id="182" idx="0"/>
                </p:cNvCxnSpPr>
                <p:nvPr/>
              </p:nvCxnSpPr>
              <p:spPr>
                <a:xfrm>
                  <a:off x="7648009" y="3778169"/>
                  <a:ext cx="54023" cy="205968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857E5F68-D906-63BE-A37E-C67D2DBB7741}"/>
                    </a:ext>
                  </a:extLst>
                </p:cNvPr>
                <p:cNvCxnSpPr>
                  <a:cxnSpLocks/>
                  <a:stCxn id="182" idx="3"/>
                  <a:endCxn id="183" idx="7"/>
                </p:cNvCxnSpPr>
                <p:nvPr/>
              </p:nvCxnSpPr>
              <p:spPr>
                <a:xfrm flipH="1">
                  <a:off x="7547234" y="4030229"/>
                  <a:ext cx="135706" cy="10737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C98201E9-D68B-4F3B-49CB-F4C54BD039DC}"/>
                    </a:ext>
                  </a:extLst>
                </p:cNvPr>
                <p:cNvCxnSpPr>
                  <a:cxnSpLocks/>
                  <a:stCxn id="183" idx="2"/>
                  <a:endCxn id="185" idx="6"/>
                </p:cNvCxnSpPr>
                <p:nvPr/>
              </p:nvCxnSpPr>
              <p:spPr>
                <a:xfrm flipH="1">
                  <a:off x="7236493" y="4156698"/>
                  <a:ext cx="264649" cy="5125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63CC758C-3838-83AE-6C3F-682B6E3A82AD}"/>
                    </a:ext>
                  </a:extLst>
                </p:cNvPr>
                <p:cNvCxnSpPr>
                  <a:cxnSpLocks/>
                  <a:stCxn id="185" idx="0"/>
                  <a:endCxn id="180" idx="4"/>
                </p:cNvCxnSpPr>
                <p:nvPr/>
              </p:nvCxnSpPr>
              <p:spPr>
                <a:xfrm flipV="1">
                  <a:off x="7209493" y="3754933"/>
                  <a:ext cx="42944" cy="426022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E494879A-82FE-5027-F790-98AAA4859A09}"/>
                    </a:ext>
                  </a:extLst>
                </p:cNvPr>
                <p:cNvCxnSpPr>
                  <a:cxnSpLocks/>
                  <a:stCxn id="185" idx="7"/>
                  <a:endCxn id="184" idx="3"/>
                </p:cNvCxnSpPr>
                <p:nvPr/>
              </p:nvCxnSpPr>
              <p:spPr>
                <a:xfrm flipV="1">
                  <a:off x="7228585" y="3970932"/>
                  <a:ext cx="171697" cy="217931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6E075F51-0887-4B4D-B8D2-B4F2E148D7E6}"/>
                    </a:ext>
                  </a:extLst>
                </p:cNvPr>
                <p:cNvCxnSpPr>
                  <a:cxnSpLocks/>
                  <a:stCxn id="183" idx="1"/>
                  <a:endCxn id="184" idx="5"/>
                </p:cNvCxnSpPr>
                <p:nvPr/>
              </p:nvCxnSpPr>
              <p:spPr>
                <a:xfrm flipH="1" flipV="1">
                  <a:off x="7438466" y="3970932"/>
                  <a:ext cx="70584" cy="166674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980C21D5-D83D-85CC-C366-2879A25EF150}"/>
                    </a:ext>
                  </a:extLst>
                </p:cNvPr>
                <p:cNvCxnSpPr>
                  <a:cxnSpLocks/>
                  <a:stCxn id="184" idx="7"/>
                  <a:endCxn id="181" idx="3"/>
                </p:cNvCxnSpPr>
                <p:nvPr/>
              </p:nvCxnSpPr>
              <p:spPr>
                <a:xfrm flipV="1">
                  <a:off x="7438466" y="3778169"/>
                  <a:ext cx="171359" cy="154579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0" name="Group 159">
                <a:extLst>
                  <a:ext uri="{FF2B5EF4-FFF2-40B4-BE49-F238E27FC236}">
                    <a16:creationId xmlns:a16="http://schemas.microsoft.com/office/drawing/2014/main" id="{5CB875C1-A383-6294-6E11-17449141BA17}"/>
                  </a:ext>
                </a:extLst>
              </p:cNvPr>
              <p:cNvGrpSpPr/>
              <p:nvPr/>
            </p:nvGrpSpPr>
            <p:grpSpPr>
              <a:xfrm>
                <a:off x="9534111" y="1501086"/>
                <a:ext cx="635430" cy="619932"/>
                <a:chOff x="7139553" y="3659123"/>
                <a:chExt cx="635430" cy="619932"/>
              </a:xfrm>
            </p:grpSpPr>
            <p:sp>
              <p:nvSpPr>
                <p:cNvPr id="163" name="Rectangle 162">
                  <a:extLst>
                    <a:ext uri="{FF2B5EF4-FFF2-40B4-BE49-F238E27FC236}">
                      <a16:creationId xmlns:a16="http://schemas.microsoft.com/office/drawing/2014/main" id="{1977033F-D3E3-45A3-8D3D-A73DFCA42902}"/>
                    </a:ext>
                  </a:extLst>
                </p:cNvPr>
                <p:cNvSpPr/>
                <p:nvPr/>
              </p:nvSpPr>
              <p:spPr>
                <a:xfrm>
                  <a:off x="7139553" y="3659123"/>
                  <a:ext cx="635430" cy="619932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4" name="Oval 163">
                  <a:extLst>
                    <a:ext uri="{FF2B5EF4-FFF2-40B4-BE49-F238E27FC236}">
                      <a16:creationId xmlns:a16="http://schemas.microsoft.com/office/drawing/2014/main" id="{AE2A4E49-C178-6DB7-CD2D-5BE42799563C}"/>
                    </a:ext>
                  </a:extLst>
                </p:cNvPr>
                <p:cNvSpPr/>
                <p:nvPr/>
              </p:nvSpPr>
              <p:spPr>
                <a:xfrm>
                  <a:off x="7225437" y="3700933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5" name="Oval 164">
                  <a:extLst>
                    <a:ext uri="{FF2B5EF4-FFF2-40B4-BE49-F238E27FC236}">
                      <a16:creationId xmlns:a16="http://schemas.microsoft.com/office/drawing/2014/main" id="{B8980497-D2CE-1CB9-17B6-0E39CD5E8441}"/>
                    </a:ext>
                  </a:extLst>
                </p:cNvPr>
                <p:cNvSpPr/>
                <p:nvPr/>
              </p:nvSpPr>
              <p:spPr>
                <a:xfrm>
                  <a:off x="7601917" y="3732077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6" name="Oval 165">
                  <a:extLst>
                    <a:ext uri="{FF2B5EF4-FFF2-40B4-BE49-F238E27FC236}">
                      <a16:creationId xmlns:a16="http://schemas.microsoft.com/office/drawing/2014/main" id="{BD822B6A-DBAD-8B5A-D556-DAF41315997F}"/>
                    </a:ext>
                  </a:extLst>
                </p:cNvPr>
                <p:cNvSpPr/>
                <p:nvPr/>
              </p:nvSpPr>
              <p:spPr>
                <a:xfrm>
                  <a:off x="7675032" y="3984137"/>
                  <a:ext cx="54000" cy="5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7" name="Oval 166">
                  <a:extLst>
                    <a:ext uri="{FF2B5EF4-FFF2-40B4-BE49-F238E27FC236}">
                      <a16:creationId xmlns:a16="http://schemas.microsoft.com/office/drawing/2014/main" id="{9179F306-C80E-7B31-79C9-C036AB02FA9B}"/>
                    </a:ext>
                  </a:extLst>
                </p:cNvPr>
                <p:cNvSpPr/>
                <p:nvPr/>
              </p:nvSpPr>
              <p:spPr>
                <a:xfrm>
                  <a:off x="7501142" y="4129698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sp>
              <p:nvSpPr>
                <p:cNvPr id="168" name="Oval 167">
                  <a:extLst>
                    <a:ext uri="{FF2B5EF4-FFF2-40B4-BE49-F238E27FC236}">
                      <a16:creationId xmlns:a16="http://schemas.microsoft.com/office/drawing/2014/main" id="{51BA791F-83DA-6FB4-D5D0-B9653DA208F0}"/>
                    </a:ext>
                  </a:extLst>
                </p:cNvPr>
                <p:cNvSpPr/>
                <p:nvPr/>
              </p:nvSpPr>
              <p:spPr>
                <a:xfrm>
                  <a:off x="7392374" y="3924840"/>
                  <a:ext cx="54000" cy="54000"/>
                </a:xfrm>
                <a:prstGeom prst="ellipse">
                  <a:avLst/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bg2">
                      <a:lumMod val="25000"/>
                    </a:schemeClr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9" name="Oval 168">
                  <a:extLst>
                    <a:ext uri="{FF2B5EF4-FFF2-40B4-BE49-F238E27FC236}">
                      <a16:creationId xmlns:a16="http://schemas.microsoft.com/office/drawing/2014/main" id="{23B43991-FB74-B19C-74AA-EB3008E861CF}"/>
                    </a:ext>
                  </a:extLst>
                </p:cNvPr>
                <p:cNvSpPr/>
                <p:nvPr/>
              </p:nvSpPr>
              <p:spPr>
                <a:xfrm>
                  <a:off x="7182493" y="4180955"/>
                  <a:ext cx="54000" cy="54000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rgbClr val="C0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T"/>
                </a:p>
              </p:txBody>
            </p: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455A4121-92E1-8260-B42F-729562E04FF6}"/>
                    </a:ext>
                  </a:extLst>
                </p:cNvPr>
                <p:cNvCxnSpPr>
                  <a:cxnSpLocks/>
                  <a:endCxn id="165" idx="2"/>
                </p:cNvCxnSpPr>
                <p:nvPr/>
              </p:nvCxnSpPr>
              <p:spPr>
                <a:xfrm>
                  <a:off x="7283231" y="3732077"/>
                  <a:ext cx="318686" cy="27000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1DF8BA4B-71F3-29BC-96C1-B8127D8825A9}"/>
                    </a:ext>
                  </a:extLst>
                </p:cNvPr>
                <p:cNvCxnSpPr>
                  <a:cxnSpLocks/>
                  <a:stCxn id="164" idx="5"/>
                  <a:endCxn id="168" idx="1"/>
                </p:cNvCxnSpPr>
                <p:nvPr/>
              </p:nvCxnSpPr>
              <p:spPr>
                <a:xfrm>
                  <a:off x="7271529" y="3747025"/>
                  <a:ext cx="128753" cy="185723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D781C9D8-EBA5-5E45-26AF-85C26ED8EC8D}"/>
                    </a:ext>
                  </a:extLst>
                </p:cNvPr>
                <p:cNvCxnSpPr>
                  <a:cxnSpLocks/>
                  <a:stCxn id="165" idx="5"/>
                  <a:endCxn id="166" idx="0"/>
                </p:cNvCxnSpPr>
                <p:nvPr/>
              </p:nvCxnSpPr>
              <p:spPr>
                <a:xfrm>
                  <a:off x="7648009" y="3778169"/>
                  <a:ext cx="54023" cy="205968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57B6CD4A-44F2-4782-AEF9-DD66E66E3E53}"/>
                    </a:ext>
                  </a:extLst>
                </p:cNvPr>
                <p:cNvCxnSpPr>
                  <a:cxnSpLocks/>
                  <a:stCxn id="166" idx="3"/>
                  <a:endCxn id="167" idx="7"/>
                </p:cNvCxnSpPr>
                <p:nvPr/>
              </p:nvCxnSpPr>
              <p:spPr>
                <a:xfrm flipH="1">
                  <a:off x="7547234" y="4030229"/>
                  <a:ext cx="135706" cy="10737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BD5B6FAD-D47D-B379-0C17-FB5E07F03AD3}"/>
                    </a:ext>
                  </a:extLst>
                </p:cNvPr>
                <p:cNvCxnSpPr>
                  <a:cxnSpLocks/>
                  <a:stCxn id="167" idx="2"/>
                  <a:endCxn id="169" idx="6"/>
                </p:cNvCxnSpPr>
                <p:nvPr/>
              </p:nvCxnSpPr>
              <p:spPr>
                <a:xfrm flipH="1">
                  <a:off x="7236493" y="4156698"/>
                  <a:ext cx="264649" cy="51257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A00AB413-BAB7-A527-A178-F3426084417F}"/>
                    </a:ext>
                  </a:extLst>
                </p:cNvPr>
                <p:cNvCxnSpPr>
                  <a:cxnSpLocks/>
                  <a:stCxn id="169" idx="0"/>
                  <a:endCxn id="164" idx="4"/>
                </p:cNvCxnSpPr>
                <p:nvPr/>
              </p:nvCxnSpPr>
              <p:spPr>
                <a:xfrm flipV="1">
                  <a:off x="7209493" y="3754933"/>
                  <a:ext cx="42944" cy="426022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2FFDCC55-A604-6432-C8E7-43C8494B449E}"/>
                    </a:ext>
                  </a:extLst>
                </p:cNvPr>
                <p:cNvCxnSpPr>
                  <a:cxnSpLocks/>
                  <a:stCxn id="169" idx="7"/>
                  <a:endCxn id="168" idx="3"/>
                </p:cNvCxnSpPr>
                <p:nvPr/>
              </p:nvCxnSpPr>
              <p:spPr>
                <a:xfrm flipV="1">
                  <a:off x="7228585" y="3970932"/>
                  <a:ext cx="171697" cy="217931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1FD5E794-B538-CB66-99B1-C526FA57560E}"/>
                    </a:ext>
                  </a:extLst>
                </p:cNvPr>
                <p:cNvCxnSpPr>
                  <a:cxnSpLocks/>
                  <a:stCxn id="167" idx="1"/>
                  <a:endCxn id="168" idx="5"/>
                </p:cNvCxnSpPr>
                <p:nvPr/>
              </p:nvCxnSpPr>
              <p:spPr>
                <a:xfrm flipH="1" flipV="1">
                  <a:off x="7438466" y="3970932"/>
                  <a:ext cx="70584" cy="166674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E04CDEFB-88BB-E9FE-B7B1-FF600AC6729F}"/>
                    </a:ext>
                  </a:extLst>
                </p:cNvPr>
                <p:cNvCxnSpPr>
                  <a:cxnSpLocks/>
                  <a:stCxn id="168" idx="7"/>
                  <a:endCxn id="165" idx="3"/>
                </p:cNvCxnSpPr>
                <p:nvPr/>
              </p:nvCxnSpPr>
              <p:spPr>
                <a:xfrm flipV="1">
                  <a:off x="7438466" y="3778169"/>
                  <a:ext cx="171359" cy="154579"/>
                </a:xfrm>
                <a:prstGeom prst="line">
                  <a:avLst/>
                </a:prstGeom>
                <a:ln w="19050">
                  <a:solidFill>
                    <a:srgbClr val="C00000"/>
                  </a:solidFill>
                  <a:prstDash val="sys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433B22B8-4DCA-BB88-1FA7-6FF82A6FBE83}"/>
                  </a:ext>
                </a:extLst>
              </p:cNvPr>
              <p:cNvSpPr txBox="1"/>
              <p:nvPr/>
            </p:nvSpPr>
            <p:spPr>
              <a:xfrm rot="2633464">
                <a:off x="8955799" y="1781706"/>
                <a:ext cx="828001" cy="202921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700" dirty="0">
                    <a:latin typeface="Arial" panose="020B0604020202020204" pitchFamily="34" charset="0"/>
                    <a:cs typeface="Arial" panose="020B0604020202020204" pitchFamily="34" charset="0"/>
                  </a:rPr>
                  <a:t>. . .</a:t>
                </a:r>
              </a:p>
            </p:txBody>
          </p:sp>
          <p:sp>
            <p:nvSpPr>
              <p:cNvPr id="162" name="TextBox 161">
                <a:extLst>
                  <a:ext uri="{FF2B5EF4-FFF2-40B4-BE49-F238E27FC236}">
                    <a16:creationId xmlns:a16="http://schemas.microsoft.com/office/drawing/2014/main" id="{81882306-477F-E09B-946E-A46F9E6C8742}"/>
                  </a:ext>
                </a:extLst>
              </p:cNvPr>
              <p:cNvSpPr txBox="1"/>
              <p:nvPr/>
            </p:nvSpPr>
            <p:spPr>
              <a:xfrm>
                <a:off x="9257576" y="2089636"/>
                <a:ext cx="997610" cy="3693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Diverse population of solutions</a:t>
                </a:r>
              </a:p>
            </p:txBody>
          </p:sp>
        </p:grp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9E1F623-7D15-6265-C155-F582BB0154F5}"/>
                </a:ext>
              </a:extLst>
            </p:cNvPr>
            <p:cNvSpPr/>
            <p:nvPr/>
          </p:nvSpPr>
          <p:spPr>
            <a:xfrm>
              <a:off x="7160113" y="1168348"/>
              <a:ext cx="3101119" cy="137360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E7EF724F-B52F-5CCC-93A9-55551DDC3494}"/>
                </a:ext>
              </a:extLst>
            </p:cNvPr>
            <p:cNvSpPr txBox="1"/>
            <p:nvPr/>
          </p:nvSpPr>
          <p:spPr>
            <a:xfrm>
              <a:off x="7679066" y="934222"/>
              <a:ext cx="2091264" cy="2308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algn="ctr"/>
              <a:r>
                <a:rPr lang="en-AT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Diffusion-Based Initialization</a:t>
              </a:r>
            </a:p>
          </p:txBody>
        </p: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59B66AE-F29C-7A96-8063-69CDFDAFC4AF}"/>
                </a:ext>
              </a:extLst>
            </p:cNvPr>
            <p:cNvCxnSpPr>
              <a:cxnSpLocks/>
              <a:stCxn id="55" idx="1"/>
            </p:cNvCxnSpPr>
            <p:nvPr/>
          </p:nvCxnSpPr>
          <p:spPr>
            <a:xfrm flipH="1">
              <a:off x="5921884" y="1855152"/>
              <a:ext cx="1238229" cy="3771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5ED9F9F9-34C2-1E5C-E812-13A78844F16D}"/>
                </a:ext>
              </a:extLst>
            </p:cNvPr>
            <p:cNvCxnSpPr>
              <a:cxnSpLocks/>
            </p:cNvCxnSpPr>
            <p:nvPr/>
          </p:nvCxnSpPr>
          <p:spPr>
            <a:xfrm>
              <a:off x="8070138" y="1745980"/>
              <a:ext cx="179785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CB20562-B9F3-6CB2-B06C-F465C6F904AA}"/>
                </a:ext>
              </a:extLst>
            </p:cNvPr>
            <p:cNvCxnSpPr>
              <a:cxnSpLocks/>
            </p:cNvCxnSpPr>
            <p:nvPr/>
          </p:nvCxnSpPr>
          <p:spPr>
            <a:xfrm>
              <a:off x="8989017" y="1745980"/>
              <a:ext cx="179785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EA63FFF-C9B6-F849-1FE6-69D29EDD5B39}"/>
                </a:ext>
              </a:extLst>
            </p:cNvPr>
            <p:cNvGrpSpPr/>
            <p:nvPr/>
          </p:nvGrpSpPr>
          <p:grpSpPr>
            <a:xfrm>
              <a:off x="7357706" y="3172910"/>
              <a:ext cx="947917" cy="928606"/>
              <a:chOff x="6036867" y="2175042"/>
              <a:chExt cx="947917" cy="928606"/>
            </a:xfrm>
          </p:grpSpPr>
          <p:sp>
            <p:nvSpPr>
              <p:cNvPr id="140" name="Rectangle 139">
                <a:extLst>
                  <a:ext uri="{FF2B5EF4-FFF2-40B4-BE49-F238E27FC236}">
                    <a16:creationId xmlns:a16="http://schemas.microsoft.com/office/drawing/2014/main" id="{76174714-3F56-0D0E-646B-FE46AC7171B3}"/>
                  </a:ext>
                </a:extLst>
              </p:cNvPr>
              <p:cNvSpPr/>
              <p:nvPr/>
            </p:nvSpPr>
            <p:spPr>
              <a:xfrm>
                <a:off x="6201114" y="2175042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1" name="Oval 140">
                <a:extLst>
                  <a:ext uri="{FF2B5EF4-FFF2-40B4-BE49-F238E27FC236}">
                    <a16:creationId xmlns:a16="http://schemas.microsoft.com/office/drawing/2014/main" id="{78C7FC69-C0B4-C55C-F67F-50DB9574D177}"/>
                  </a:ext>
                </a:extLst>
              </p:cNvPr>
              <p:cNvSpPr/>
              <p:nvPr/>
            </p:nvSpPr>
            <p:spPr>
              <a:xfrm>
                <a:off x="6286998" y="2216852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2" name="Oval 141">
                <a:extLst>
                  <a:ext uri="{FF2B5EF4-FFF2-40B4-BE49-F238E27FC236}">
                    <a16:creationId xmlns:a16="http://schemas.microsoft.com/office/drawing/2014/main" id="{7560D994-A3EB-1E8A-A3E0-1B9BD80D6463}"/>
                  </a:ext>
                </a:extLst>
              </p:cNvPr>
              <p:cNvSpPr/>
              <p:nvPr/>
            </p:nvSpPr>
            <p:spPr>
              <a:xfrm>
                <a:off x="6663478" y="224799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3" name="Oval 142">
                <a:extLst>
                  <a:ext uri="{FF2B5EF4-FFF2-40B4-BE49-F238E27FC236}">
                    <a16:creationId xmlns:a16="http://schemas.microsoft.com/office/drawing/2014/main" id="{C7CE2F80-2ABA-118C-5D2D-F7FC9769ED4F}"/>
                  </a:ext>
                </a:extLst>
              </p:cNvPr>
              <p:cNvSpPr/>
              <p:nvPr/>
            </p:nvSpPr>
            <p:spPr>
              <a:xfrm>
                <a:off x="6736593" y="2500056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4" name="Oval 143">
                <a:extLst>
                  <a:ext uri="{FF2B5EF4-FFF2-40B4-BE49-F238E27FC236}">
                    <a16:creationId xmlns:a16="http://schemas.microsoft.com/office/drawing/2014/main" id="{C84EE174-F235-FE49-1F49-C235AC3ABF6E}"/>
                  </a:ext>
                </a:extLst>
              </p:cNvPr>
              <p:cNvSpPr/>
              <p:nvPr/>
            </p:nvSpPr>
            <p:spPr>
              <a:xfrm>
                <a:off x="6562703" y="264561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5" name="Oval 144">
                <a:extLst>
                  <a:ext uri="{FF2B5EF4-FFF2-40B4-BE49-F238E27FC236}">
                    <a16:creationId xmlns:a16="http://schemas.microsoft.com/office/drawing/2014/main" id="{72ADBF4A-6B02-89E2-2BF5-C8843328D708}"/>
                  </a:ext>
                </a:extLst>
              </p:cNvPr>
              <p:cNvSpPr/>
              <p:nvPr/>
            </p:nvSpPr>
            <p:spPr>
              <a:xfrm>
                <a:off x="6453935" y="2440759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46" name="Oval 145">
                <a:extLst>
                  <a:ext uri="{FF2B5EF4-FFF2-40B4-BE49-F238E27FC236}">
                    <a16:creationId xmlns:a16="http://schemas.microsoft.com/office/drawing/2014/main" id="{8E879636-E5DF-AA6D-6150-95D722882A90}"/>
                  </a:ext>
                </a:extLst>
              </p:cNvPr>
              <p:cNvSpPr/>
              <p:nvPr/>
            </p:nvSpPr>
            <p:spPr>
              <a:xfrm>
                <a:off x="6244054" y="2696874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147" name="Straight Connector 146">
                <a:extLst>
                  <a:ext uri="{FF2B5EF4-FFF2-40B4-BE49-F238E27FC236}">
                    <a16:creationId xmlns:a16="http://schemas.microsoft.com/office/drawing/2014/main" id="{0C500F9E-A2C9-39F1-2559-CD09309430C2}"/>
                  </a:ext>
                </a:extLst>
              </p:cNvPr>
              <p:cNvCxnSpPr>
                <a:cxnSpLocks/>
                <a:endCxn id="142" idx="2"/>
              </p:cNvCxnSpPr>
              <p:nvPr/>
            </p:nvCxnSpPr>
            <p:spPr>
              <a:xfrm>
                <a:off x="6344792" y="2247996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>
                <a:extLst>
                  <a:ext uri="{FF2B5EF4-FFF2-40B4-BE49-F238E27FC236}">
                    <a16:creationId xmlns:a16="http://schemas.microsoft.com/office/drawing/2014/main" id="{62652C63-86D0-A166-322A-6B998AAA374A}"/>
                  </a:ext>
                </a:extLst>
              </p:cNvPr>
              <p:cNvCxnSpPr>
                <a:cxnSpLocks/>
                <a:stCxn id="141" idx="5"/>
                <a:endCxn id="145" idx="1"/>
              </p:cNvCxnSpPr>
              <p:nvPr/>
            </p:nvCxnSpPr>
            <p:spPr>
              <a:xfrm>
                <a:off x="6333090" y="2262944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Straight Connector 148">
                <a:extLst>
                  <a:ext uri="{FF2B5EF4-FFF2-40B4-BE49-F238E27FC236}">
                    <a16:creationId xmlns:a16="http://schemas.microsoft.com/office/drawing/2014/main" id="{254D3E4F-C4F9-DF15-B681-451D9FDC2E11}"/>
                  </a:ext>
                </a:extLst>
              </p:cNvPr>
              <p:cNvCxnSpPr>
                <a:cxnSpLocks/>
                <a:stCxn id="142" idx="5"/>
                <a:endCxn id="143" idx="0"/>
              </p:cNvCxnSpPr>
              <p:nvPr/>
            </p:nvCxnSpPr>
            <p:spPr>
              <a:xfrm>
                <a:off x="6709570" y="2294088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Straight Connector 149">
                <a:extLst>
                  <a:ext uri="{FF2B5EF4-FFF2-40B4-BE49-F238E27FC236}">
                    <a16:creationId xmlns:a16="http://schemas.microsoft.com/office/drawing/2014/main" id="{9637CE63-5A3D-8079-442E-6FD4FB3363E4}"/>
                  </a:ext>
                </a:extLst>
              </p:cNvPr>
              <p:cNvCxnSpPr>
                <a:cxnSpLocks/>
                <a:stCxn id="143" idx="3"/>
                <a:endCxn id="144" idx="7"/>
              </p:cNvCxnSpPr>
              <p:nvPr/>
            </p:nvCxnSpPr>
            <p:spPr>
              <a:xfrm flipH="1">
                <a:off x="6608795" y="2546148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Connector 150">
                <a:extLst>
                  <a:ext uri="{FF2B5EF4-FFF2-40B4-BE49-F238E27FC236}">
                    <a16:creationId xmlns:a16="http://schemas.microsoft.com/office/drawing/2014/main" id="{BFD08AE3-9EC5-4BF6-37E8-61F321EF6629}"/>
                  </a:ext>
                </a:extLst>
              </p:cNvPr>
              <p:cNvCxnSpPr>
                <a:cxnSpLocks/>
                <a:stCxn id="144" idx="2"/>
                <a:endCxn id="146" idx="6"/>
              </p:cNvCxnSpPr>
              <p:nvPr/>
            </p:nvCxnSpPr>
            <p:spPr>
              <a:xfrm flipH="1">
                <a:off x="6298054" y="2672617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Straight Connector 151">
                <a:extLst>
                  <a:ext uri="{FF2B5EF4-FFF2-40B4-BE49-F238E27FC236}">
                    <a16:creationId xmlns:a16="http://schemas.microsoft.com/office/drawing/2014/main" id="{4C87D99A-5CBC-4171-7ED0-38A01EC32BE2}"/>
                  </a:ext>
                </a:extLst>
              </p:cNvPr>
              <p:cNvCxnSpPr>
                <a:cxnSpLocks/>
                <a:stCxn id="146" idx="0"/>
                <a:endCxn id="141" idx="4"/>
              </p:cNvCxnSpPr>
              <p:nvPr/>
            </p:nvCxnSpPr>
            <p:spPr>
              <a:xfrm flipV="1">
                <a:off x="6271054" y="2270852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>
                <a:extLst>
                  <a:ext uri="{FF2B5EF4-FFF2-40B4-BE49-F238E27FC236}">
                    <a16:creationId xmlns:a16="http://schemas.microsoft.com/office/drawing/2014/main" id="{23DD2A5A-126C-63E8-DC2D-B2FA7E919DB7}"/>
                  </a:ext>
                </a:extLst>
              </p:cNvPr>
              <p:cNvCxnSpPr>
                <a:cxnSpLocks/>
                <a:stCxn id="146" idx="7"/>
                <a:endCxn id="145" idx="3"/>
              </p:cNvCxnSpPr>
              <p:nvPr/>
            </p:nvCxnSpPr>
            <p:spPr>
              <a:xfrm flipV="1">
                <a:off x="6290146" y="2486851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Straight Connector 153">
                <a:extLst>
                  <a:ext uri="{FF2B5EF4-FFF2-40B4-BE49-F238E27FC236}">
                    <a16:creationId xmlns:a16="http://schemas.microsoft.com/office/drawing/2014/main" id="{E9DC811D-4E0B-3FB0-3CEF-31CA5103D88E}"/>
                  </a:ext>
                </a:extLst>
              </p:cNvPr>
              <p:cNvCxnSpPr>
                <a:cxnSpLocks/>
                <a:stCxn id="144" idx="1"/>
                <a:endCxn id="145" idx="5"/>
              </p:cNvCxnSpPr>
              <p:nvPr/>
            </p:nvCxnSpPr>
            <p:spPr>
              <a:xfrm flipH="1" flipV="1">
                <a:off x="6500027" y="2486851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>
                <a:extLst>
                  <a:ext uri="{FF2B5EF4-FFF2-40B4-BE49-F238E27FC236}">
                    <a16:creationId xmlns:a16="http://schemas.microsoft.com/office/drawing/2014/main" id="{1010DE7D-3CB3-ECDC-2D4C-C0A70A7E6098}"/>
                  </a:ext>
                </a:extLst>
              </p:cNvPr>
              <p:cNvCxnSpPr>
                <a:cxnSpLocks/>
                <a:stCxn id="145" idx="7"/>
                <a:endCxn id="142" idx="3"/>
              </p:cNvCxnSpPr>
              <p:nvPr/>
            </p:nvCxnSpPr>
            <p:spPr>
              <a:xfrm flipV="1">
                <a:off x="6500027" y="2294088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8C4EA56D-13CA-61A0-C056-23475162066E}"/>
                  </a:ext>
                </a:extLst>
              </p:cNvPr>
              <p:cNvSpPr/>
              <p:nvPr/>
            </p:nvSpPr>
            <p:spPr>
              <a:xfrm>
                <a:off x="6087688" y="2936704"/>
                <a:ext cx="828000" cy="166944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57" name="TextBox 156">
                <a:extLst>
                  <a:ext uri="{FF2B5EF4-FFF2-40B4-BE49-F238E27FC236}">
                    <a16:creationId xmlns:a16="http://schemas.microsoft.com/office/drawing/2014/main" id="{02D99755-EB3B-F53B-733D-1C22F9DDC6A8}"/>
                  </a:ext>
                </a:extLst>
              </p:cNvPr>
              <p:cNvSpPr txBox="1"/>
              <p:nvPr/>
            </p:nvSpPr>
            <p:spPr>
              <a:xfrm>
                <a:off x="6036867" y="2778484"/>
                <a:ext cx="947917" cy="230832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900" dirty="0">
                    <a:latin typeface="Arial" panose="020B0604020202020204" pitchFamily="34" charset="0"/>
                    <a:cs typeface="Arial" panose="020B0604020202020204" pitchFamily="34" charset="0"/>
                  </a:rPr>
                  <a:t>Problem instance</a:t>
                </a:r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AF246CBD-173C-587D-9B0D-13AA5EEA1C5E}"/>
                </a:ext>
              </a:extLst>
            </p:cNvPr>
            <p:cNvGrpSpPr/>
            <p:nvPr/>
          </p:nvGrpSpPr>
          <p:grpSpPr>
            <a:xfrm>
              <a:off x="8385791" y="3643448"/>
              <a:ext cx="970671" cy="1286124"/>
              <a:chOff x="8205212" y="1289082"/>
              <a:chExt cx="970671" cy="1267956"/>
            </a:xfrm>
          </p:grpSpPr>
          <p:pic>
            <p:nvPicPr>
              <p:cNvPr id="138" name="Picture 137" descr="A black background with a black square&#10;&#10;Description automatically generated with medium confidence">
                <a:extLst>
                  <a:ext uri="{FF2B5EF4-FFF2-40B4-BE49-F238E27FC236}">
                    <a16:creationId xmlns:a16="http://schemas.microsoft.com/office/drawing/2014/main" id="{0F02019F-C40D-4D55-8EA0-F7D043808B1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418829" y="1289082"/>
                <a:ext cx="561413" cy="561413"/>
              </a:xfrm>
              <a:prstGeom prst="rect">
                <a:avLst/>
              </a:prstGeom>
            </p:spPr>
          </p:pic>
          <p:sp>
            <p:nvSpPr>
              <p:cNvPr id="139" name="TextBox 138">
                <a:extLst>
                  <a:ext uri="{FF2B5EF4-FFF2-40B4-BE49-F238E27FC236}">
                    <a16:creationId xmlns:a16="http://schemas.microsoft.com/office/drawing/2014/main" id="{C3802739-1ED4-7A3E-B171-1FAE2CBC7F77}"/>
                  </a:ext>
                </a:extLst>
              </p:cNvPr>
              <p:cNvSpPr txBox="1"/>
              <p:nvPr/>
            </p:nvSpPr>
            <p:spPr>
              <a:xfrm>
                <a:off x="8205212" y="1859151"/>
                <a:ext cx="970671" cy="697887"/>
              </a:xfrm>
              <a:prstGeom prst="rect">
                <a:avLst/>
              </a:prstGeom>
              <a:noFill/>
            </p:spPr>
            <p:txBody>
              <a:bodyPr wrap="square" lIns="18000" rIns="18000" rtlCol="0">
                <a:spAutoFit/>
              </a:bodyPr>
              <a:lstStyle/>
              <a:p>
                <a:pPr algn="ctr"/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Denoising Diffusion</a:t>
                </a: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+ Conditioning</a:t>
                </a: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b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</a:br>
                <a:r>
                  <a:rPr lang="en-AT" sz="800" dirty="0">
                    <a:latin typeface="Arial" panose="020B0604020202020204" pitchFamily="34" charset="0"/>
                    <a:cs typeface="Arial" panose="020B0604020202020204" pitchFamily="34" charset="0"/>
                  </a:rPr>
                  <a:t>Trained on “optimal recombinations”</a:t>
                </a:r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4CF99E5A-7473-2455-BAC8-88D881AF8B71}"/>
                </a:ext>
              </a:extLst>
            </p:cNvPr>
            <p:cNvGrpSpPr/>
            <p:nvPr/>
          </p:nvGrpSpPr>
          <p:grpSpPr>
            <a:xfrm>
              <a:off x="9499904" y="3550048"/>
              <a:ext cx="635430" cy="619932"/>
              <a:chOff x="7139553" y="3659123"/>
              <a:chExt cx="635430" cy="619932"/>
            </a:xfrm>
          </p:grpSpPr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889D9A0C-0B8A-FA77-A056-68ABCF31E495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F1F5DFEB-E171-F46C-8468-E9A649499C73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CD58C235-10D3-5AA0-AE86-889F11464B20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F1A8A7E2-7D17-952A-DB7D-E6AAE33E6F8B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307ECA6E-F887-4739-ACFE-13CC268A957A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27" name="Oval 126">
                <a:extLst>
                  <a:ext uri="{FF2B5EF4-FFF2-40B4-BE49-F238E27FC236}">
                    <a16:creationId xmlns:a16="http://schemas.microsoft.com/office/drawing/2014/main" id="{FA057032-CB9D-E578-272E-74ADFDDF1455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D2100B68-3EF0-2E5D-6A5B-5040FD7B36F3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129" name="Straight Connector 128">
                <a:extLst>
                  <a:ext uri="{FF2B5EF4-FFF2-40B4-BE49-F238E27FC236}">
                    <a16:creationId xmlns:a16="http://schemas.microsoft.com/office/drawing/2014/main" id="{A7A224FF-2323-40DF-B98F-4AE5CC8053F5}"/>
                  </a:ext>
                </a:extLst>
              </p:cNvPr>
              <p:cNvCxnSpPr>
                <a:cxnSpLocks/>
                <a:endCxn id="124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Connector 129">
                <a:extLst>
                  <a:ext uri="{FF2B5EF4-FFF2-40B4-BE49-F238E27FC236}">
                    <a16:creationId xmlns:a16="http://schemas.microsoft.com/office/drawing/2014/main" id="{9527979F-E19E-B7C6-03E4-787010277DAE}"/>
                  </a:ext>
                </a:extLst>
              </p:cNvPr>
              <p:cNvCxnSpPr>
                <a:cxnSpLocks/>
                <a:stCxn id="123" idx="5"/>
                <a:endCxn id="127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Straight Connector 130">
                <a:extLst>
                  <a:ext uri="{FF2B5EF4-FFF2-40B4-BE49-F238E27FC236}">
                    <a16:creationId xmlns:a16="http://schemas.microsoft.com/office/drawing/2014/main" id="{A1A1E9EE-A123-89C1-606F-0947EF6A4304}"/>
                  </a:ext>
                </a:extLst>
              </p:cNvPr>
              <p:cNvCxnSpPr>
                <a:cxnSpLocks/>
                <a:stCxn id="124" idx="5"/>
                <a:endCxn id="125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2" name="Straight Connector 131">
                <a:extLst>
                  <a:ext uri="{FF2B5EF4-FFF2-40B4-BE49-F238E27FC236}">
                    <a16:creationId xmlns:a16="http://schemas.microsoft.com/office/drawing/2014/main" id="{B5731166-0C21-7640-8765-CF35205CA0BD}"/>
                  </a:ext>
                </a:extLst>
              </p:cNvPr>
              <p:cNvCxnSpPr>
                <a:cxnSpLocks/>
                <a:stCxn id="125" idx="3"/>
                <a:endCxn id="126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3" name="Straight Connector 132">
                <a:extLst>
                  <a:ext uri="{FF2B5EF4-FFF2-40B4-BE49-F238E27FC236}">
                    <a16:creationId xmlns:a16="http://schemas.microsoft.com/office/drawing/2014/main" id="{06B7CDC3-2A9D-0F22-7032-2696E90A48C8}"/>
                  </a:ext>
                </a:extLst>
              </p:cNvPr>
              <p:cNvCxnSpPr>
                <a:cxnSpLocks/>
                <a:stCxn id="126" idx="2"/>
                <a:endCxn id="128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>
                <a:extLst>
                  <a:ext uri="{FF2B5EF4-FFF2-40B4-BE49-F238E27FC236}">
                    <a16:creationId xmlns:a16="http://schemas.microsoft.com/office/drawing/2014/main" id="{79534CB4-E0A6-0342-BC87-32234FBA4A0B}"/>
                  </a:ext>
                </a:extLst>
              </p:cNvPr>
              <p:cNvCxnSpPr>
                <a:cxnSpLocks/>
                <a:stCxn id="128" idx="0"/>
                <a:endCxn id="123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>
                <a:extLst>
                  <a:ext uri="{FF2B5EF4-FFF2-40B4-BE49-F238E27FC236}">
                    <a16:creationId xmlns:a16="http://schemas.microsoft.com/office/drawing/2014/main" id="{90C397A5-665C-FF3F-DF61-1FA79AF9F8B6}"/>
                  </a:ext>
                </a:extLst>
              </p:cNvPr>
              <p:cNvCxnSpPr>
                <a:cxnSpLocks/>
                <a:stCxn id="128" idx="7"/>
                <a:endCxn id="127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>
                <a:extLst>
                  <a:ext uri="{FF2B5EF4-FFF2-40B4-BE49-F238E27FC236}">
                    <a16:creationId xmlns:a16="http://schemas.microsoft.com/office/drawing/2014/main" id="{336956A8-F9F2-D60F-E94B-D826E3DE08FE}"/>
                  </a:ext>
                </a:extLst>
              </p:cNvPr>
              <p:cNvCxnSpPr>
                <a:cxnSpLocks/>
                <a:stCxn id="126" idx="1"/>
                <a:endCxn id="127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>
                <a:extLst>
                  <a:ext uri="{FF2B5EF4-FFF2-40B4-BE49-F238E27FC236}">
                    <a16:creationId xmlns:a16="http://schemas.microsoft.com/office/drawing/2014/main" id="{8F216D32-5E68-FFD9-4D7F-A3C3CEC5B598}"/>
                  </a:ext>
                </a:extLst>
              </p:cNvPr>
              <p:cNvCxnSpPr>
                <a:cxnSpLocks/>
                <a:stCxn id="127" idx="7"/>
                <a:endCxn id="124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A7C999F-3DF3-44E9-FF15-4020BCA02DD6}"/>
                </a:ext>
              </a:extLst>
            </p:cNvPr>
            <p:cNvGrpSpPr/>
            <p:nvPr/>
          </p:nvGrpSpPr>
          <p:grpSpPr>
            <a:xfrm>
              <a:off x="9650844" y="3676744"/>
              <a:ext cx="635430" cy="619932"/>
              <a:chOff x="7139553" y="3659123"/>
              <a:chExt cx="635430" cy="619932"/>
            </a:xfrm>
          </p:grpSpPr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75D243B8-7644-6098-E63A-8C54263B549B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07" name="Oval 106">
                <a:extLst>
                  <a:ext uri="{FF2B5EF4-FFF2-40B4-BE49-F238E27FC236}">
                    <a16:creationId xmlns:a16="http://schemas.microsoft.com/office/drawing/2014/main" id="{73BC7CDB-4416-ADBA-3CFA-0C7E78187976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69E6E5F9-6C5C-D94E-4562-454F17E6A0DC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64F75378-F95F-AAEB-DD49-5782D84DE086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499303D0-6B7C-E4A6-4736-13C5FC8A349D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BFF7EC7E-9B34-F820-B6AA-B9CCA3A93A11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3B87D9A8-3522-B4CB-57AD-4E85FF70C5F1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 dirty="0"/>
              </a:p>
            </p:txBody>
          </p: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55B383E2-113C-1A44-042B-ABBBC02CDCEB}"/>
                  </a:ext>
                </a:extLst>
              </p:cNvPr>
              <p:cNvCxnSpPr>
                <a:cxnSpLocks/>
                <a:endCxn id="108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40D96600-5CD4-64AE-DE65-FFE0BF82EB8E}"/>
                  </a:ext>
                </a:extLst>
              </p:cNvPr>
              <p:cNvCxnSpPr>
                <a:cxnSpLocks/>
                <a:stCxn id="107" idx="5"/>
                <a:endCxn id="111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241EDCB-348C-2623-033E-046028442B45}"/>
                  </a:ext>
                </a:extLst>
              </p:cNvPr>
              <p:cNvCxnSpPr>
                <a:cxnSpLocks/>
                <a:stCxn id="108" idx="5"/>
                <a:endCxn id="109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269ECEE2-611D-8E5D-C2C4-F0933E1D6E36}"/>
                  </a:ext>
                </a:extLst>
              </p:cNvPr>
              <p:cNvCxnSpPr>
                <a:cxnSpLocks/>
                <a:stCxn id="109" idx="3"/>
                <a:endCxn id="110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C29558CB-18F0-B661-109D-020494DA409E}"/>
                  </a:ext>
                </a:extLst>
              </p:cNvPr>
              <p:cNvCxnSpPr>
                <a:cxnSpLocks/>
                <a:stCxn id="110" idx="2"/>
                <a:endCxn id="112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C10A7D22-F6AE-0B3C-1918-E467CE0DFE3D}"/>
                  </a:ext>
                </a:extLst>
              </p:cNvPr>
              <p:cNvCxnSpPr>
                <a:cxnSpLocks/>
                <a:stCxn id="112" idx="0"/>
                <a:endCxn id="107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436DC9F0-82D6-A175-2118-D68F887C4133}"/>
                  </a:ext>
                </a:extLst>
              </p:cNvPr>
              <p:cNvCxnSpPr>
                <a:cxnSpLocks/>
                <a:stCxn id="112" idx="7"/>
                <a:endCxn id="111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E7BF7EE-D252-CF86-19EC-9D4E49ECCC5B}"/>
                  </a:ext>
                </a:extLst>
              </p:cNvPr>
              <p:cNvCxnSpPr>
                <a:cxnSpLocks/>
                <a:stCxn id="110" idx="1"/>
                <a:endCxn id="111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1" name="Straight Connector 120">
                <a:extLst>
                  <a:ext uri="{FF2B5EF4-FFF2-40B4-BE49-F238E27FC236}">
                    <a16:creationId xmlns:a16="http://schemas.microsoft.com/office/drawing/2014/main" id="{17C6C9AD-FE11-D22B-8C8E-E24EACDB86DB}"/>
                  </a:ext>
                </a:extLst>
              </p:cNvPr>
              <p:cNvCxnSpPr>
                <a:cxnSpLocks/>
                <a:stCxn id="111" idx="7"/>
                <a:endCxn id="108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2988CB52-1601-AB6B-4FE6-826B10D388F6}"/>
                </a:ext>
              </a:extLst>
            </p:cNvPr>
            <p:cNvSpPr/>
            <p:nvPr/>
          </p:nvSpPr>
          <p:spPr>
            <a:xfrm>
              <a:off x="7274806" y="3087638"/>
              <a:ext cx="3101119" cy="2097248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solid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T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E9B04419-132A-F2E9-A1E9-18C9E3200342}"/>
                </a:ext>
              </a:extLst>
            </p:cNvPr>
            <p:cNvSpPr txBox="1"/>
            <p:nvPr/>
          </p:nvSpPr>
          <p:spPr>
            <a:xfrm>
              <a:off x="7809962" y="2852484"/>
              <a:ext cx="2091264" cy="230832"/>
            </a:xfrm>
            <a:prstGeom prst="rect">
              <a:avLst/>
            </a:prstGeom>
            <a:noFill/>
          </p:spPr>
          <p:txBody>
            <a:bodyPr wrap="square" rIns="0" rtlCol="0">
              <a:spAutoFit/>
            </a:bodyPr>
            <a:lstStyle/>
            <a:p>
              <a:pPr algn="ctr"/>
              <a:r>
                <a:rPr lang="en-AT" sz="900" b="1" dirty="0">
                  <a:latin typeface="Arial" panose="020B0604020202020204" pitchFamily="34" charset="0"/>
                  <a:cs typeface="Arial" panose="020B0604020202020204" pitchFamily="34" charset="0"/>
                </a:rPr>
                <a:t>Diffusion-Based Recombination</a:t>
              </a:r>
            </a:p>
          </p:txBody>
        </p: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1812EBC7-9F03-80FF-3271-47E7601EB4F7}"/>
                </a:ext>
              </a:extLst>
            </p:cNvPr>
            <p:cNvCxnSpPr>
              <a:cxnSpLocks/>
            </p:cNvCxnSpPr>
            <p:nvPr/>
          </p:nvCxnSpPr>
          <p:spPr>
            <a:xfrm>
              <a:off x="8252719" y="4016014"/>
              <a:ext cx="240828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5B5D4AD8-4C37-F28D-85AD-47FCC51B30C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168802" y="4016014"/>
              <a:ext cx="237473" cy="0"/>
            </a:xfrm>
            <a:prstGeom prst="straightConnector1">
              <a:avLst/>
            </a:prstGeom>
            <a:ln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C46B5B54-4F45-63DD-E5FC-944E9161927D}"/>
                </a:ext>
              </a:extLst>
            </p:cNvPr>
            <p:cNvSpPr txBox="1"/>
            <p:nvPr/>
          </p:nvSpPr>
          <p:spPr>
            <a:xfrm>
              <a:off x="9406275" y="4281903"/>
              <a:ext cx="988832" cy="507831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algn="ctr"/>
              <a:r>
                <a:rPr lang="en-AT" sz="900" dirty="0">
                  <a:latin typeface="Arial" panose="020B0604020202020204" pitchFamily="34" charset="0"/>
                  <a:cs typeface="Arial" panose="020B0604020202020204" pitchFamily="34" charset="0"/>
                </a:rPr>
                <a:t>High-quality recombined solutions</a:t>
              </a:r>
            </a:p>
          </p:txBody>
        </p:sp>
        <p:grpSp>
          <p:nvGrpSpPr>
            <p:cNvPr id="69" name="Group 68">
              <a:extLst>
                <a:ext uri="{FF2B5EF4-FFF2-40B4-BE49-F238E27FC236}">
                  <a16:creationId xmlns:a16="http://schemas.microsoft.com/office/drawing/2014/main" id="{0EC76874-4F2F-C481-6306-5A87A3C2E5EA}"/>
                </a:ext>
              </a:extLst>
            </p:cNvPr>
            <p:cNvGrpSpPr/>
            <p:nvPr/>
          </p:nvGrpSpPr>
          <p:grpSpPr>
            <a:xfrm>
              <a:off x="7475207" y="4118152"/>
              <a:ext cx="635430" cy="619932"/>
              <a:chOff x="7139553" y="3659123"/>
              <a:chExt cx="635430" cy="619932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4D4BF94E-D3B3-90B3-0CDB-AF889B4A3030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1" name="Oval 90">
                <a:extLst>
                  <a:ext uri="{FF2B5EF4-FFF2-40B4-BE49-F238E27FC236}">
                    <a16:creationId xmlns:a16="http://schemas.microsoft.com/office/drawing/2014/main" id="{3F83DC00-87FD-5CAF-0B9B-5AC7F802B6F6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2" name="Oval 91">
                <a:extLst>
                  <a:ext uri="{FF2B5EF4-FFF2-40B4-BE49-F238E27FC236}">
                    <a16:creationId xmlns:a16="http://schemas.microsoft.com/office/drawing/2014/main" id="{F731728D-6D8C-2921-D5D2-7C68F07F8366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3" name="Oval 92">
                <a:extLst>
                  <a:ext uri="{FF2B5EF4-FFF2-40B4-BE49-F238E27FC236}">
                    <a16:creationId xmlns:a16="http://schemas.microsoft.com/office/drawing/2014/main" id="{1969FE08-2DA0-DFD0-9AD0-98B6DD18610E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A0E65161-859A-21C8-392F-444B6F744E5E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2FCF36E4-FF5F-73C6-F3A5-103CE2C34D61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rgbClr val="FFC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5A982A65-C541-DF75-A8B9-6648FF8D68E2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75693FC5-0FD0-5678-4A4A-2A245CB8FFF1}"/>
                  </a:ext>
                </a:extLst>
              </p:cNvPr>
              <p:cNvCxnSpPr>
                <a:cxnSpLocks/>
                <a:endCxn id="92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3C549E1D-FD73-81FF-5540-F90224715700}"/>
                  </a:ext>
                </a:extLst>
              </p:cNvPr>
              <p:cNvCxnSpPr>
                <a:cxnSpLocks/>
                <a:stCxn id="91" idx="5"/>
                <a:endCxn id="95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7747920B-2B99-3D71-97D7-F10BA2793773}"/>
                  </a:ext>
                </a:extLst>
              </p:cNvPr>
              <p:cNvCxnSpPr>
                <a:cxnSpLocks/>
                <a:stCxn id="92" idx="5"/>
                <a:endCxn id="93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49E482A9-9A60-C493-1BF5-CD46A98A4656}"/>
                  </a:ext>
                </a:extLst>
              </p:cNvPr>
              <p:cNvCxnSpPr>
                <a:cxnSpLocks/>
                <a:stCxn id="93" idx="3"/>
                <a:endCxn id="94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D0BFDD31-72DD-D6DD-03DB-BBED80610FD2}"/>
                  </a:ext>
                </a:extLst>
              </p:cNvPr>
              <p:cNvCxnSpPr>
                <a:cxnSpLocks/>
                <a:stCxn id="94" idx="2"/>
                <a:endCxn id="96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6484CB68-4B71-DA97-2299-411D979B760C}"/>
                  </a:ext>
                </a:extLst>
              </p:cNvPr>
              <p:cNvCxnSpPr>
                <a:cxnSpLocks/>
                <a:stCxn id="96" idx="0"/>
                <a:endCxn id="91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8F8E9D61-4AA1-1721-C7E6-AC6EDD15490E}"/>
                  </a:ext>
                </a:extLst>
              </p:cNvPr>
              <p:cNvCxnSpPr>
                <a:cxnSpLocks/>
                <a:stCxn id="96" idx="7"/>
                <a:endCxn id="95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230BC194-593B-5F0A-4DFE-AF2C688A26AB}"/>
                  </a:ext>
                </a:extLst>
              </p:cNvPr>
              <p:cNvCxnSpPr>
                <a:cxnSpLocks/>
                <a:stCxn id="94" idx="1"/>
                <a:endCxn id="95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281306A0-8C7C-753E-3F13-39DA1E8DE029}"/>
                  </a:ext>
                </a:extLst>
              </p:cNvPr>
              <p:cNvCxnSpPr>
                <a:cxnSpLocks/>
                <a:stCxn id="95" idx="7"/>
                <a:endCxn id="92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F0E770A0-5C4A-2361-4235-AC629D587FEE}"/>
                </a:ext>
              </a:extLst>
            </p:cNvPr>
            <p:cNvGrpSpPr/>
            <p:nvPr/>
          </p:nvGrpSpPr>
          <p:grpSpPr>
            <a:xfrm>
              <a:off x="7626147" y="4208272"/>
              <a:ext cx="635430" cy="619932"/>
              <a:chOff x="7139553" y="3659123"/>
              <a:chExt cx="635430" cy="619932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05A8BFE2-CE9A-B68F-6E57-4AEA445E4BD8}"/>
                  </a:ext>
                </a:extLst>
              </p:cNvPr>
              <p:cNvSpPr/>
              <p:nvPr/>
            </p:nvSpPr>
            <p:spPr>
              <a:xfrm>
                <a:off x="7139553" y="3659123"/>
                <a:ext cx="635430" cy="61993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5" name="Oval 74">
                <a:extLst>
                  <a:ext uri="{FF2B5EF4-FFF2-40B4-BE49-F238E27FC236}">
                    <a16:creationId xmlns:a16="http://schemas.microsoft.com/office/drawing/2014/main" id="{DBABE659-99D4-7BCB-3877-4021BE39806D}"/>
                  </a:ext>
                </a:extLst>
              </p:cNvPr>
              <p:cNvSpPr/>
              <p:nvPr/>
            </p:nvSpPr>
            <p:spPr>
              <a:xfrm>
                <a:off x="7225437" y="3700933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24089DE2-F637-47AA-3785-C7EB98861FD3}"/>
                  </a:ext>
                </a:extLst>
              </p:cNvPr>
              <p:cNvSpPr/>
              <p:nvPr/>
            </p:nvSpPr>
            <p:spPr>
              <a:xfrm>
                <a:off x="7601917" y="3732077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FEF967BE-E193-C6AF-63B7-E9D48D1CB21F}"/>
                  </a:ext>
                </a:extLst>
              </p:cNvPr>
              <p:cNvSpPr/>
              <p:nvPr/>
            </p:nvSpPr>
            <p:spPr>
              <a:xfrm>
                <a:off x="7675032" y="3984137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1D4BA71B-BF0B-36C0-251E-69AEAC97903D}"/>
                  </a:ext>
                </a:extLst>
              </p:cNvPr>
              <p:cNvSpPr/>
              <p:nvPr/>
            </p:nvSpPr>
            <p:spPr>
              <a:xfrm>
                <a:off x="7501142" y="4129698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98BEFC86-85E7-DD72-2192-BB333B5452F9}"/>
                  </a:ext>
                </a:extLst>
              </p:cNvPr>
              <p:cNvSpPr/>
              <p:nvPr/>
            </p:nvSpPr>
            <p:spPr>
              <a:xfrm>
                <a:off x="7392374" y="3924840"/>
                <a:ext cx="54000" cy="54000"/>
              </a:xfrm>
              <a:prstGeom prst="ellipse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>
                  <a:solidFill>
                    <a:schemeClr val="tx1"/>
                  </a:solidFill>
                </a:endParaRPr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80738E67-3C0E-934D-4CF8-F3E5D0D97BFC}"/>
                  </a:ext>
                </a:extLst>
              </p:cNvPr>
              <p:cNvSpPr/>
              <p:nvPr/>
            </p:nvSpPr>
            <p:spPr>
              <a:xfrm>
                <a:off x="7182493" y="4180955"/>
                <a:ext cx="54000" cy="54000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T"/>
              </a:p>
            </p:txBody>
          </p: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DB28E3D-D6C2-535A-90AD-788DCBD501BE}"/>
                  </a:ext>
                </a:extLst>
              </p:cNvPr>
              <p:cNvCxnSpPr>
                <a:cxnSpLocks/>
                <a:endCxn id="76" idx="2"/>
              </p:cNvCxnSpPr>
              <p:nvPr/>
            </p:nvCxnSpPr>
            <p:spPr>
              <a:xfrm>
                <a:off x="7283231" y="3732077"/>
                <a:ext cx="318686" cy="27000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E1348283-5D26-F999-D5C4-EDD90FC17446}"/>
                  </a:ext>
                </a:extLst>
              </p:cNvPr>
              <p:cNvCxnSpPr>
                <a:cxnSpLocks/>
                <a:stCxn id="75" idx="5"/>
                <a:endCxn id="79" idx="1"/>
              </p:cNvCxnSpPr>
              <p:nvPr/>
            </p:nvCxnSpPr>
            <p:spPr>
              <a:xfrm>
                <a:off x="7271529" y="3747025"/>
                <a:ext cx="128753" cy="185723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6489C3C-E9BA-0A7A-B953-CF7439AA9798}"/>
                  </a:ext>
                </a:extLst>
              </p:cNvPr>
              <p:cNvCxnSpPr>
                <a:cxnSpLocks/>
                <a:stCxn id="76" idx="5"/>
                <a:endCxn id="77" idx="0"/>
              </p:cNvCxnSpPr>
              <p:nvPr/>
            </p:nvCxnSpPr>
            <p:spPr>
              <a:xfrm>
                <a:off x="7648009" y="3778169"/>
                <a:ext cx="54023" cy="205968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244B2EEC-4F98-3AE8-C4B6-49EDC389126A}"/>
                  </a:ext>
                </a:extLst>
              </p:cNvPr>
              <p:cNvCxnSpPr>
                <a:cxnSpLocks/>
                <a:stCxn id="77" idx="3"/>
                <a:endCxn id="78" idx="7"/>
              </p:cNvCxnSpPr>
              <p:nvPr/>
            </p:nvCxnSpPr>
            <p:spPr>
              <a:xfrm flipH="1">
                <a:off x="7547234" y="4030229"/>
                <a:ext cx="135706" cy="10737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9C3049DF-8445-D06F-8DD6-D8B5F6215FC2}"/>
                  </a:ext>
                </a:extLst>
              </p:cNvPr>
              <p:cNvCxnSpPr>
                <a:cxnSpLocks/>
                <a:stCxn id="78" idx="2"/>
                <a:endCxn id="80" idx="6"/>
              </p:cNvCxnSpPr>
              <p:nvPr/>
            </p:nvCxnSpPr>
            <p:spPr>
              <a:xfrm flipH="1">
                <a:off x="7236493" y="4156698"/>
                <a:ext cx="264649" cy="51257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94AA27B3-8092-B0E0-29B6-FE9F1BE5FD38}"/>
                  </a:ext>
                </a:extLst>
              </p:cNvPr>
              <p:cNvCxnSpPr>
                <a:cxnSpLocks/>
                <a:stCxn id="80" idx="0"/>
                <a:endCxn id="75" idx="4"/>
              </p:cNvCxnSpPr>
              <p:nvPr/>
            </p:nvCxnSpPr>
            <p:spPr>
              <a:xfrm flipV="1">
                <a:off x="7209493" y="3754933"/>
                <a:ext cx="42944" cy="426022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5869F0EA-42C6-BF46-1A65-B2A841751985}"/>
                  </a:ext>
                </a:extLst>
              </p:cNvPr>
              <p:cNvCxnSpPr>
                <a:cxnSpLocks/>
                <a:stCxn id="80" idx="7"/>
                <a:endCxn id="79" idx="3"/>
              </p:cNvCxnSpPr>
              <p:nvPr/>
            </p:nvCxnSpPr>
            <p:spPr>
              <a:xfrm flipV="1">
                <a:off x="7228585" y="3970932"/>
                <a:ext cx="171697" cy="217931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6FBE1330-12BA-BA54-27AB-CA79F8835257}"/>
                  </a:ext>
                </a:extLst>
              </p:cNvPr>
              <p:cNvCxnSpPr>
                <a:cxnSpLocks/>
                <a:stCxn id="78" idx="1"/>
                <a:endCxn id="79" idx="5"/>
              </p:cNvCxnSpPr>
              <p:nvPr/>
            </p:nvCxnSpPr>
            <p:spPr>
              <a:xfrm flipH="1" flipV="1">
                <a:off x="7438466" y="3970932"/>
                <a:ext cx="70584" cy="166674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B650F7D6-2306-C9A6-20EC-DE81872FEBF6}"/>
                  </a:ext>
                </a:extLst>
              </p:cNvPr>
              <p:cNvCxnSpPr>
                <a:cxnSpLocks/>
                <a:stCxn id="79" idx="7"/>
                <a:endCxn id="76" idx="3"/>
              </p:cNvCxnSpPr>
              <p:nvPr/>
            </p:nvCxnSpPr>
            <p:spPr>
              <a:xfrm flipV="1">
                <a:off x="7438466" y="3778169"/>
                <a:ext cx="171359" cy="154579"/>
              </a:xfrm>
              <a:prstGeom prst="line">
                <a:avLst/>
              </a:prstGeom>
              <a:ln w="19050">
                <a:solidFill>
                  <a:srgbClr val="C00000"/>
                </a:solidFill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1AA05D14-7E0A-479C-771B-BD40EF3E0058}"/>
                </a:ext>
              </a:extLst>
            </p:cNvPr>
            <p:cNvSpPr txBox="1"/>
            <p:nvPr/>
          </p:nvSpPr>
          <p:spPr>
            <a:xfrm>
              <a:off x="7424718" y="3887644"/>
              <a:ext cx="828001" cy="246221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algn="ctr"/>
              <a:r>
                <a:rPr lang="en-AT" sz="1000" dirty="0">
                  <a:latin typeface="Arial" panose="020B0604020202020204" pitchFamily="34" charset="0"/>
                  <a:cs typeface="Arial" panose="020B0604020202020204" pitchFamily="34" charset="0"/>
                </a:rPr>
                <a:t>+</a:t>
              </a: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289501AD-CECC-7643-AA08-37F7AE057A04}"/>
                </a:ext>
              </a:extLst>
            </p:cNvPr>
            <p:cNvSpPr txBox="1"/>
            <p:nvPr/>
          </p:nvSpPr>
          <p:spPr>
            <a:xfrm>
              <a:off x="7452504" y="4809758"/>
              <a:ext cx="828001" cy="369332"/>
            </a:xfrm>
            <a:prstGeom prst="rect">
              <a:avLst/>
            </a:prstGeom>
            <a:noFill/>
          </p:spPr>
          <p:txBody>
            <a:bodyPr wrap="square" lIns="18000" rIns="18000" rtlCol="0">
              <a:spAutoFit/>
            </a:bodyPr>
            <a:lstStyle/>
            <a:p>
              <a:pPr algn="ctr"/>
              <a:r>
                <a:rPr lang="en-AT" sz="900" dirty="0">
                  <a:latin typeface="Arial" panose="020B0604020202020204" pitchFamily="34" charset="0"/>
                  <a:cs typeface="Arial" panose="020B0604020202020204" pitchFamily="34" charset="0"/>
                </a:rPr>
                <a:t>Two solutions to combine</a:t>
              </a:r>
            </a:p>
          </p:txBody>
        </p: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A4CDE45B-660B-DD4E-8941-88E5490AF4A4}"/>
                </a:ext>
              </a:extLst>
            </p:cNvPr>
            <p:cNvCxnSpPr>
              <a:cxnSpLocks/>
              <a:endCxn id="51" idx="3"/>
            </p:cNvCxnSpPr>
            <p:nvPr/>
          </p:nvCxnSpPr>
          <p:spPr>
            <a:xfrm flipH="1" flipV="1">
              <a:off x="7382583" y="2910577"/>
              <a:ext cx="391537" cy="17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E394AB1-EAD7-EC27-155A-13F6B5A6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44653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Diffusion-Based Initialization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5875751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Sample a population of initial solutions from a pre-trained DIFUSCO model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Multi-modal property ensures diversity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Decode node probabilities into feasible solutions using a probability-biased greedy decoding</a:t>
            </a:r>
          </a:p>
          <a:p>
            <a:pPr lvl="1">
              <a:lnSpc>
                <a:spcPct val="150000"/>
              </a:lnSpc>
            </a:pPr>
            <a:r>
              <a:rPr lang="en-AT" sz="1600" dirty="0"/>
              <a:t>Sort by highest probability, and sequentially add to the IS respecting feasibility</a:t>
            </a:r>
          </a:p>
          <a:p>
            <a:pPr lvl="1">
              <a:lnSpc>
                <a:spcPct val="150000"/>
              </a:lnSpc>
            </a:pPr>
            <a:r>
              <a:rPr lang="en-AT" sz="1600" dirty="0"/>
              <a:t>Simple and the only problem-dependent component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00A996-629E-2BFF-971D-B46FC3938A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9558" y="1825624"/>
            <a:ext cx="4356100" cy="38481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7465DF8-5715-9F38-90F1-4F779E5230DB}"/>
              </a:ext>
            </a:extLst>
          </p:cNvPr>
          <p:cNvSpPr txBox="1"/>
          <p:nvPr/>
        </p:nvSpPr>
        <p:spPr>
          <a:xfrm>
            <a:off x="7717480" y="5750264"/>
            <a:ext cx="3457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sz="1400" dirty="0"/>
              <a:t>Multi-modal property of DIFUSCO in action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220D238-E2C8-3F8B-8FD3-A1E636347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284854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Diffusion-Based Recombination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6163848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T" sz="2000" dirty="0"/>
              <a:t>Train with Imitation Learning from Expert Demonstrator</a:t>
            </a:r>
          </a:p>
          <a:p>
            <a:pPr lvl="1">
              <a:lnSpc>
                <a:spcPct val="150000"/>
              </a:lnSpc>
            </a:pPr>
            <a:r>
              <a:rPr lang="en-AT" sz="1800" dirty="0"/>
              <a:t>use an ILP to generate offspring combining qualities from both parents</a:t>
            </a:r>
          </a:p>
          <a:p>
            <a:pPr lvl="1">
              <a:lnSpc>
                <a:spcPct val="150000"/>
              </a:lnSpc>
            </a:pPr>
            <a:r>
              <a:rPr lang="en-GB" sz="1800" dirty="0"/>
              <a:t>S</a:t>
            </a:r>
            <a:r>
              <a:rPr lang="en-AT" sz="1800" dirty="0"/>
              <a:t>low but high quality</a:t>
            </a:r>
            <a:endParaRPr lang="en-AT" sz="2000" dirty="0"/>
          </a:p>
          <a:p>
            <a:pPr>
              <a:lnSpc>
                <a:spcPct val="150000"/>
              </a:lnSpc>
            </a:pPr>
            <a:r>
              <a:rPr lang="en-AT" sz="2000" dirty="0"/>
              <a:t>We modify the DIFUSCO architecture to accept conditioning features</a:t>
            </a:r>
          </a:p>
          <a:p>
            <a:pPr>
              <a:lnSpc>
                <a:spcPct val="150000"/>
              </a:lnSpc>
            </a:pPr>
            <a:r>
              <a:rPr lang="en-AT" sz="2000" dirty="0"/>
              <a:t>Train on in-distribution examples: real EA trajectiories with the optimized recombination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CB42AA8-3270-643E-DD38-5D6103E2903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7868"/>
          <a:stretch/>
        </p:blipFill>
        <p:spPr>
          <a:xfrm>
            <a:off x="6618137" y="2536684"/>
            <a:ext cx="5040462" cy="2394232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AFC0D78-28E6-F860-B7E8-63E0DDFE3F46}"/>
              </a:ext>
            </a:extLst>
          </p:cNvPr>
          <p:cNvSpPr txBox="1"/>
          <p:nvPr/>
        </p:nvSpPr>
        <p:spPr>
          <a:xfrm>
            <a:off x="7409690" y="4983433"/>
            <a:ext cx="34573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T" sz="1400" dirty="0"/>
              <a:t>ILP for the expert demonstrator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4041EA-FF24-0EE3-1E23-F24F2D89A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27292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Experimental Setup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4"/>
            <a:ext cx="5788068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2000" dirty="0"/>
              <a:t>MISP on </a:t>
            </a:r>
            <a:r>
              <a:rPr lang="en-AU" sz="2000" dirty="0" err="1"/>
              <a:t>Erdős-Rényi</a:t>
            </a:r>
            <a:r>
              <a:rPr lang="en-AU" sz="2000" dirty="0"/>
              <a:t> (ER) graphs: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50-100 nodes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300–400 nodes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700-800 nodes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1300-1400 nodes (OOD evaluation)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Metrics: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Optimality gap to </a:t>
            </a:r>
            <a:r>
              <a:rPr lang="en-AU" sz="1800" dirty="0" err="1"/>
              <a:t>KaMIS</a:t>
            </a:r>
            <a:r>
              <a:rPr lang="en-AU" sz="1800" dirty="0"/>
              <a:t> solution =  1 – (</a:t>
            </a:r>
            <a:r>
              <a:rPr lang="en-AU" sz="1800" dirty="0" err="1"/>
              <a:t>KaMIS</a:t>
            </a:r>
            <a:r>
              <a:rPr lang="en-AU" sz="1800" dirty="0"/>
              <a:t> / x)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Cost = size of the independent set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B1215266-7C92-5DA3-42A5-F9A279F2D774}"/>
              </a:ext>
            </a:extLst>
          </p:cNvPr>
          <p:cNvSpPr txBox="1">
            <a:spLocks/>
          </p:cNvSpPr>
          <p:nvPr/>
        </p:nvSpPr>
        <p:spPr>
          <a:xfrm>
            <a:off x="6403932" y="1825624"/>
            <a:ext cx="5788068" cy="45133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AU" sz="2000" dirty="0"/>
              <a:t>Settings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Population size P = 16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Generations G = 20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Inference diffusion steps = 50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5683364-C358-5165-8A3A-122E15EF4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570403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Baselines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1999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2000" dirty="0"/>
              <a:t>DIFUSCO (multi-shot x4, x8, x32)</a:t>
            </a:r>
          </a:p>
          <a:p>
            <a:pPr>
              <a:lnSpc>
                <a:spcPct val="150000"/>
              </a:lnSpc>
            </a:pPr>
            <a:r>
              <a:rPr lang="en-AU" sz="2000" dirty="0" err="1"/>
              <a:t>KaMIS</a:t>
            </a:r>
            <a:r>
              <a:rPr lang="en-AU" sz="2000" dirty="0"/>
              <a:t> (60s time limit)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Gurobi (timed to avg time of DDEA) solving a standard MIS model</a:t>
            </a:r>
            <a:endParaRPr lang="en-AU" sz="2000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en-AU" sz="2000" dirty="0"/>
              <a:t>Ablation variants: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Randomized Greedy Initialization (RG Init) – replacing DIFUSCO initialization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Consensus-Divergence Crossover (CDX) – replacing diffusion recombination</a:t>
            </a:r>
          </a:p>
          <a:p>
            <a:pPr marL="0" indent="0">
              <a:lnSpc>
                <a:spcPct val="150000"/>
              </a:lnSpc>
              <a:buNone/>
            </a:pPr>
            <a:endParaRPr lang="en-AU" sz="2200" dirty="0"/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33ACA4-DBF4-9DE8-84C7-11F419F3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77121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Diffusion Recombination Evaluation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6593BE-BF98-9660-F23A-F3CF92D062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5901" y="1513388"/>
            <a:ext cx="8196596" cy="3075487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80DC2A-B2C8-32EE-97DA-AF510B5501AB}"/>
              </a:ext>
            </a:extLst>
          </p:cNvPr>
          <p:cNvSpPr/>
          <p:nvPr/>
        </p:nvSpPr>
        <p:spPr>
          <a:xfrm>
            <a:off x="478823" y="4827153"/>
            <a:ext cx="11234353" cy="1643600"/>
          </a:xfrm>
          <a:prstGeom prst="roundRect">
            <a:avLst>
              <a:gd name="adj" fmla="val 10680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Diffusion Recombination effectively approximates the expert operator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Clearly outperforms CDX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Cost monotonicity -&gt; better conditioning solutions increases offspring quality</a:t>
            </a:r>
            <a:endParaRPr lang="en-AT" sz="2000" dirty="0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8E2B61-8CD1-2ECC-AAA3-93A3A46B95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9731" y="1513388"/>
            <a:ext cx="8597337" cy="3122711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EE68F74-CB1B-B520-960D-5A28ECAE0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26719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DDEA Ablation Studies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80DC2A-B2C8-32EE-97DA-AF510B5501AB}"/>
              </a:ext>
            </a:extLst>
          </p:cNvPr>
          <p:cNvSpPr/>
          <p:nvPr/>
        </p:nvSpPr>
        <p:spPr>
          <a:xfrm>
            <a:off x="7152514" y="1493527"/>
            <a:ext cx="4823861" cy="4977226"/>
          </a:xfrm>
          <a:prstGeom prst="roundRect">
            <a:avLst>
              <a:gd name="adj" fmla="val 6785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Full DDEA achieves performance comparable to the EA with expert optimized recombination, reducing runtime per generation drastically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Full DDEA clearly outperforms the ablations -&gt; both diffusion operators are critical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Diffusion Recombination seems particularly important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1374ED-3BED-1908-0C05-014500A53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625" y="2119498"/>
            <a:ext cx="6673690" cy="3643125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2CE03C-36A4-B418-B403-165AA58D7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117764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DDEA vs DIFUSCO Under Different Time Budgets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D80DC2A-B2C8-32EE-97DA-AF510B5501AB}"/>
              </a:ext>
            </a:extLst>
          </p:cNvPr>
          <p:cNvSpPr/>
          <p:nvPr/>
        </p:nvSpPr>
        <p:spPr>
          <a:xfrm>
            <a:off x="517585" y="4793105"/>
            <a:ext cx="11195591" cy="1677648"/>
          </a:xfrm>
          <a:prstGeom prst="roundRect">
            <a:avLst>
              <a:gd name="adj" fmla="val 10680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-apple-system"/>
              </a:rPr>
              <a:t>DDEA demonstrates superior performance compared to DIFUSCO under reduced time budgets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-apple-system"/>
              </a:rPr>
              <a:t>DDEA converges earlier, and around a worse average cost than DIFUSCO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b="0" i="0" dirty="0">
                <a:solidFill>
                  <a:srgbClr val="000000"/>
                </a:solidFill>
                <a:effectLst/>
                <a:latin typeface="-apple-system"/>
              </a:rPr>
              <a:t>DIFUSCO surpasses DDEA in solution quality after a specific number of generations</a:t>
            </a:r>
          </a:p>
        </p:txBody>
      </p:sp>
      <p:sp>
        <p:nvSpPr>
          <p:cNvPr id="6" name="AutoShape 2">
            <a:extLst>
              <a:ext uri="{FF2B5EF4-FFF2-40B4-BE49-F238E27FC236}">
                <a16:creationId xmlns:a16="http://schemas.microsoft.com/office/drawing/2014/main" id="{10EE5CAF-FF52-EEB2-F9DD-AA87EF27AA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48400" y="3581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DCA9610-BF46-DA8E-12F6-1042FC93DC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3453" y="1428174"/>
            <a:ext cx="10020293" cy="334009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CC6277-494B-3F97-BB90-B08B51055D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126" y="1428174"/>
            <a:ext cx="9957620" cy="3319207"/>
          </a:xfrm>
          <a:prstGeom prst="rect">
            <a:avLst/>
          </a:prstGeom>
        </p:spPr>
      </p:pic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AA8A69-53B7-F305-B383-37FFCCBB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13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91990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DDEA vs Other Solvers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25F173-ECF6-7725-2730-9A44FD20C8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2645" y="1690688"/>
            <a:ext cx="6655689" cy="3282353"/>
          </a:xfrm>
          <a:prstGeom prst="rect">
            <a:avLst/>
          </a:prstGeom>
        </p:spPr>
      </p:pic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202AB25-28D1-BAC5-F481-9D9A2ABC0272}"/>
              </a:ext>
            </a:extLst>
          </p:cNvPr>
          <p:cNvSpPr/>
          <p:nvPr/>
        </p:nvSpPr>
        <p:spPr>
          <a:xfrm>
            <a:off x="517585" y="5231511"/>
            <a:ext cx="11195591" cy="1239241"/>
          </a:xfrm>
          <a:prstGeom prst="roundRect">
            <a:avLst>
              <a:gd name="adj" fmla="val 10680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DDEA outperforms </a:t>
            </a:r>
            <a:r>
              <a:rPr lang="en-GB" sz="2000" dirty="0" err="1">
                <a:solidFill>
                  <a:schemeClr val="tx1"/>
                </a:solidFill>
              </a:rPr>
              <a:t>Gurobi</a:t>
            </a:r>
            <a:r>
              <a:rPr lang="en-GB" sz="2000" dirty="0">
                <a:solidFill>
                  <a:schemeClr val="tx1"/>
                </a:solidFill>
              </a:rPr>
              <a:t> on larger instances under same time budget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DDEA does not beat </a:t>
            </a:r>
            <a:r>
              <a:rPr lang="en-GB" sz="2000" dirty="0" err="1">
                <a:solidFill>
                  <a:schemeClr val="tx1"/>
                </a:solidFill>
              </a:rPr>
              <a:t>KaMIS</a:t>
            </a:r>
            <a:r>
              <a:rPr lang="en-GB" sz="2000" dirty="0">
                <a:solidFill>
                  <a:schemeClr val="tx1"/>
                </a:solidFill>
              </a:rPr>
              <a:t>, which is the ground truth solver</a:t>
            </a:r>
            <a:endParaRPr lang="en-AT" sz="2000" dirty="0">
              <a:solidFill>
                <a:schemeClr val="tx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DE84B7D-21AF-0617-F649-3078C829D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37582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Summary and 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1999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2000" dirty="0"/>
              <a:t>Introduced DDEA: a Hybrid DDM + EA framework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Key components: Diffusion Initialization and Diffusion Recombination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Results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Beat DIFUSCO for small runtimes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But converge earlier to a worse objective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Beat Gurobi on large datasets with equal time budget</a:t>
            </a: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DA7F74-1F95-6DF0-CCE2-B0659AE7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24999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Summary and Conclusion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720BEEB-6342-FE67-796B-785CF65F46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1999" cy="451336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AU" sz="2000" dirty="0"/>
              <a:t>Limitations: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Runtime (dominated by diffusion inference). GPU parallelization benefits still to exploit.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Expensive Diffusion Recombination training data generation</a:t>
            </a:r>
          </a:p>
          <a:p>
            <a:pPr>
              <a:lnSpc>
                <a:spcPct val="150000"/>
              </a:lnSpc>
            </a:pPr>
            <a:r>
              <a:rPr lang="en-AU" sz="2000" dirty="0"/>
              <a:t>Improvements: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Expanded problem domains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GPU parallelization optimization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Cheaper training data generation pipeline</a:t>
            </a:r>
          </a:p>
          <a:p>
            <a:pPr lvl="1">
              <a:lnSpc>
                <a:spcPct val="150000"/>
              </a:lnSpc>
            </a:pPr>
            <a:r>
              <a:rPr lang="en-AU" sz="1800" dirty="0"/>
              <a:t>Advanced Diffusion-CO architectures (T2T, DISCO)</a:t>
            </a:r>
          </a:p>
          <a:p>
            <a:pPr lvl="1">
              <a:lnSpc>
                <a:spcPct val="150000"/>
              </a:lnSpc>
            </a:pPr>
            <a:endParaRPr lang="en-AU" sz="1800" dirty="0"/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FB036-CFAE-330E-E9F9-4E2005EEA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0190070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5E619-0947-260B-7D29-F1B6B1FCF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49959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AT" sz="3600" dirty="0">
                <a:latin typeface="+mn-lt"/>
              </a:rPr>
              <a:t>Questions?</a:t>
            </a:r>
          </a:p>
        </p:txBody>
      </p:sp>
      <p:sp>
        <p:nvSpPr>
          <p:cNvPr id="45" name="Rectangle 1">
            <a:extLst>
              <a:ext uri="{FF2B5EF4-FFF2-40B4-BE49-F238E27FC236}">
                <a16:creationId xmlns:a16="http://schemas.microsoft.com/office/drawing/2014/main" id="{302FED8C-A395-3AD5-6C1F-104557C548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AT" altLang="en-A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Sans Pro" panose="020F0502020204030204" pitchFamily="34" charset="0"/>
              </a:rPr>
            </a:br>
            <a:endParaRPr kumimoji="0" lang="en-AT" altLang="en-A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Rectangle 2">
            <a:extLst>
              <a:ext uri="{FF2B5EF4-FFF2-40B4-BE49-F238E27FC236}">
                <a16:creationId xmlns:a16="http://schemas.microsoft.com/office/drawing/2014/main" id="{8A49FAEC-55C3-0B2F-9904-64D0B5E1EC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" y="152400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AT" altLang="en-AT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Sans Pro" panose="020B0503030403020204" pitchFamily="34" charset="0"/>
              </a:rPr>
            </a:br>
            <a:endParaRPr kumimoji="0" lang="en-AT" altLang="en-AT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33BB848D-31ED-377C-A019-C12F933AD2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675" b="32309"/>
          <a:stretch/>
        </p:blipFill>
        <p:spPr bwMode="auto">
          <a:xfrm>
            <a:off x="7948640" y="5892164"/>
            <a:ext cx="4018085" cy="7152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Research">
            <a:extLst>
              <a:ext uri="{FF2B5EF4-FFF2-40B4-BE49-F238E27FC236}">
                <a16:creationId xmlns:a16="http://schemas.microsoft.com/office/drawing/2014/main" id="{29C2C945-EF89-25AD-20CD-DFB12529D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1337" y="5849796"/>
            <a:ext cx="2771313" cy="757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8B2BD4B-EAA3-4538-E34B-0974EDED3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9132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D9975-FF2A-29B3-859A-5C70216B6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T" sz="3600" dirty="0">
                <a:latin typeface="+mn-lt"/>
              </a:rPr>
              <a:t>Out-of-Distribution Generalization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64984F6-9614-AD9F-B2B4-E3DF0EB00B85}"/>
              </a:ext>
            </a:extLst>
          </p:cNvPr>
          <p:cNvSpPr/>
          <p:nvPr/>
        </p:nvSpPr>
        <p:spPr>
          <a:xfrm>
            <a:off x="838199" y="1345219"/>
            <a:ext cx="10512000" cy="360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solidFill>
                <a:schemeClr val="accent5">
                  <a:lumMod val="75000"/>
                </a:schemeClr>
              </a:solidFill>
            </a:endParaRPr>
          </a:p>
        </p:txBody>
      </p:sp>
      <p:sp>
        <p:nvSpPr>
          <p:cNvPr id="3" name="AutoShape 2" descr="Maximal independent set - Wikipedia">
            <a:extLst>
              <a:ext uri="{FF2B5EF4-FFF2-40B4-BE49-F238E27FC236}">
                <a16:creationId xmlns:a16="http://schemas.microsoft.com/office/drawing/2014/main" id="{AB845849-623E-E97E-88FE-3A34523E69A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sp>
        <p:nvSpPr>
          <p:cNvPr id="7" name="AutoShape 4" descr="Maximal independent set - Wikipedia">
            <a:extLst>
              <a:ext uri="{FF2B5EF4-FFF2-40B4-BE49-F238E27FC236}">
                <a16:creationId xmlns:a16="http://schemas.microsoft.com/office/drawing/2014/main" id="{80BE0F12-73DA-DB9E-42F1-CB603D9C914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T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AE96FBC-3827-BF00-1A23-31C87CF9EF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2568719"/>
            <a:ext cx="6032500" cy="19304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E671995-E605-3B07-3054-D95B4D5269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777" y="2965870"/>
            <a:ext cx="5863226" cy="2412943"/>
          </a:xfrm>
          <a:prstGeom prst="rect">
            <a:avLst/>
          </a:prstGeom>
        </p:spPr>
      </p:pic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C94C9748-1355-81EA-9E31-40F76F02136D}"/>
              </a:ext>
            </a:extLst>
          </p:cNvPr>
          <p:cNvSpPr/>
          <p:nvPr/>
        </p:nvSpPr>
        <p:spPr>
          <a:xfrm>
            <a:off x="7049664" y="2368505"/>
            <a:ext cx="4823861" cy="3144276"/>
          </a:xfrm>
          <a:prstGeom prst="roundRect">
            <a:avLst>
              <a:gd name="adj" fmla="val 6785"/>
            </a:avLst>
          </a:prstGeom>
          <a:solidFill>
            <a:srgbClr val="4472C4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DIFUSCO struggles, multi-shot provides little improvement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Full DDEA generalizes much better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1"/>
                </a:solidFill>
              </a:rPr>
              <a:t>However, gap to </a:t>
            </a:r>
            <a:r>
              <a:rPr lang="en-GB" sz="2000" dirty="0" err="1">
                <a:solidFill>
                  <a:schemeClr val="tx1"/>
                </a:solidFill>
              </a:rPr>
              <a:t>KaMIS</a:t>
            </a:r>
            <a:r>
              <a:rPr lang="en-GB" sz="2000" dirty="0">
                <a:solidFill>
                  <a:schemeClr val="tx1"/>
                </a:solidFill>
              </a:rPr>
              <a:t> is much bigger compared to in-distribution evaluation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065001-1C0C-B726-E40C-F64F2A7202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77BDE9-B9AA-4B6E-8236-46F44F092FC0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909491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fc53c085-964b-4fa0-89ae-ff68bcc9a8f6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85F1098F2089D4686EB0B2FE46AD70A" ma:contentTypeVersion="4" ma:contentTypeDescription="Ein neues Dokument erstellen." ma:contentTypeScope="" ma:versionID="e348b28dac4230ea96763e4bf76f9a5f">
  <xsd:schema xmlns:xsd="http://www.w3.org/2001/XMLSchema" xmlns:xs="http://www.w3.org/2001/XMLSchema" xmlns:p="http://schemas.microsoft.com/office/2006/metadata/properties" xmlns:ns3="fc53c085-964b-4fa0-89ae-ff68bcc9a8f6" targetNamespace="http://schemas.microsoft.com/office/2006/metadata/properties" ma:root="true" ma:fieldsID="eaebd1937f1003713c5b5181bf587b35" ns3:_="">
    <xsd:import namespace="fc53c085-964b-4fa0-89ae-ff68bcc9a8f6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53c085-964b-4fa0-89ae-ff68bcc9a8f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044A78B-2A62-46AF-9572-E3931E5E051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DA84698-C412-46DA-97F4-FE989C84D33E}">
  <ds:schemaRefs>
    <ds:schemaRef ds:uri="http://www.w3.org/XML/1998/namespace"/>
    <ds:schemaRef ds:uri="fc53c085-964b-4fa0-89ae-ff68bcc9a8f6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customXml/itemProps3.xml><?xml version="1.0" encoding="utf-8"?>
<ds:datastoreItem xmlns:ds="http://schemas.openxmlformats.org/officeDocument/2006/customXml" ds:itemID="{FC4B25A1-4730-474D-8CC1-3AC29FEAB0B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53c085-964b-4fa0-89ae-ff68bcc9a8f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</TotalTime>
  <Words>915</Words>
  <Application>Microsoft Macintosh PowerPoint</Application>
  <PresentationFormat>Widescreen</PresentationFormat>
  <Paragraphs>177</Paragraphs>
  <Slides>18</Slides>
  <Notes>18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-apple-system</vt:lpstr>
      <vt:lpstr>Arial</vt:lpstr>
      <vt:lpstr>Calibri</vt:lpstr>
      <vt:lpstr>Calibri Light</vt:lpstr>
      <vt:lpstr>Source Sans Pro</vt:lpstr>
      <vt:lpstr>Office Theme</vt:lpstr>
      <vt:lpstr>Denoising Diffusion-Based Evolutionary Algorithms</vt:lpstr>
      <vt:lpstr>ML for Combinatorial Optimization (CO)</vt:lpstr>
      <vt:lpstr>Denoising Diffusion Models for CO</vt:lpstr>
      <vt:lpstr>Focus Problem: Maximum Independent Set (MISP)</vt:lpstr>
      <vt:lpstr>Problem Statement</vt:lpstr>
      <vt:lpstr>Methodology: DDEA</vt:lpstr>
      <vt:lpstr>Diffusion-Based Initialization</vt:lpstr>
      <vt:lpstr>Diffusion-Based Recombination</vt:lpstr>
      <vt:lpstr>Experimental Setup</vt:lpstr>
      <vt:lpstr>Baselines</vt:lpstr>
      <vt:lpstr>Diffusion Recombination Evaluation</vt:lpstr>
      <vt:lpstr>DDEA Ablation Studies</vt:lpstr>
      <vt:lpstr>DDEA vs DIFUSCO Under Different Time Budgets</vt:lpstr>
      <vt:lpstr>DDEA vs Other Solvers</vt:lpstr>
      <vt:lpstr>Summary and Conclusion</vt:lpstr>
      <vt:lpstr>Summary and Conclusion</vt:lpstr>
      <vt:lpstr>Questions?</vt:lpstr>
      <vt:lpstr>Out-of-Distribution Generalization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Selective Assessment Routing Problem</dc:title>
  <dc:creator>Joan Salva</dc:creator>
  <cp:lastModifiedBy>Joan Salva Soler</cp:lastModifiedBy>
  <cp:revision>34</cp:revision>
  <dcterms:created xsi:type="dcterms:W3CDTF">2023-05-26T09:48:44Z</dcterms:created>
  <dcterms:modified xsi:type="dcterms:W3CDTF">2025-05-09T13:35:59Z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0x010100C85F1098F2089D4686EB0B2FE46AD70A</vt:lpwstr>
  </property>
</Properties>
</file>